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41870"/>
            <a:ext cx="6720840" cy="3225820"/>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60129"/>
            <a:ext cx="6720840" cy="3789302"/>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77628"/>
            <a:ext cx="6720840" cy="3805663"/>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Chi-square, Entity_B vs Entity_A, p = 8×10⁻⁹.</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300"/>
              </a:spcAft>
            </a:pPr>
            <a:r>
              <a:rPr sz="1300" i="0" b="0">
                <a:solidFill>
                  <a:srgbClr val="22222A"/>
                </a:solidFill>
                <a:latin typeface="Calibri"/>
              </a:rPr>
              <a:t>Entity_B vs Entity_A on 1,601 and 1,804 active staff. The most statistically solid finding in the analysis.</a:t>
            </a:r>
          </a:p>
          <a:p>
            <a:pPr algn="l">
              <a:lnSpc>
                <a:spcPct val="118000"/>
              </a:lnSpc>
              <a:spcAft>
                <a:spcPts val="13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p:txBody>
      </p:sp>
      <p:pic>
        <p:nvPicPr>
          <p:cNvPr id="8" name="Picture 7" descr="03_attrition_by_legacy_entity.png"/>
          <p:cNvPicPr>
            <a:picLocks noChangeAspect="1"/>
          </p:cNvPicPr>
          <p:nvPr/>
        </p:nvPicPr>
        <p:blipFill>
          <a:blip r:embed="rId2"/>
          <a:stretch>
            <a:fillRect/>
          </a:stretch>
        </p:blipFill>
        <p:spPr>
          <a:xfrm>
            <a:off x="5061843" y="1783080"/>
            <a:ext cx="6381234"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Welch's t-test. Entity_A n = 1,938, Entity_B n = 1,697 responders. Composite index: Entity_B 3.280 vs Entity_A 3.366.</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difference</a:t>
            </a:r>
            <a:r>
              <a:rPr sz="1250" i="0" b="0">
                <a:solidFill>
                  <a:srgbClr val="22222A"/>
                </a:solidFill>
                <a:latin typeface="Calibri"/>
              </a:rPr>
              <a:t> (p = 0.35).</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difference</a:t>
            </a:r>
            <a:r>
              <a:rPr sz="1250" i="0" b="0">
                <a:solidFill>
                  <a:srgbClr val="22222A"/>
                </a:solidFill>
                <a:latin typeface="Calibri"/>
              </a:rPr>
              <a:t> (p = 0.91).</a:t>
            </a:r>
          </a:p>
          <a:p>
            <a:pPr algn="l">
              <a:lnSpc>
                <a:spcPct val="118000"/>
              </a:lnSpc>
              <a:spcAft>
                <a:spcPts val="1100"/>
              </a:spcAft>
            </a:pPr>
            <a:r>
              <a:rPr sz="1250" i="0" b="1">
                <a:solidFill>
                  <a:srgbClr val="460073"/>
                </a:solidFill>
                <a:latin typeface="Calibri"/>
              </a:rPr>
              <a:t>Senior leadership trust −0.301</a:t>
            </a:r>
            <a:r>
              <a:rPr sz="1250" i="0" b="0">
                <a:solidFill>
                  <a:srgbClr val="22222A"/>
                </a:solidFill>
                <a:latin typeface="Calibri"/>
              </a:rPr>
              <a:t> (p = 1.5×10⁻²⁵). </a:t>
            </a:r>
            <a:r>
              <a:rPr sz="1250" i="0" b="1">
                <a:solidFill>
                  <a:srgbClr val="460073"/>
                </a:solidFill>
                <a:latin typeface="Calibri"/>
              </a:rPr>
              <a:t>Purpose &amp; meaning −0.300</a:t>
            </a:r>
            <a:r>
              <a:rPr sz="1250" i="0" b="0">
                <a:solidFill>
                  <a:srgbClr val="22222A"/>
                </a:solidFill>
                <a:latin typeface="Calibri"/>
              </a:rPr>
              <a:t> (p = 2.6×10⁻²⁵).</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77424"/>
            <a:ext cx="6720840" cy="3880392"/>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199" y="1572768"/>
            <a:ext cx="6489122"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Entity_A vs Entity_C, p = 0.101, not significant.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and statistically indistinguishable from Entity_A.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5868"/>
            <a:ext cx="6720839" cy="3709223"/>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turns the recommendation from “we hope this helps” into “you have already done this once, in this company, with this workforce.” It also sets your success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Four-fifths rule applied to a proposed individual flight-risk flag, on all active staff. All figures from ethics_audit.py. Full fairness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Under the </a:t>
            </a:r>
            <a:r>
              <a:rPr sz="1200" i="0" b="1">
                <a:solidFill>
                  <a:srgbClr val="460073"/>
                </a:solidFill>
                <a:latin typeface="Calibri"/>
              </a:rPr>
              <a:t>four-fifths rule</a:t>
            </a:r>
            <a:r>
              <a:rPr sz="1200" i="0" b="0">
                <a:solidFill>
                  <a:srgbClr val="22222A"/>
                </a:solidFill>
                <a:latin typeface="Calibri"/>
              </a:rPr>
              <a:t> it fails on age (ratio </a:t>
            </a:r>
            <a:r>
              <a:rPr sz="1200" i="0" b="1">
                <a:solidFill>
                  <a:srgbClr val="460073"/>
                </a:solidFill>
                <a:latin typeface="Calibri"/>
              </a:rPr>
              <a:t>0.08</a:t>
            </a:r>
            <a:r>
              <a:rPr sz="1200" i="0" b="0">
                <a:solidFill>
                  <a:srgbClr val="22222A"/>
                </a:solidFill>
                <a:latin typeface="Calibri"/>
              </a:rPr>
              <a:t>, a twelvefold gap), on role level (L1 9.2% vs L5 1.4%) and on acquisition cohort (Entity_C 31.7% vs NovaCorp-Origin 2.4%).</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8437"/>
            <a:ext cx="6263640" cy="3435526"/>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We're showing you the thing we decided not to recommend. 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limits of this analysis, stated before you ask.</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Statistical test register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2208"/>
            <a:ext cx="6583680" cy="3362224"/>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Documenting what we verified and found sound matters as much as what we found broken.</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