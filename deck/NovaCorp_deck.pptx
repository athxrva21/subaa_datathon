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37160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i="0" b="1">
                <a:solidFill>
                  <a:srgbClr val="C9A8EA"/>
                </a:solidFill>
                <a:latin typeface="Calibri"/>
              </a:rPr>
              <a:t>ACCENTURE × SUBAA  ·  NOVACORP PEOPLE ANALYTICS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600" i="0" b="1">
                <a:solidFill>
                  <a:srgbClr val="FFFFFF"/>
                </a:solidFill>
                <a:latin typeface="Calibri"/>
              </a:rPr>
              <a:t>What's driving the $42M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i="0" b="1">
                <a:solidFill>
                  <a:srgbClr val="A100FF"/>
                </a:solidFill>
                <a:latin typeface="Calibri"/>
              </a:rPr>
              <a:t>and where to act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i="0" b="0">
                <a:solidFill>
                  <a:srgbClr val="C9A8EA"/>
                </a:solidFill>
                <a:latin typeface="Calibri"/>
              </a:rPr>
              <a:t>TEAM NAME TO CONFIRM  ·  15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THE QUESTION YOU ASKED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You asked what's driving $42M.
We found you're counting $14M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03120"/>
            <a:ext cx="6492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500"/>
              </a:spcAft>
            </a:pPr>
            <a:r>
              <a:rPr sz="1450" i="0" b="0">
                <a:solidFill>
                  <a:srgbClr val="22222A"/>
                </a:solidFill>
                <a:latin typeface="Calibri"/>
              </a:rPr>
              <a:t>Finance sized the annual people cost at </a:t>
            </a:r>
            <a:r>
              <a:rPr sz="1450" i="0" b="1">
                <a:solidFill>
                  <a:srgbClr val="460073"/>
                </a:solidFill>
                <a:latin typeface="Calibri"/>
              </a:rPr>
              <a:t>~$42M</a:t>
            </a:r>
            <a:r>
              <a:rPr sz="1450" i="0" b="0">
                <a:solidFill>
                  <a:srgbClr val="22222A"/>
                </a:solidFill>
                <a:latin typeface="Calibri"/>
              </a:rPr>
              <a:t> across three buckets: regrettable attrition ($22–25M), disengagement ($12–15M), hiring inefficiency ($4–6M).</a:t>
            </a:r>
          </a:p>
          <a:p>
            <a:pPr algn="l">
              <a:lnSpc>
                <a:spcPct val="118000"/>
              </a:lnSpc>
              <a:spcAft>
                <a:spcPts val="1500"/>
              </a:spcAft>
            </a:pPr>
            <a:r>
              <a:rPr sz="1450" i="0" b="0">
                <a:solidFill>
                  <a:srgbClr val="22222A"/>
                </a:solidFill>
                <a:latin typeface="Calibri"/>
              </a:rPr>
              <a:t>We did not set out to re-litigate that number. We set out to find which parts are </a:t>
            </a:r>
            <a:r>
              <a:rPr sz="1450" i="0" b="1">
                <a:solidFill>
                  <a:srgbClr val="460073"/>
                </a:solidFill>
                <a:latin typeface="Calibri"/>
              </a:rPr>
              <a:t>tractable</a:t>
            </a:r>
            <a:r>
              <a:rPr sz="1450" i="0" b="0">
                <a:solidFill>
                  <a:srgbClr val="22222A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1500"/>
              </a:spcAft>
            </a:pPr>
            <a:r>
              <a:rPr sz="1450" i="0" b="0">
                <a:solidFill>
                  <a:srgbClr val="22222A"/>
                </a:solidFill>
                <a:latin typeface="Calibri"/>
              </a:rPr>
              <a:t>What we found first was a </a:t>
            </a:r>
            <a:r>
              <a:rPr sz="1450" i="0" b="1">
                <a:solidFill>
                  <a:srgbClr val="460073"/>
                </a:solidFill>
                <a:latin typeface="Calibri"/>
              </a:rPr>
              <a:t>measurement problem</a:t>
            </a:r>
            <a:r>
              <a:rPr sz="1450" i="0" b="0">
                <a:solidFill>
                  <a:srgbClr val="22222A"/>
                </a:solidFill>
                <a:latin typeface="Calibri"/>
              </a:rPr>
              <a:t>, and it changes the shape of everything underneath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2103120"/>
            <a:ext cx="4160520" cy="3063240"/>
          </a:xfrm>
          <a:prstGeom prst="rect">
            <a:avLst/>
          </a:prstGeom>
          <a:solidFill>
            <a:srgbClr val="F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39572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000" i="0" b="1">
                <a:solidFill>
                  <a:srgbClr val="5A5A66"/>
                </a:solidFill>
                <a:latin typeface="Calibri"/>
              </a:rPr>
              <a:t>WHERE WE'RE GOING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26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i="0" b="1">
                <a:solidFill>
                  <a:srgbClr val="A100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80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i="0" b="0">
                <a:solidFill>
                  <a:srgbClr val="22222A"/>
                </a:solidFill>
                <a:latin typeface="Calibri"/>
              </a:rPr>
              <a:t>What your data is hiding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5661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i="0" b="1">
                <a:solidFill>
                  <a:srgbClr val="A100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621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i="0" b="0">
                <a:solidFill>
                  <a:srgbClr val="22222A"/>
                </a:solidFill>
                <a:latin typeface="Calibri"/>
              </a:rPr>
              <a:t>Where the loss actually 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2062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i="0" b="1">
                <a:solidFill>
                  <a:srgbClr val="A100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611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i="0" b="0">
                <a:solidFill>
                  <a:srgbClr val="22222A"/>
                </a:solidFill>
                <a:latin typeface="Calibri"/>
              </a:rPr>
              <a:t>What it's worth if you 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532120"/>
            <a:ext cx="50292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532120"/>
            <a:ext cx="10771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i="1" b="0">
                <a:solidFill>
                  <a:srgbClr val="22222A"/>
                </a:solidFill>
                <a:latin typeface="Calibri"/>
              </a:rPr>
              <a:t>All of it uses your own numbers and Finance's own formulas.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You count $14.3M of regrettable attrition. The real figure is $45.1M.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Source: attrition_log.csv, brief §6 constants. Rates are annualised over the two-year window. Defensible range $34–56M, see appendix A5.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3977639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350" i="0" b="0">
                <a:solidFill>
                  <a:srgbClr val="22222A"/>
                </a:solidFill>
                <a:latin typeface="Calibri"/>
              </a:rPr>
              <a:t>HR's regrettable_flag fires on </a:t>
            </a:r>
            <a:r>
              <a:rPr sz="1350" i="0" b="1">
                <a:solidFill>
                  <a:srgbClr val="460073"/>
                </a:solidFill>
                <a:latin typeface="Calibri"/>
              </a:rPr>
              <a:t>153 departures</a:t>
            </a:r>
            <a:r>
              <a:rPr sz="1350" i="0" b="0">
                <a:solidFill>
                  <a:srgbClr val="22222A"/>
                </a:solidFill>
                <a:latin typeface="Calibri"/>
              </a:rPr>
              <a:t> over two years, which is </a:t>
            </a:r>
            <a:r>
              <a:rPr sz="1350" i="0" b="1">
                <a:solidFill>
                  <a:srgbClr val="460073"/>
                </a:solidFill>
                <a:latin typeface="Calibri"/>
              </a:rPr>
              <a:t>$14.3M/yr</a:t>
            </a:r>
            <a:r>
              <a:rPr sz="1350" i="0" b="0">
                <a:solidFill>
                  <a:srgbClr val="22222A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350" i="0" b="0">
                <a:solidFill>
                  <a:srgbClr val="22222A"/>
                </a:solidFill>
                <a:latin typeface="Calibri"/>
              </a:rPr>
              <a:t>Apply a value-based definition, every High Performer or Outstanding employee who </a:t>
            </a:r>
            <a:r>
              <a:rPr sz="1350" i="0" b="1">
                <a:solidFill>
                  <a:srgbClr val="460073"/>
                </a:solidFill>
                <a:latin typeface="Calibri"/>
              </a:rPr>
              <a:t>chose</a:t>
            </a:r>
            <a:r>
              <a:rPr sz="1350" i="0" b="0">
                <a:solidFill>
                  <a:srgbClr val="22222A"/>
                </a:solidFill>
                <a:latin typeface="Calibri"/>
              </a:rPr>
              <a:t> to leave, and it is </a:t>
            </a:r>
            <a:r>
              <a:rPr sz="1350" i="0" b="1">
                <a:solidFill>
                  <a:srgbClr val="460073"/>
                </a:solidFill>
                <a:latin typeface="Calibri"/>
              </a:rPr>
              <a:t>499 departures → $45.1M/yr</a:t>
            </a:r>
            <a:r>
              <a:rPr sz="1350" i="0" b="0">
                <a:solidFill>
                  <a:srgbClr val="22222A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350" i="0" b="1">
                <a:solidFill>
                  <a:srgbClr val="460073"/>
                </a:solidFill>
                <a:latin typeface="Calibri"/>
              </a:rPr>
              <a:t>371 high-performing people</a:t>
            </a:r>
            <a:r>
              <a:rPr sz="1350" i="0" b="0">
                <a:solidFill>
                  <a:srgbClr val="22222A"/>
                </a:solidFill>
                <a:latin typeface="Calibri"/>
              </a:rPr>
              <a:t> walked out and were never recorded as a loss.</a:t>
            </a:r>
          </a:p>
        </p:txBody>
      </p:sp>
      <p:pic>
        <p:nvPicPr>
          <p:cNvPr id="8" name="Picture 7" descr="E1_regrettabl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41870"/>
            <a:ext cx="6720840" cy="32258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532120"/>
            <a:ext cx="50292" cy="65836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32120"/>
            <a:ext cx="377647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i="1" b="0">
                <a:solidFill>
                  <a:srgbClr val="22222A"/>
                </a:solidFill>
                <a:latin typeface="Calibri"/>
              </a:rPr>
              <a:t>The same replacement-cost formula Finance gave us, applied to a population their flag excludes.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WHY THE FLAG MISSES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The flag is a synonym for “Outstanding”, not a measure of value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Source: attrition_log.csv, regrettable_flag × performance_band_at_exit × pathway. n = 1,400 exits over two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3977639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Flag rate by rating: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Outstanding 61–72%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. High Performer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15% (pull), 0% (push)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. Meets Expectations 12% / 1%.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Of the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168 High Performers who were managed out, zero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were flagged regrettable. Not a low rate. Zero.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The flag is applied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after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the exit, by the same function that approved it. It records whether a departure was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convenient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, not whether it was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costly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.</a:t>
            </a:r>
          </a:p>
        </p:txBody>
      </p:sp>
      <p:pic>
        <p:nvPicPr>
          <p:cNvPr id="8" name="Picture 7" descr="E2_flag_never_f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60129"/>
            <a:ext cx="6720840" cy="37893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504688"/>
            <a:ext cx="50292" cy="7315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04688"/>
            <a:ext cx="377647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i="1" b="0">
                <a:solidFill>
                  <a:srgbClr val="22222A"/>
                </a:solidFill>
                <a:latin typeface="Calibri"/>
              </a:rPr>
              <a:t>Not bad faith. A retrospective, self-assessed metric that structurally exonerates the decision-maker is a justification, not a measurement.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THE $42M, RESTATED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i="0" b="1">
                <a:solidFill>
                  <a:srgbClr val="460073"/>
                </a:solidFill>
                <a:latin typeface="Calibri"/>
              </a:rPr>
              <a:t>It isn't $42M. On your own formulas it's $65M, and the shape is different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All figures from cost_model.py on the brief's §6 constants. Same formula as Finance, different population.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E6_buckets_res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7628"/>
            <a:ext cx="6720840" cy="380566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1920240"/>
          <a:ext cx="4206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51560"/>
                <a:gridCol w="11887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On the data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Regrettable attrition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$22–25M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$45.1M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Disengagement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$12–15M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$17.8M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Hiring inefficiency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$4–6M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$2.3M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$38–46M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$65.2M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4206240"/>
            <a:ext cx="50292" cy="10515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4206240"/>
            <a:ext cx="400507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i="1" b="0">
                <a:solidFill>
                  <a:srgbClr val="22222A"/>
                </a:solidFill>
                <a:latin typeface="Calibri"/>
              </a:rPr>
              <a:t>Only one of these moves in your favour, and it's the smallest one. The two that moved against you were both sized with a definition that excluded the expensive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WHERE THE LOSS CONCENTRATES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i="0" b="1">
                <a:solidFill>
                  <a:srgbClr val="460073"/>
                </a:solidFill>
                <a:latin typeface="Calibri"/>
              </a:rPr>
              <a:t>Entity_B loses people at twice Entity_A's rate, and it's the one still on its own HR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Rates are annualised voluntary exits ÷ active headcount (n = 12,003), the same convention used on every rate in this deck. Chi-square, Entity_B vs Entity_A, p = 8×10⁻⁹.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39776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NovaCorp-Origin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4.5%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· Entity_A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3.6%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·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Entity_B 7.0%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· Entity_C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4.6%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, per year.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Entity_B vs Entity_A on 1,601 and 1,804 active staff. The most statistically solid finding in the analysis.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Entity_B was acquired in FY2023 and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still runs on BambooHR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, two years on. Entity_A was absorbed onto the core system and is now the healthiest cohort in the company.</a:t>
            </a:r>
          </a:p>
        </p:txBody>
      </p:sp>
      <p:pic>
        <p:nvPicPr>
          <p:cNvPr id="8" name="Picture 7" descr="03_attrition_by_legacy_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43" y="1783080"/>
            <a:ext cx="6381234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394960"/>
            <a:ext cx="50292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394960"/>
            <a:ext cx="377647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i="1" b="0">
                <a:solidFill>
                  <a:srgbClr val="22222A"/>
                </a:solidFill>
                <a:latin typeface="Calibri"/>
              </a:rPr>
              <a:t>Entity_B isn't where the most dollars sit. NovaCorp-Origin holds $29.2M of the $45.1M on headcount alone. Entity_B is where the leverage is: $8.4M in 1,601 people you already know how to 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IT ISN'T PAY, AND IT ISN'T THEIR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Six of eight engagement dimensions are fine. Two collapsed.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Employee-level means across five waves, Welch's t-test. Entity_A n = 1,938, Entity_B n = 1,697 responders. Composite index: Entity_B 3.280 vs Entity_A 3.366.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3977639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Manager effectiveness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: 3.344 vs 3.371, </a:t>
            </a:r>
            <a:r>
              <a:rPr sz="1250" i="0" b="1">
                <a:solidFill>
                  <a:srgbClr val="460073"/>
                </a:solidFill>
                <a:latin typeface="Calibri"/>
              </a:rPr>
              <a:t>no difference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 (p = 0.35).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Psychological safety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: 3.351 vs 3.354, </a:t>
            </a:r>
            <a:r>
              <a:rPr sz="1250" i="0" b="1">
                <a:solidFill>
                  <a:srgbClr val="460073"/>
                </a:solidFill>
                <a:latin typeface="Calibri"/>
              </a:rPr>
              <a:t>no difference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 (p = 0.91).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Senior leadership trust −0.301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 (p = 1.5×10⁻²⁵). </a:t>
            </a:r>
            <a:r>
              <a:rPr sz="1250" i="0" b="1">
                <a:solidFill>
                  <a:srgbClr val="460073"/>
                </a:solidFill>
                <a:latin typeface="Calibri"/>
              </a:rPr>
              <a:t>Purpose &amp; meaning −0.300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 (p = 2.6×10⁻²⁵).</a:t>
            </a:r>
          </a:p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And it isn't money. Entity_B sits at </a:t>
            </a:r>
            <a:r>
              <a:rPr sz="1250" i="0" b="1">
                <a:solidFill>
                  <a:srgbClr val="460073"/>
                </a:solidFill>
                <a:latin typeface="Calibri"/>
              </a:rPr>
              <a:t>0.961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 compa-ratio against NovaCorp-Origin's </a:t>
            </a:r>
            <a:r>
              <a:rPr sz="1250" i="0" b="1">
                <a:solidFill>
                  <a:srgbClr val="460073"/>
                </a:solidFill>
                <a:latin typeface="Calibri"/>
              </a:rPr>
              <a:t>0.937</a:t>
            </a:r>
            <a:r>
              <a:rPr sz="1250" i="0" b="0">
                <a:solidFill>
                  <a:srgbClr val="22222A"/>
                </a:solidFill>
                <a:latin typeface="Calibri"/>
              </a:rPr>
              <a:t>. They are paid better and leave anyway.</a:t>
            </a:r>
          </a:p>
        </p:txBody>
      </p:sp>
      <p:pic>
        <p:nvPicPr>
          <p:cNvPr id="8" name="Picture 7" descr="13_entity_b_dimension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7424"/>
            <a:ext cx="6720840" cy="38803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230368"/>
            <a:ext cx="50292" cy="96012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230368"/>
            <a:ext cx="377647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i="1" b="0">
                <a:solidFill>
                  <a:srgbClr val="22222A"/>
                </a:solidFill>
                <a:latin typeface="Calibri"/>
              </a:rPr>
              <a:t>Why it never showed on your dashboard: the composite index averages all eight dimensions, so two collapsed scores are diluted by six healthy ones. A gap of 0.085 that looks like nothing.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THEY ARRIVED THIS WAY, AND THEN WENT QUIET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i="0" b="1">
                <a:solidFill>
                  <a:srgbClr val="460073"/>
                </a:solidFill>
                <a:latin typeface="Calibri"/>
              </a:rPr>
              <a:t>There was no decline to detect. Entity_B's first-ever survey was already broken.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Responders only. Entity_B joins at wave 2, Entity_C at wave 5, so neither has an earlier reading to decline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14_purpose_trust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99" y="1572768"/>
            <a:ext cx="6489122" cy="3310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983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Entity_B's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first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 measurement: purpose 2.975, trust 3.060, against NovaCorp-Origin's steady 3.38. A year later: 3.067.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Flat.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Survey response rate: Entity_B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62.6%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 vs Entity_A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83.8%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, 21 points lower.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83480"/>
            <a:ext cx="5257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i="0" b="1">
                <a:solidFill>
                  <a:srgbClr val="460073"/>
                </a:solidFill>
                <a:latin typeface="Calibri"/>
              </a:rPr>
              <a:t>307 employees were never issued a survey at all.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 152 of the mid-window leavers among them sit on the Entity_B and Entity_C legacy systems.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They weren't silent.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They were never asked.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YOU'VE ALREADY SOLVED THIS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Entity_A is at 3.6%, below NovaCorp's own 4.5%. Integration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Attrition is annualised voluntary on active headcount. Response rate is the mean of each employee's own rate across five waves. Entity_A vs Entity_C, p = 0.101, not significant.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39776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Entity_A (FY2022, fully integrated) is now the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safest cohort in the company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, better than NovaCorp-Origin itself.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Its survey response rate has recovered to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83.8%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, indistinguishable from NovaCorp-Origin.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300" i="0" b="0">
                <a:solidFill>
                  <a:srgbClr val="22222A"/>
                </a:solidFill>
                <a:latin typeface="Calibri"/>
              </a:rPr>
              <a:t>Entity_C (late FY2024) is at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4.6%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and statistically indistinguishable from Entity_A. It is </a:t>
            </a:r>
            <a:r>
              <a:rPr sz="1300" i="0" b="1">
                <a:solidFill>
                  <a:srgbClr val="460073"/>
                </a:solidFill>
                <a:latin typeface="Calibri"/>
              </a:rPr>
              <a:t>not</a:t>
            </a:r>
            <a:r>
              <a:rPr sz="1300" i="0" b="0">
                <a:solidFill>
                  <a:srgbClr val="22222A"/>
                </a:solidFill>
                <a:latin typeface="Calibri"/>
              </a:rPr>
              <a:t> a second Entity_B yet.</a:t>
            </a:r>
          </a:p>
        </p:txBody>
      </p:sp>
      <p:pic>
        <p:nvPicPr>
          <p:cNvPr id="8" name="Picture 7" descr="S9_entity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85868"/>
            <a:ext cx="6720839" cy="37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349240"/>
            <a:ext cx="50292" cy="868680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349240"/>
            <a:ext cx="377647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i="1" b="0">
                <a:solidFill>
                  <a:srgbClr val="22222A"/>
                </a:solidFill>
                <a:latin typeface="Calibri"/>
              </a:rPr>
              <a:t>This turns the recommendation from “we hope this helps” into “you have already done this once, in this company, with this workforce.” It also sets your success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WHAT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Three actions, in order. The first one is free.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0292" cy="1207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922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i="0" b="1">
                <a:solidFill>
                  <a:srgbClr val="A100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2880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Redefine what counts as a regrettable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21408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1" b="1">
                <a:solidFill>
                  <a:srgbClr val="A100FF"/>
                </a:solidFill>
                <a:latin typeface="Calibri"/>
              </a:rPr>
              <a:t>~$0 · policy · this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9572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Include High Performer alongside Outstanding. Separate the flag from the function that approved the exit. Review quarterly. Restates your baseline immediately and fixes next year's $42M at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73552"/>
            <a:ext cx="50292" cy="1207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369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i="0" b="1">
                <a:solidFill>
                  <a:srgbClr val="FF6B6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73552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Finish the Entity_B integration, as a trust problem not a systems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566160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1" b="1">
                <a:solidFill>
                  <a:srgbClr val="FF6B6B"/>
                </a:solidFill>
                <a:latin typeface="Calibri"/>
              </a:rPr>
              <a:t>inside the guided $40–50M FY26 integration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404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Migrate off BambooHR. Stabilise the Senior Manager layer first — Entity_B loses L3s at 9.8%/yr against Entity_A's 2.9%, a 3.4× gap — or there is nobody credible left to communicate the integration. Then leadership visibility and honest communication. Not manager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718304"/>
            <a:ext cx="50292" cy="1207008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6817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i="0" b="1">
                <a:solidFill>
                  <a:srgbClr val="00B7C3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18304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Measure acquired cohorts from day one, at cohort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01091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1" b="1">
                <a:solidFill>
                  <a:srgbClr val="00B7C3"/>
                </a:solidFill>
                <a:latin typeface="Calibri"/>
              </a:rPr>
              <a:t>~$0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Baseline every acquired group against company norms at their first survey. Track response rate as a health metric in its own right. Fix the 307 who were never surveyed.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144768"/>
            <a:ext cx="50292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6144768"/>
            <a:ext cx="10771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i="1" b="0">
                <a:solidFill>
                  <a:srgbClr val="22222A"/>
                </a:solidFill>
                <a:latin typeface="Calibri"/>
              </a:rPr>
              <a:t>Notice what's not on this list: a pay round, a manager training programme, and cutting agency recruitment. The data rules out all three.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WHAT IT'S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$71M addressable. The cheapest lever is the largest.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All figures from cost_model.py. The 20% and 40% reduction rates are assumptions, not findings. Entity_B's $6.2M is a subset of the $7.9M early-tenure lever, not additional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74519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600200"/>
                <a:gridCol w="1417320"/>
                <a:gridCol w="141732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Addressable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@20%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@40%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Cost to act</a:t>
                      </a:r>
                    </a:p>
                  </a:txBody>
                  <a:tcPr marL="91440" marR="73152" marT="27432" marB="27432" anchor="ctr">
                    <a:solidFill>
                      <a:srgbClr val="46007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Redefine regrettable_flag + quarterly review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$45.1M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$9.0M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$18.1M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A"/>
                          </a:solidFill>
                          <a:latin typeface="Calibri"/>
                        </a:rPr>
                        <a:t>~$0 (policy)</a:t>
                      </a:r>
                    </a:p>
                  </a:txBody>
                  <a:tcPr marL="91440" marR="73152" marT="27432" marB="27432" anchor="ctr">
                    <a:solidFill>
                      <a:srgbClr val="F4E9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Disengagement (813 staff below 2.5)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$17.8M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$3.6M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$7.1M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programme-dependent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Early-tenure / acquisition onboarding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$7.9M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$1.6M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$3.2M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~$500–800/head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      of which Entity_B specifically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$6.2M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$1.2M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>$2.5M</a:t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27432" marB="27432" anchor="ctr">
                    <a:solidFill>
                      <a:srgbClr val="F8F8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977639"/>
            <a:ext cx="50292" cy="8686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977639"/>
            <a:ext cx="10771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i="1" b="0">
                <a:solidFill>
                  <a:srgbClr val="22222A"/>
                </a:solidFill>
                <a:latin typeface="Calibri"/>
              </a:rPr>
              <a:t>The 20% and 40% are assumptions, not findings. That's the band typically claimed for targeted retention programmes. We show both so the decision doesn't depend on the optimistic one. The first lever is a definition change, so its return isn't capped by budget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74920"/>
            <a:ext cx="11064240" cy="960120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303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i="0" b="1">
                <a:solidFill>
                  <a:srgbClr val="460073"/>
                </a:solidFill>
                <a:latin typeface="Calibri"/>
              </a:rPr>
              <a:t>$7.9M is the corrected figure.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i="0" b="0">
                <a:solidFill>
                  <a:srgbClr val="22222A"/>
                </a:solidFill>
                <a:latin typeface="Calibri"/>
              </a:rPr>
              <a:t>An earlier draft said $29.6M. That counted the baseline early attrition every employer carries, not the excess attributable to the acquisition cohorts. Method and restatement in appendix A7.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HOW NOT TO ACT ON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i="0" b="1">
                <a:solidFill>
                  <a:srgbClr val="460073"/>
                </a:solidFill>
                <a:latin typeface="Calibri"/>
              </a:rPr>
              <a:t>A “who stopped answering” flag looks free. It flags 21.6% of under-25s and 3.3% of 45–49s.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Four-fifths rule applied to a proposed individual flight-risk flag. 901 active staff flagged. Full fairness method and results in appendix A4.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4480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The obvious move from our own analysis is a flight-risk score built on survey silence.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We recommend against deploying it at individual level.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Under the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four-fifths rule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 it fails on age (impact ratio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0.15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), on role level (L1 9.2% vs L5 1.4%) and on acquisition cohort (Entity_C 36.9%, Entity_B 28.2% vs Entity_A 4.1%).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It is also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wrong most of the time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: 901 flagged,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precision 23%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. The dominant outcome is a career conversation about someone who was never leaving.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i="0" b="0">
                <a:solidFill>
                  <a:srgbClr val="22222A"/>
                </a:solidFill>
                <a:latin typeface="Calibri"/>
              </a:rPr>
              <a:t>Low response is concentrated in the acquisition cohorts, so the flag is substantially measuring </a:t>
            </a:r>
            <a:r>
              <a:rPr sz="1200" i="0" b="1">
                <a:solidFill>
                  <a:srgbClr val="460073"/>
                </a:solidFill>
                <a:latin typeface="Calibri"/>
              </a:rPr>
              <a:t>integration failure</a:t>
            </a:r>
            <a:r>
              <a:rPr sz="1200" i="0" b="0">
                <a:solidFill>
                  <a:srgbClr val="22222A"/>
                </a:solidFill>
                <a:latin typeface="Calibri"/>
              </a:rPr>
              <a:t>, not individual intent.</a:t>
            </a:r>
          </a:p>
        </p:txBody>
      </p:sp>
      <p:pic>
        <p:nvPicPr>
          <p:cNvPr id="8" name="Picture 7" descr="E3_adverse_impact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68437"/>
            <a:ext cx="6263640" cy="3435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486400"/>
            <a:ext cx="50292" cy="7315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486400"/>
            <a:ext cx="42793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i="1" b="0">
                <a:solidFill>
                  <a:srgbClr val="22222A"/>
                </a:solidFill>
                <a:latin typeface="Calibri"/>
              </a:rPr>
              <a:t>We're showing you the thing we decided not to recommend. In a performance or redundancy conversation this is a discrimination exposure that costs more than the attrition does.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HOW TO USE IT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Team-level diagnostic, disclosed to staff, never an individual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i="0" b="1">
                <a:solidFill>
                  <a:srgbClr val="A100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02536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Never as an individual score handed to a manager.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350008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23% precision. Three in four flagged people were never leaving.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1927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i="0" b="1">
                <a:solidFill>
                  <a:srgbClr val="A100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355848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Team level only, minimum 8 responses.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703320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Reported as a diagnostic, not a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725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i="0" b="1">
                <a:solidFill>
                  <a:srgbClr val="A100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70916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i="0" b="1">
                <a:solidFill>
                  <a:srgbClr val="460073"/>
                </a:solidFill>
                <a:latin typeface="Calibri"/>
              </a:rPr>
              <a:t>Tell employees the participation metric exists.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5056632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If the survey was sold as confidential, quietly re-using non-response as a personal risk score breaks that promise. Once staff work it out, response rates collapse and you lose the instrument entirely.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920240"/>
            <a:ext cx="4434840" cy="3794760"/>
          </a:xfrm>
          <a:prstGeom prst="rect">
            <a:avLst/>
          </a:prstGeom>
          <a:solidFill>
            <a:srgbClr val="F7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2402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000" i="0" b="1">
                <a:solidFill>
                  <a:srgbClr val="5A5A66"/>
                </a:solidFill>
                <a:latin typeface="Calibri"/>
              </a:rPr>
              <a:t>WHAT WE DELIBERATELY DID NOT 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No demographic features in any model.</a:t>
            </a: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100" i="0" b="0">
                <a:solidFill>
                  <a:srgbClr val="22222A"/>
                </a:solidFill>
                <a:latin typeface="Calibri"/>
              </a:rPr>
              <a:t>Gender, age and cultural background appear only as fairness-audit dimensions, never as predictors.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No individual employees or managers named.</a:t>
            </a: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100" i="0" b="0">
                <a:solidFill>
                  <a:srgbClr val="22222A"/>
                </a:solidFill>
                <a:latin typeface="Calibri"/>
              </a:rPr>
              <a:t>Manager results aggregated, suppressed below 8 reports.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i="0" b="1">
                <a:solidFill>
                  <a:srgbClr val="460073"/>
                </a:solidFill>
                <a:latin typeface="Calibri"/>
              </a:rPr>
              <a:t>No causal language.</a:t>
            </a: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100" i="0" b="0">
                <a:solidFill>
                  <a:srgbClr val="22222A"/>
                </a:solidFill>
                <a:latin typeface="Calibri"/>
              </a:rPr>
              <a:t>Association only. We never claim one thing caused another.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WHAT WE CAN'T TELL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The limits of this analysis, stated before you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i="1" b="0">
                <a:solidFill>
                  <a:srgbClr val="5A5A66"/>
                </a:solidFill>
                <a:latin typeface="Calibri"/>
              </a:rPr>
              <a:t>Full data-quality register in appendix A6. Statistical test register in A8.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Two-year window, annualised.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 All rates are voluntary exits ÷ 2 years ÷ active headcount = </a:t>
            </a:r>
            <a:r>
              <a:rPr sz="1150" i="0" b="1">
                <a:solidFill>
                  <a:srgbClr val="460073"/>
                </a:solidFill>
                <a:latin typeface="Calibri"/>
              </a:rPr>
              <a:t>4.7%/yr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. Your FY2025 Annual Report's “10.4% voluntary attrition” is total attrition including 267 involuntary exits across the full two years. It reproduces exactly as 1,400/13,403. </a:t>
            </a:r>
            <a:r>
              <a:rPr sz="1150" i="0" b="1">
                <a:solidFill>
                  <a:srgbClr val="460073"/>
                </a:solidFill>
                <a:latin typeface="Calibri"/>
              </a:rPr>
              <a:t>We restate; we don't accuse.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We cannot see pre-acquisition Entity_B.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 They may have arrived unhappy from their previous employer. We genuinely cannot rule this out.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Engagement is only observed for responders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, and leavers responded less, so every disengagement figure is a lower bound.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Association, not causation.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 Senior Manager churn and collapsed trust move together. We cannot say which drives which.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regrettable_flag, performance_band_at_exit and stated_exit_reason are retrospective HR judgements.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 We use them as the object of analysis, not as ground truth.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The 2025-H2 review cycle is missing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, so performance data is up to 12 months stale for some leavers.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150" i="0" b="1">
                <a:solidFill>
                  <a:srgbClr val="460073"/>
                </a:solidFill>
                <a:latin typeface="Calibri"/>
              </a:rPr>
              <a:t>Small samples above Level 4.</a:t>
            </a:r>
            <a:r>
              <a:rPr sz="1150" i="0" b="0">
                <a:solidFill>
                  <a:srgbClr val="22222A"/>
                </a:solidFill>
                <a:latin typeface="Calibri"/>
              </a:rPr>
              <a:t> Nothing above L4 is reliable: 279 people at L4, 103 above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532120"/>
            <a:ext cx="50292" cy="56692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32120"/>
            <a:ext cx="1077163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i="1" b="0">
                <a:solidFill>
                  <a:srgbClr val="22222A"/>
                </a:solidFill>
                <a:latin typeface="Calibri"/>
              </a:rPr>
              <a:t>On a strict voluntary reading you have already met the FY2026 sub-9.5% target. That's worth resolving before the next board pack.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i="0" b="1">
                <a:solidFill>
                  <a:srgbClr val="5A5A66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i="0" b="1">
                <a:solidFill>
                  <a:srgbClr val="460073"/>
                </a:solidFill>
                <a:latin typeface="Calibri"/>
              </a:rPr>
              <a:t>Start with the free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i="0" b="0">
                <a:solidFill>
                  <a:srgbClr val="5A5A66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353872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3538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i="0" b="1">
                <a:solidFill>
                  <a:srgbClr val="A100FF"/>
                </a:solidFill>
                <a:latin typeface="Calibri"/>
              </a:rPr>
              <a:t>THIS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0592"/>
            <a:ext cx="35387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00" i="0" b="1">
                <a:solidFill>
                  <a:srgbClr val="460073"/>
                </a:solidFill>
                <a:latin typeface="Calibri"/>
              </a:rPr>
              <a:t>Redefine regrettable.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01568"/>
            <a:ext cx="3538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Cost ~$0. It restates your baseline and stops you funding a budget line built on a blind spot.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874519"/>
            <a:ext cx="3538728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121408"/>
            <a:ext cx="3538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i="0" b="1">
                <a:solidFill>
                  <a:srgbClr val="FF6B6B"/>
                </a:solidFill>
                <a:latin typeface="Calibri"/>
              </a:rPr>
              <a:t>THIS HALF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450592"/>
            <a:ext cx="35387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00" i="0" b="1">
                <a:solidFill>
                  <a:srgbClr val="460073"/>
                </a:solidFill>
                <a:latin typeface="Calibri"/>
              </a:rPr>
              <a:t>Finish Entity_B.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3401568"/>
            <a:ext cx="3538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Senior Manager layer first, then leadership visibility. $8.4M concentrated, inside a budget you have already guided.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874519"/>
            <a:ext cx="3538728" cy="54864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2121408"/>
            <a:ext cx="3538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i="0" b="1">
                <a:solidFill>
                  <a:srgbClr val="00B7C3"/>
                </a:solidFill>
                <a:latin typeface="Calibri"/>
              </a:rP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450592"/>
            <a:ext cx="35387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900" i="0" b="1">
                <a:solidFill>
                  <a:srgbClr val="460073"/>
                </a:solidFill>
                <a:latin typeface="Calibri"/>
              </a:rPr>
              <a:t>Baseline every acquired cohort from day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401568"/>
            <a:ext cx="35387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0" b="0">
                <a:solidFill>
                  <a:srgbClr val="22222A"/>
                </a:solidFill>
                <a:latin typeface="Calibri"/>
              </a:rPr>
              <a:t>Entity_C is healthy today. It does not have to become the next Entity_B.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92040"/>
            <a:ext cx="11064240" cy="12344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138928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i="0" b="1">
                <a:solidFill>
                  <a:srgbClr val="FFFFFF"/>
                </a:solidFill>
                <a:latin typeface="Calibri"/>
              </a:rPr>
              <a:t>You already have the money set aside.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i="0" b="0">
                <a:solidFill>
                  <a:srgbClr val="D8C2EF"/>
                </a:solidFill>
                <a:latin typeface="Calibri"/>
              </a:rPr>
              <a:t>The Annual Report commits to a People Reinvention Programme three times. This is what we'd spend it on, and this is what we'd measure.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