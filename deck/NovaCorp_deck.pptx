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61488"/>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74519"/>
            <a:ext cx="10424160" cy="457200"/>
          </a:xfrm>
          <a:prstGeom prst="rect">
            <a:avLst/>
          </a:prstGeom>
          <a:noFill/>
        </p:spPr>
        <p:txBody>
          <a:bodyPr wrap="square" anchor="t" lIns="0" rIns="0" tIns="0" bIns="0">
            <a:spAutoFit/>
          </a:bodyPr>
          <a:lstStyle/>
          <a:p>
            <a:pPr algn="l">
              <a:lnSpc>
                <a:spcPct val="100000"/>
              </a:lnSpc>
              <a:spcAft>
                <a:spcPts val="0"/>
              </a:spcAft>
            </a:pPr>
            <a:r>
              <a:rPr sz="1200" i="0" b="1">
                <a:solidFill>
                  <a:srgbClr val="C9A8EA"/>
                </a:solidFill>
                <a:latin typeface="Calibri"/>
              </a:rPr>
              <a:t>ACCENTURE × SUBAA  ·  NOVACORP PEOPLE ANALYTICS CHALLENGE</a:t>
            </a:r>
          </a:p>
        </p:txBody>
      </p:sp>
      <p:sp>
        <p:nvSpPr>
          <p:cNvPr id="5" name="TextBox 4"/>
          <p:cNvSpPr txBox="1"/>
          <p:nvPr/>
        </p:nvSpPr>
        <p:spPr>
          <a:xfrm>
            <a:off x="566928" y="3063240"/>
            <a:ext cx="10607040" cy="1371600"/>
          </a:xfrm>
          <a:prstGeom prst="rect">
            <a:avLst/>
          </a:prstGeom>
          <a:noFill/>
        </p:spPr>
        <p:txBody>
          <a:bodyPr wrap="square" anchor="t" lIns="0" rIns="0" tIns="0" bIns="0">
            <a:spAutoFit/>
          </a:bodyPr>
          <a:lstStyle/>
          <a:p>
            <a:pPr algn="l">
              <a:lnSpc>
                <a:spcPct val="102000"/>
              </a:lnSpc>
              <a:spcAft>
                <a:spcPts val="200"/>
              </a:spcAft>
            </a:pPr>
            <a:r>
              <a:rPr sz="4600" i="0" b="1">
                <a:solidFill>
                  <a:srgbClr val="FFFFFF"/>
                </a:solidFill>
                <a:latin typeface="Calibri"/>
              </a:rPr>
              <a:t>What's driving the $42M</a:t>
            </a:r>
          </a:p>
          <a:p>
            <a:pPr algn="l">
              <a:lnSpc>
                <a:spcPct val="102000"/>
              </a:lnSpc>
              <a:spcAft>
                <a:spcPts val="0"/>
              </a:spcAft>
            </a:pPr>
            <a:r>
              <a:rPr sz="4600" i="0" b="1">
                <a:solidFill>
                  <a:srgbClr val="A100FF"/>
                </a:solidFill>
                <a:latin typeface="Calibri"/>
              </a:rPr>
              <a:t>and where to act first</a:t>
            </a:r>
          </a:p>
        </p:txBody>
      </p:sp>
      <p:sp>
        <p:nvSpPr>
          <p:cNvPr id="6" name="TextBox 5"/>
          <p:cNvSpPr txBox="1"/>
          <p:nvPr/>
        </p:nvSpPr>
        <p:spPr>
          <a:xfrm>
            <a:off x="566928" y="5074920"/>
            <a:ext cx="10424160" cy="365760"/>
          </a:xfrm>
          <a:prstGeom prst="rect">
            <a:avLst/>
          </a:prstGeom>
          <a:noFill/>
        </p:spPr>
        <p:txBody>
          <a:bodyPr wrap="square" anchor="t" lIns="0" rIns="0" tIns="0" bIns="0">
            <a:spAutoFit/>
          </a:bodyPr>
          <a:lstStyle/>
          <a:p>
            <a:pPr algn="l">
              <a:lnSpc>
                <a:spcPct val="100000"/>
              </a:lnSpc>
              <a:spcAft>
                <a:spcPts val="0"/>
              </a:spcAft>
            </a:pPr>
            <a:r>
              <a:rPr sz="1300" i="0" b="0">
                <a:solidFill>
                  <a:srgbClr val="C9A8EA"/>
                </a:solidFill>
                <a:latin typeface="Calibri"/>
              </a:rPr>
              <a:t>O for 4  ·  15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QUESTION YOU ASKED US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asked what's driving $42M.
We found you're counting $14M of it.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2</a:t>
            </a:r>
          </a:p>
        </p:txBody>
      </p:sp>
      <p:sp>
        <p:nvSpPr>
          <p:cNvPr id="6" name="TextBox 5"/>
          <p:cNvSpPr txBox="1"/>
          <p:nvPr/>
        </p:nvSpPr>
        <p:spPr>
          <a:xfrm>
            <a:off x="566928" y="2103120"/>
            <a:ext cx="6492240" cy="3108960"/>
          </a:xfrm>
          <a:prstGeom prst="rect">
            <a:avLst/>
          </a:prstGeom>
          <a:noFill/>
        </p:spPr>
        <p:txBody>
          <a:bodyPr wrap="square" anchor="t" lIns="0" rIns="0" tIns="0" bIns="0">
            <a:spAutoFit/>
          </a:bodyPr>
          <a:lstStyle/>
          <a:p>
            <a:pPr algn="l">
              <a:lnSpc>
                <a:spcPct val="118000"/>
              </a:lnSpc>
              <a:spcAft>
                <a:spcPts val="1500"/>
              </a:spcAft>
            </a:pPr>
            <a:r>
              <a:rPr sz="1450" i="0" b="0">
                <a:solidFill>
                  <a:srgbClr val="22222A"/>
                </a:solidFill>
                <a:latin typeface="Calibri"/>
              </a:rPr>
              <a:t>Finance sized the annual people cost at </a:t>
            </a:r>
            <a:r>
              <a:rPr sz="1450" i="0" b="1">
                <a:solidFill>
                  <a:srgbClr val="460073"/>
                </a:solidFill>
                <a:latin typeface="Calibri"/>
              </a:rPr>
              <a:t>~$42M</a:t>
            </a:r>
            <a:r>
              <a:rPr sz="1450" i="0" b="0">
                <a:solidFill>
                  <a:srgbClr val="22222A"/>
                </a:solidFill>
                <a:latin typeface="Calibri"/>
              </a:rPr>
              <a:t> across three buckets: regrettable attrition ($22–25M), disengagement ($12–15M), hiring inefficiency ($4–6M).</a:t>
            </a:r>
          </a:p>
          <a:p>
            <a:pPr algn="l">
              <a:lnSpc>
                <a:spcPct val="118000"/>
              </a:lnSpc>
              <a:spcAft>
                <a:spcPts val="1500"/>
              </a:spcAft>
            </a:pPr>
            <a:r>
              <a:rPr sz="1450" i="0" b="0">
                <a:solidFill>
                  <a:srgbClr val="22222A"/>
                </a:solidFill>
                <a:latin typeface="Calibri"/>
              </a:rPr>
              <a:t>We did not set out to re-litigate that number. We set out to find which parts are </a:t>
            </a:r>
            <a:r>
              <a:rPr sz="1450" i="0" b="1">
                <a:solidFill>
                  <a:srgbClr val="460073"/>
                </a:solidFill>
                <a:latin typeface="Calibri"/>
              </a:rPr>
              <a:t>tractable</a:t>
            </a:r>
            <a:r>
              <a:rPr sz="1450" i="0" b="0">
                <a:solidFill>
                  <a:srgbClr val="22222A"/>
                </a:solidFill>
                <a:latin typeface="Calibri"/>
              </a:rPr>
              <a:t>.</a:t>
            </a:r>
          </a:p>
          <a:p>
            <a:pPr algn="l">
              <a:lnSpc>
                <a:spcPct val="118000"/>
              </a:lnSpc>
              <a:spcAft>
                <a:spcPts val="1500"/>
              </a:spcAft>
            </a:pPr>
            <a:r>
              <a:rPr sz="1450" i="0" b="0">
                <a:solidFill>
                  <a:srgbClr val="22222A"/>
                </a:solidFill>
                <a:latin typeface="Calibri"/>
              </a:rPr>
              <a:t>What we found first was a </a:t>
            </a:r>
            <a:r>
              <a:rPr sz="1450" i="0" b="1">
                <a:solidFill>
                  <a:srgbClr val="460073"/>
                </a:solidFill>
                <a:latin typeface="Calibri"/>
              </a:rPr>
              <a:t>measurement problem</a:t>
            </a:r>
            <a:r>
              <a:rPr sz="1450" i="0" b="0">
                <a:solidFill>
                  <a:srgbClr val="22222A"/>
                </a:solidFill>
                <a:latin typeface="Calibri"/>
              </a:rPr>
              <a:t>, and it changes the shape of everything underneath it.</a:t>
            </a:r>
          </a:p>
        </p:txBody>
      </p:sp>
      <p:sp>
        <p:nvSpPr>
          <p:cNvPr id="7" name="Rectangle 6"/>
          <p:cNvSpPr/>
          <p:nvPr/>
        </p:nvSpPr>
        <p:spPr>
          <a:xfrm>
            <a:off x="7452360" y="2103120"/>
            <a:ext cx="4160520" cy="30632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395728"/>
            <a:ext cx="3474720" cy="36576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WHERE WE'RE GOING</a:t>
            </a:r>
          </a:p>
        </p:txBody>
      </p:sp>
      <p:sp>
        <p:nvSpPr>
          <p:cNvPr id="9" name="TextBox 8"/>
          <p:cNvSpPr txBox="1"/>
          <p:nvPr/>
        </p:nvSpPr>
        <p:spPr>
          <a:xfrm>
            <a:off x="7818120" y="292608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1</a:t>
            </a:r>
          </a:p>
        </p:txBody>
      </p:sp>
      <p:sp>
        <p:nvSpPr>
          <p:cNvPr id="10" name="TextBox 9"/>
          <p:cNvSpPr txBox="1"/>
          <p:nvPr/>
        </p:nvSpPr>
        <p:spPr>
          <a:xfrm>
            <a:off x="8229600" y="298094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your data is hiding</a:t>
            </a:r>
          </a:p>
        </p:txBody>
      </p:sp>
      <p:sp>
        <p:nvSpPr>
          <p:cNvPr id="11" name="TextBox 10"/>
          <p:cNvSpPr txBox="1"/>
          <p:nvPr/>
        </p:nvSpPr>
        <p:spPr>
          <a:xfrm>
            <a:off x="7818120" y="356616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2</a:t>
            </a:r>
          </a:p>
        </p:txBody>
      </p:sp>
      <p:sp>
        <p:nvSpPr>
          <p:cNvPr id="12" name="TextBox 11"/>
          <p:cNvSpPr txBox="1"/>
          <p:nvPr/>
        </p:nvSpPr>
        <p:spPr>
          <a:xfrm>
            <a:off x="8229600" y="362102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Where the loss actually sits</a:t>
            </a:r>
          </a:p>
        </p:txBody>
      </p:sp>
      <p:sp>
        <p:nvSpPr>
          <p:cNvPr id="13" name="TextBox 12"/>
          <p:cNvSpPr txBox="1"/>
          <p:nvPr/>
        </p:nvSpPr>
        <p:spPr>
          <a:xfrm>
            <a:off x="7818120" y="420624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3</a:t>
            </a:r>
          </a:p>
        </p:txBody>
      </p:sp>
      <p:sp>
        <p:nvSpPr>
          <p:cNvPr id="14" name="TextBox 13"/>
          <p:cNvSpPr txBox="1"/>
          <p:nvPr/>
        </p:nvSpPr>
        <p:spPr>
          <a:xfrm>
            <a:off x="8229600" y="426110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it's worth if you act</a:t>
            </a:r>
          </a:p>
        </p:txBody>
      </p:sp>
      <p:sp>
        <p:nvSpPr>
          <p:cNvPr id="15" name="Rectangle 14"/>
          <p:cNvSpPr/>
          <p:nvPr/>
        </p:nvSpPr>
        <p:spPr>
          <a:xfrm>
            <a:off x="566928" y="5532120"/>
            <a:ext cx="50292" cy="56692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All of it uses your own numbers and Finance's own formulas.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HEADLINE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count $14.3M of regrettable attrition. The real figure is $45.1M.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brief §6 constants. Rates are annualised over the two-year window. Defensible range $34–56M, see appendix A5.</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3</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400"/>
              </a:spcAft>
            </a:pPr>
            <a:r>
              <a:rPr sz="1350" i="0" b="0">
                <a:solidFill>
                  <a:srgbClr val="22222A"/>
                </a:solidFill>
                <a:latin typeface="Calibri"/>
              </a:rPr>
              <a:t>HR's regrettable_flag fires on </a:t>
            </a:r>
            <a:r>
              <a:rPr sz="1350" i="0" b="1">
                <a:solidFill>
                  <a:srgbClr val="460073"/>
                </a:solidFill>
                <a:latin typeface="Calibri"/>
              </a:rPr>
              <a:t>153 departures</a:t>
            </a:r>
            <a:r>
              <a:rPr sz="1350" i="0" b="0">
                <a:solidFill>
                  <a:srgbClr val="22222A"/>
                </a:solidFill>
                <a:latin typeface="Calibri"/>
              </a:rPr>
              <a:t> over two years, which is </a:t>
            </a:r>
            <a:r>
              <a:rPr sz="1350" i="0" b="1">
                <a:solidFill>
                  <a:srgbClr val="460073"/>
                </a:solidFill>
                <a:latin typeface="Calibri"/>
              </a:rPr>
              <a:t>$14.3M/yr</a:t>
            </a:r>
            <a:r>
              <a:rPr sz="1350" i="0" b="0">
                <a:solidFill>
                  <a:srgbClr val="22222A"/>
                </a:solidFill>
                <a:latin typeface="Calibri"/>
              </a:rPr>
              <a:t>.</a:t>
            </a:r>
          </a:p>
          <a:p>
            <a:pPr algn="l">
              <a:lnSpc>
                <a:spcPct val="118000"/>
              </a:lnSpc>
              <a:spcAft>
                <a:spcPts val="1400"/>
              </a:spcAft>
            </a:pPr>
            <a:r>
              <a:rPr sz="1350" i="0" b="0">
                <a:solidFill>
                  <a:srgbClr val="22222A"/>
                </a:solidFill>
                <a:latin typeface="Calibri"/>
              </a:rPr>
              <a:t>Apply a value-based definition, every High Performer or Outstanding employee who </a:t>
            </a:r>
            <a:r>
              <a:rPr sz="1350" i="0" b="1">
                <a:solidFill>
                  <a:srgbClr val="460073"/>
                </a:solidFill>
                <a:latin typeface="Calibri"/>
              </a:rPr>
              <a:t>chose</a:t>
            </a:r>
            <a:r>
              <a:rPr sz="1350" i="0" b="0">
                <a:solidFill>
                  <a:srgbClr val="22222A"/>
                </a:solidFill>
                <a:latin typeface="Calibri"/>
              </a:rPr>
              <a:t> to leave, and it is </a:t>
            </a:r>
            <a:r>
              <a:rPr sz="1350" i="0" b="1">
                <a:solidFill>
                  <a:srgbClr val="460073"/>
                </a:solidFill>
                <a:latin typeface="Calibri"/>
              </a:rPr>
              <a:t>499 departures → $45.1M/yr</a:t>
            </a:r>
            <a:r>
              <a:rPr sz="1350" i="0" b="0">
                <a:solidFill>
                  <a:srgbClr val="22222A"/>
                </a:solidFill>
                <a:latin typeface="Calibri"/>
              </a:rPr>
              <a:t>.</a:t>
            </a:r>
          </a:p>
          <a:p>
            <a:pPr algn="l">
              <a:lnSpc>
                <a:spcPct val="118000"/>
              </a:lnSpc>
              <a:spcAft>
                <a:spcPts val="1400"/>
              </a:spcAft>
            </a:pPr>
            <a:r>
              <a:rPr sz="1350" i="0" b="1">
                <a:solidFill>
                  <a:srgbClr val="460073"/>
                </a:solidFill>
                <a:latin typeface="Calibri"/>
              </a:rPr>
              <a:t>371 high-performing people</a:t>
            </a:r>
            <a:r>
              <a:rPr sz="1350" i="0" b="0">
                <a:solidFill>
                  <a:srgbClr val="22222A"/>
                </a:solidFill>
                <a:latin typeface="Calibri"/>
              </a:rPr>
              <a:t> walked out and were never recorded as a loss.</a:t>
            </a:r>
          </a:p>
        </p:txBody>
      </p:sp>
      <p:pic>
        <p:nvPicPr>
          <p:cNvPr id="8" name="Picture 7" descr="E1_regrettable_gap.png"/>
          <p:cNvPicPr>
            <a:picLocks noChangeAspect="1"/>
          </p:cNvPicPr>
          <p:nvPr/>
        </p:nvPicPr>
        <p:blipFill>
          <a:blip r:embed="rId2"/>
          <a:stretch>
            <a:fillRect/>
          </a:stretch>
        </p:blipFill>
        <p:spPr>
          <a:xfrm>
            <a:off x="4892040" y="2329734"/>
            <a:ext cx="6720840" cy="3250091"/>
          </a:xfrm>
          <a:prstGeom prst="rect">
            <a:avLst/>
          </a:prstGeom>
        </p:spPr>
      </p:pic>
      <p:sp>
        <p:nvSpPr>
          <p:cNvPr id="9" name="Rectangle 8"/>
          <p:cNvSpPr/>
          <p:nvPr/>
        </p:nvSpPr>
        <p:spPr>
          <a:xfrm>
            <a:off x="566928" y="5532120"/>
            <a:ext cx="50292" cy="65836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3776471"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The same replacement-cost formula Finance gave us, applied to a population their flag excludes.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WHY THE FLAG MISSES THEM</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flag is a synonym for “Outstanding”, not a measure of value lost.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regrettable_flag × performance_band_at_exit × pathway. n = 1,400 exits over two years.</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4</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Flag rate by rating: </a:t>
            </a:r>
            <a:r>
              <a:rPr sz="1300" i="0" b="1">
                <a:solidFill>
                  <a:srgbClr val="460073"/>
                </a:solidFill>
                <a:latin typeface="Calibri"/>
              </a:rPr>
              <a:t>Outstanding 61–72%</a:t>
            </a:r>
            <a:r>
              <a:rPr sz="1300" i="0" b="0">
                <a:solidFill>
                  <a:srgbClr val="22222A"/>
                </a:solidFill>
                <a:latin typeface="Calibri"/>
              </a:rPr>
              <a:t>. High Performer </a:t>
            </a:r>
            <a:r>
              <a:rPr sz="1300" i="0" b="1">
                <a:solidFill>
                  <a:srgbClr val="460073"/>
                </a:solidFill>
                <a:latin typeface="Calibri"/>
              </a:rPr>
              <a:t>15% (pull), 0% (push)</a:t>
            </a:r>
            <a:r>
              <a:rPr sz="1300" i="0" b="0">
                <a:solidFill>
                  <a:srgbClr val="22222A"/>
                </a:solidFill>
                <a:latin typeface="Calibri"/>
              </a:rPr>
              <a:t>. Meets Expectations 12% / 1%.</a:t>
            </a:r>
          </a:p>
          <a:p>
            <a:pPr algn="l">
              <a:lnSpc>
                <a:spcPct val="118000"/>
              </a:lnSpc>
              <a:spcAft>
                <a:spcPts val="1300"/>
              </a:spcAft>
            </a:pPr>
            <a:r>
              <a:rPr sz="1300" i="0" b="0">
                <a:solidFill>
                  <a:srgbClr val="22222A"/>
                </a:solidFill>
                <a:latin typeface="Calibri"/>
              </a:rPr>
              <a:t>Of the </a:t>
            </a:r>
            <a:r>
              <a:rPr sz="1300" i="0" b="1">
                <a:solidFill>
                  <a:srgbClr val="460073"/>
                </a:solidFill>
                <a:latin typeface="Calibri"/>
              </a:rPr>
              <a:t>168 High Performers who were managed out, zero</a:t>
            </a:r>
            <a:r>
              <a:rPr sz="1300" i="0" b="0">
                <a:solidFill>
                  <a:srgbClr val="22222A"/>
                </a:solidFill>
                <a:latin typeface="Calibri"/>
              </a:rPr>
              <a:t> were flagged regrettable. Not a low rate. Zero.</a:t>
            </a:r>
          </a:p>
          <a:p>
            <a:pPr algn="l">
              <a:lnSpc>
                <a:spcPct val="118000"/>
              </a:lnSpc>
              <a:spcAft>
                <a:spcPts val="1300"/>
              </a:spcAft>
            </a:pPr>
            <a:r>
              <a:rPr sz="1300" i="0" b="0">
                <a:solidFill>
                  <a:srgbClr val="22222A"/>
                </a:solidFill>
                <a:latin typeface="Calibri"/>
              </a:rPr>
              <a:t>The flag is applied </a:t>
            </a:r>
            <a:r>
              <a:rPr sz="1300" i="0" b="1">
                <a:solidFill>
                  <a:srgbClr val="460073"/>
                </a:solidFill>
                <a:latin typeface="Calibri"/>
              </a:rPr>
              <a:t>after</a:t>
            </a:r>
            <a:r>
              <a:rPr sz="1300" i="0" b="0">
                <a:solidFill>
                  <a:srgbClr val="22222A"/>
                </a:solidFill>
                <a:latin typeface="Calibri"/>
              </a:rPr>
              <a:t> the exit, by the same function that approved it. It records whether a departure was </a:t>
            </a:r>
            <a:r>
              <a:rPr sz="1300" i="0" b="1">
                <a:solidFill>
                  <a:srgbClr val="460073"/>
                </a:solidFill>
                <a:latin typeface="Calibri"/>
              </a:rPr>
              <a:t>convenient</a:t>
            </a:r>
            <a:r>
              <a:rPr sz="1300" i="0" b="0">
                <a:solidFill>
                  <a:srgbClr val="22222A"/>
                </a:solidFill>
                <a:latin typeface="Calibri"/>
              </a:rPr>
              <a:t>, not whether it was </a:t>
            </a:r>
            <a:r>
              <a:rPr sz="1300" i="0" b="1">
                <a:solidFill>
                  <a:srgbClr val="460073"/>
                </a:solidFill>
                <a:latin typeface="Calibri"/>
              </a:rPr>
              <a:t>costly</a:t>
            </a:r>
            <a:r>
              <a:rPr sz="1300" i="0" b="0">
                <a:solidFill>
                  <a:srgbClr val="22222A"/>
                </a:solidFill>
                <a:latin typeface="Calibri"/>
              </a:rPr>
              <a:t>.</a:t>
            </a:r>
          </a:p>
        </p:txBody>
      </p:sp>
      <p:pic>
        <p:nvPicPr>
          <p:cNvPr id="8" name="Picture 7" descr="E2_flag_never_fires.png"/>
          <p:cNvPicPr>
            <a:picLocks noChangeAspect="1"/>
          </p:cNvPicPr>
          <p:nvPr/>
        </p:nvPicPr>
        <p:blipFill>
          <a:blip r:embed="rId2"/>
          <a:stretch>
            <a:fillRect/>
          </a:stretch>
        </p:blipFill>
        <p:spPr>
          <a:xfrm>
            <a:off x="4892040" y="2036350"/>
            <a:ext cx="6720840" cy="3836859"/>
          </a:xfrm>
          <a:prstGeom prst="rect">
            <a:avLst/>
          </a:prstGeom>
        </p:spPr>
      </p:pic>
      <p:sp>
        <p:nvSpPr>
          <p:cNvPr id="9" name="Rectangle 8"/>
          <p:cNvSpPr/>
          <p:nvPr/>
        </p:nvSpPr>
        <p:spPr>
          <a:xfrm>
            <a:off x="566928" y="5504688"/>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04688"/>
            <a:ext cx="3776471"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Not bad faith. A retrospective, self-assessed metric that structurally exonerates the decision-maker is a justification, not a measurement.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$42M, RESTATED</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It isn't $42M. On your own formulas it's $65M, and the shape is different too.</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on the brief's §6 constants. Same formula as Finance, different population.</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5</a:t>
            </a:r>
          </a:p>
        </p:txBody>
      </p:sp>
      <p:pic>
        <p:nvPicPr>
          <p:cNvPr id="7" name="Picture 6" descr="E6_buckets_restated.png"/>
          <p:cNvPicPr>
            <a:picLocks noChangeAspect="1"/>
          </p:cNvPicPr>
          <p:nvPr/>
        </p:nvPicPr>
        <p:blipFill>
          <a:blip r:embed="rId2"/>
          <a:stretch>
            <a:fillRect/>
          </a:stretch>
        </p:blipFill>
        <p:spPr>
          <a:xfrm>
            <a:off x="502920" y="1782314"/>
            <a:ext cx="6720840" cy="3796290"/>
          </a:xfrm>
          <a:prstGeom prst="rect">
            <a:avLst/>
          </a:prstGeom>
        </p:spPr>
      </p:pic>
      <p:graphicFrame>
        <p:nvGraphicFramePr>
          <p:cNvPr id="8" name="Table 7"/>
          <p:cNvGraphicFramePr>
            <a:graphicFrameLocks noGrp="1"/>
          </p:cNvGraphicFramePr>
          <p:nvPr/>
        </p:nvGraphicFramePr>
        <p:xfrm>
          <a:off x="7452360" y="1920240"/>
          <a:ext cx="4206240" cy="1737360"/>
        </p:xfrm>
        <a:graphic>
          <a:graphicData uri="http://schemas.openxmlformats.org/drawingml/2006/table">
            <a:tbl>
              <a:tblPr firstRow="1" bandRow="1">
                <a:tableStyleId>{5C22544A-7EE6-4342-B048-85BDC9FD1C3A}</a:tableStyleId>
              </a:tblPr>
              <a:tblGrid>
                <a:gridCol w="1965960"/>
                <a:gridCol w="1051560"/>
                <a:gridCol w="1188720"/>
              </a:tblGrid>
              <a:tr h="347472">
                <a:tc>
                  <a:txBody>
                    <a:bodyPr wrap="square"/>
                    <a:lstStyle/>
                    <a:p>
                      <a:pPr algn="l"/>
                      <a:r>
                        <a:rPr sz="1150" b="1">
                          <a:solidFill>
                            <a:srgbClr val="FFFFFF"/>
                          </a:solidFill>
                          <a:latin typeface="Calibri"/>
                        </a:rPr>
                        <a:t>Bucket</a:t>
                      </a:r>
                    </a:p>
                  </a:txBody>
                  <a:tcPr marL="91440" marR="73152" marT="27432" marB="27432" anchor="ctr">
                    <a:solidFill>
                      <a:srgbClr val="460073"/>
                    </a:solidFill>
                  </a:tcPr>
                </a:tc>
                <a:tc>
                  <a:txBody>
                    <a:bodyPr wrap="square"/>
                    <a:lstStyle/>
                    <a:p>
                      <a:pPr algn="ctr"/>
                      <a:r>
                        <a:rPr sz="1150" b="1">
                          <a:solidFill>
                            <a:srgbClr val="FFFFFF"/>
                          </a:solidFill>
                          <a:latin typeface="Calibri"/>
                        </a:rPr>
                        <a:t>Finance</a:t>
                      </a:r>
                    </a:p>
                  </a:txBody>
                  <a:tcPr marL="91440" marR="73152" marT="27432" marB="27432" anchor="ctr">
                    <a:solidFill>
                      <a:srgbClr val="460073"/>
                    </a:solidFill>
                  </a:tcPr>
                </a:tc>
                <a:tc>
                  <a:txBody>
                    <a:bodyPr wrap="square"/>
                    <a:lstStyle/>
                    <a:p>
                      <a:pPr algn="ctr"/>
                      <a:r>
                        <a:rPr sz="1150" b="1">
                          <a:solidFill>
                            <a:srgbClr val="FFFFFF"/>
                          </a:solidFill>
                          <a:latin typeface="Calibri"/>
                        </a:rPr>
                        <a:t>On the data</a:t>
                      </a:r>
                    </a:p>
                  </a:txBody>
                  <a:tcPr marL="91440" marR="73152" marT="27432" marB="27432" anchor="ctr">
                    <a:solidFill>
                      <a:srgbClr val="460073"/>
                    </a:solidFill>
                  </a:tcPr>
                </a:tc>
              </a:tr>
              <a:tr h="347472">
                <a:tc>
                  <a:txBody>
                    <a:bodyPr wrap="square"/>
                    <a:lstStyle/>
                    <a:p>
                      <a:pPr algn="l"/>
                      <a:r>
                        <a:rPr sz="1200" b="0">
                          <a:solidFill>
                            <a:srgbClr val="22222A"/>
                          </a:solidFill>
                          <a:latin typeface="Calibri"/>
                        </a:rPr>
                        <a:t>Regrettable attrition</a:t>
                      </a:r>
                    </a:p>
                  </a:txBody>
                  <a:tcPr marL="91440" marR="73152" marT="27432" marB="27432" anchor="ctr">
                    <a:solidFill>
                      <a:srgbClr val="FFFFFF"/>
                    </a:solidFill>
                  </a:tcPr>
                </a:tc>
                <a:tc>
                  <a:txBody>
                    <a:bodyPr wrap="square"/>
                    <a:lstStyle/>
                    <a:p>
                      <a:pPr algn="ctr"/>
                      <a:r>
                        <a:rPr sz="1200" b="0">
                          <a:solidFill>
                            <a:srgbClr val="22222A"/>
                          </a:solidFill>
                          <a:latin typeface="Calibri"/>
                        </a:rPr>
                        <a:t>$22–25M</a:t>
                      </a:r>
                    </a:p>
                  </a:txBody>
                  <a:tcPr marL="91440" marR="73152" marT="27432" marB="27432" anchor="ctr">
                    <a:solidFill>
                      <a:srgbClr val="FFFFFF"/>
                    </a:solidFill>
                  </a:tcPr>
                </a:tc>
                <a:tc>
                  <a:txBody>
                    <a:bodyPr wrap="square"/>
                    <a:lstStyle/>
                    <a:p>
                      <a:pPr algn="ctr"/>
                      <a:r>
                        <a:rPr sz="1200" b="0">
                          <a:solidFill>
                            <a:srgbClr val="22222A"/>
                          </a:solidFill>
                          <a:latin typeface="Calibri"/>
                        </a:rPr>
                        <a:t>$45.1M</a:t>
                      </a:r>
                    </a:p>
                  </a:txBody>
                  <a:tcPr marL="91440" marR="73152" marT="27432" marB="27432" anchor="ctr">
                    <a:solidFill>
                      <a:srgbClr val="FFFFFF"/>
                    </a:solidFill>
                  </a:tcPr>
                </a:tc>
              </a:tr>
              <a:tr h="347472">
                <a:tc>
                  <a:txBody>
                    <a:bodyPr wrap="square"/>
                    <a:lstStyle/>
                    <a:p>
                      <a:pPr algn="l"/>
                      <a:r>
                        <a:rPr sz="1200" b="0">
                          <a:solidFill>
                            <a:srgbClr val="22222A"/>
                          </a:solidFill>
                          <a:latin typeface="Calibri"/>
                        </a:rPr>
                        <a:t>Disengagement</a:t>
                      </a:r>
                    </a:p>
                  </a:txBody>
                  <a:tcPr marL="91440" marR="73152" marT="27432" marB="27432" anchor="ctr">
                    <a:solidFill>
                      <a:srgbClr val="F8F8FB"/>
                    </a:solidFill>
                  </a:tcPr>
                </a:tc>
                <a:tc>
                  <a:txBody>
                    <a:bodyPr wrap="square"/>
                    <a:lstStyle/>
                    <a:p>
                      <a:pPr algn="ctr"/>
                      <a:r>
                        <a:rPr sz="1200" b="0">
                          <a:solidFill>
                            <a:srgbClr val="22222A"/>
                          </a:solidFill>
                          <a:latin typeface="Calibri"/>
                        </a:rPr>
                        <a:t>$12–15M</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r>
              <a:tr h="347472">
                <a:tc>
                  <a:txBody>
                    <a:bodyPr wrap="square"/>
                    <a:lstStyle/>
                    <a:p>
                      <a:pPr algn="l"/>
                      <a:r>
                        <a:rPr sz="1200" b="0">
                          <a:solidFill>
                            <a:srgbClr val="22222A"/>
                          </a:solidFill>
                          <a:latin typeface="Calibri"/>
                        </a:rPr>
                        <a:t>Hiring inefficiency</a:t>
                      </a:r>
                    </a:p>
                  </a:txBody>
                  <a:tcPr marL="91440" marR="73152" marT="27432" marB="27432" anchor="ctr">
                    <a:solidFill>
                      <a:srgbClr val="FFFFFF"/>
                    </a:solidFill>
                  </a:tcPr>
                </a:tc>
                <a:tc>
                  <a:txBody>
                    <a:bodyPr wrap="square"/>
                    <a:lstStyle/>
                    <a:p>
                      <a:pPr algn="ctr"/>
                      <a:r>
                        <a:rPr sz="1200" b="0">
                          <a:solidFill>
                            <a:srgbClr val="22222A"/>
                          </a:solidFill>
                          <a:latin typeface="Calibri"/>
                        </a:rPr>
                        <a:t>$4–6M</a:t>
                      </a:r>
                    </a:p>
                  </a:txBody>
                  <a:tcPr marL="91440" marR="73152" marT="27432" marB="27432" anchor="ctr">
                    <a:solidFill>
                      <a:srgbClr val="FFFFFF"/>
                    </a:solidFill>
                  </a:tcPr>
                </a:tc>
                <a:tc>
                  <a:txBody>
                    <a:bodyPr wrap="square"/>
                    <a:lstStyle/>
                    <a:p>
                      <a:pPr algn="ctr"/>
                      <a:r>
                        <a:rPr sz="1200" b="0">
                          <a:solidFill>
                            <a:srgbClr val="22222A"/>
                          </a:solidFill>
                          <a:latin typeface="Calibri"/>
                        </a:rPr>
                        <a:t>$2.3M</a:t>
                      </a:r>
                    </a:p>
                  </a:txBody>
                  <a:tcPr marL="91440" marR="73152" marT="27432" marB="27432" anchor="ctr">
                    <a:solidFill>
                      <a:srgbClr val="FFFFFF"/>
                    </a:solidFill>
                  </a:tcPr>
                </a:tc>
              </a:tr>
              <a:tr h="347472">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$38–46M</a:t>
                      </a:r>
                    </a:p>
                  </a:txBody>
                  <a:tcPr marL="91440" marR="73152" marT="27432" marB="27432" anchor="ctr">
                    <a:solidFill>
                      <a:srgbClr val="F4E9FF"/>
                    </a:solidFill>
                  </a:tcPr>
                </a:tc>
                <a:tc>
                  <a:txBody>
                    <a:bodyPr wrap="square"/>
                    <a:lstStyle/>
                    <a:p>
                      <a:pPr algn="ctr"/>
                      <a:r>
                        <a:rPr sz="1200" b="1">
                          <a:solidFill>
                            <a:srgbClr val="22222A"/>
                          </a:solidFill>
                          <a:latin typeface="Calibri"/>
                        </a:rPr>
                        <a:t>$65.2M</a:t>
                      </a:r>
                    </a:p>
                  </a:txBody>
                  <a:tcPr marL="91440" marR="73152" marT="27432" marB="27432" anchor="ctr">
                    <a:solidFill>
                      <a:srgbClr val="F4E9FF"/>
                    </a:solidFill>
                  </a:tcPr>
                </a:tc>
              </a:tr>
            </a:tbl>
          </a:graphicData>
        </a:graphic>
      </p:graphicFrame>
      <p:sp>
        <p:nvSpPr>
          <p:cNvPr id="9" name="Rectangle 8"/>
          <p:cNvSpPr/>
          <p:nvPr/>
        </p:nvSpPr>
        <p:spPr>
          <a:xfrm>
            <a:off x="7452360" y="420624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3528" y="4206240"/>
            <a:ext cx="4005072" cy="105156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one of these moves in your favour, and it's the smallest one. The two that moved against you were both sized with a definition that excluded the expensive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WHERE THE LOSS CONCENTRATES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Entity_B loses people at twice Entity_A's rate, and it's the one still on its own HR system.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Rates are annualised voluntary exits ÷ active headcount (n = 12,003), the same convention used on every rate in this deck. Chi-square, Entity_B vs Entity_A, p = 8×10⁻⁹.</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6</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100"/>
              </a:spcAft>
            </a:pPr>
            <a:r>
              <a:rPr sz="1300" i="0" b="0">
                <a:solidFill>
                  <a:srgbClr val="22222A"/>
                </a:solidFill>
                <a:latin typeface="Calibri"/>
              </a:rPr>
              <a:t>NovaCorp-Origin </a:t>
            </a:r>
            <a:r>
              <a:rPr sz="1300" i="0" b="1">
                <a:solidFill>
                  <a:srgbClr val="460073"/>
                </a:solidFill>
                <a:latin typeface="Calibri"/>
              </a:rPr>
              <a:t>4.5%</a:t>
            </a:r>
            <a:r>
              <a:rPr sz="1300" i="0" b="0">
                <a:solidFill>
                  <a:srgbClr val="22222A"/>
                </a:solidFill>
                <a:latin typeface="Calibri"/>
              </a:rPr>
              <a:t> · Entity_A </a:t>
            </a:r>
            <a:r>
              <a:rPr sz="1300" i="0" b="1">
                <a:solidFill>
                  <a:srgbClr val="460073"/>
                </a:solidFill>
                <a:latin typeface="Calibri"/>
              </a:rPr>
              <a:t>3.6%</a:t>
            </a:r>
            <a:r>
              <a:rPr sz="1300" i="0" b="0">
                <a:solidFill>
                  <a:srgbClr val="22222A"/>
                </a:solidFill>
                <a:latin typeface="Calibri"/>
              </a:rPr>
              <a:t> · </a:t>
            </a:r>
            <a:r>
              <a:rPr sz="1300" i="0" b="1">
                <a:solidFill>
                  <a:srgbClr val="460073"/>
                </a:solidFill>
                <a:latin typeface="Calibri"/>
              </a:rPr>
              <a:t>Entity_B 7.0%</a:t>
            </a:r>
            <a:r>
              <a:rPr sz="1300" i="0" b="0">
                <a:solidFill>
                  <a:srgbClr val="22222A"/>
                </a:solidFill>
                <a:latin typeface="Calibri"/>
              </a:rPr>
              <a:t> · Entity_C </a:t>
            </a:r>
            <a:r>
              <a:rPr sz="1300" i="0" b="1">
                <a:solidFill>
                  <a:srgbClr val="460073"/>
                </a:solidFill>
                <a:latin typeface="Calibri"/>
              </a:rPr>
              <a:t>4.6%</a:t>
            </a:r>
            <a:r>
              <a:rPr sz="1300" i="0" b="0">
                <a:solidFill>
                  <a:srgbClr val="22222A"/>
                </a:solidFill>
                <a:latin typeface="Calibri"/>
              </a:rPr>
              <a:t>, per year.</a:t>
            </a:r>
          </a:p>
          <a:p>
            <a:pPr algn="l">
              <a:lnSpc>
                <a:spcPct val="118000"/>
              </a:lnSpc>
              <a:spcAft>
                <a:spcPts val="1100"/>
              </a:spcAft>
            </a:pPr>
            <a:r>
              <a:rPr sz="1300" i="0" b="0">
                <a:solidFill>
                  <a:srgbClr val="22222A"/>
                </a:solidFill>
                <a:latin typeface="Calibri"/>
              </a:rPr>
              <a:t>Entity_B vs Entity_A on 1,601 and 1,804 active staff. The most statistically solid finding in the analysis.</a:t>
            </a:r>
          </a:p>
          <a:p>
            <a:pPr algn="l">
              <a:lnSpc>
                <a:spcPct val="118000"/>
              </a:lnSpc>
              <a:spcAft>
                <a:spcPts val="1100"/>
              </a:spcAft>
            </a:pPr>
            <a:r>
              <a:rPr sz="1300" i="0" b="0">
                <a:solidFill>
                  <a:srgbClr val="22222A"/>
                </a:solidFill>
                <a:latin typeface="Calibri"/>
              </a:rPr>
              <a:t>Entity_B was acquired in FY2023 and </a:t>
            </a:r>
            <a:r>
              <a:rPr sz="1300" i="0" b="1">
                <a:solidFill>
                  <a:srgbClr val="460073"/>
                </a:solidFill>
                <a:latin typeface="Calibri"/>
              </a:rPr>
              <a:t>still runs on BambooHR</a:t>
            </a:r>
            <a:r>
              <a:rPr sz="1300" i="0" b="0">
                <a:solidFill>
                  <a:srgbClr val="22222A"/>
                </a:solidFill>
                <a:latin typeface="Calibri"/>
              </a:rPr>
              <a:t>, two years on. Entity_A was absorbed onto the core system and is now the healthiest cohort in the company.</a:t>
            </a:r>
          </a:p>
          <a:p>
            <a:pPr algn="l">
              <a:lnSpc>
                <a:spcPct val="118000"/>
              </a:lnSpc>
              <a:spcAft>
                <a:spcPts val="1100"/>
              </a:spcAft>
            </a:pPr>
            <a:r>
              <a:rPr sz="1300" i="0" b="1">
                <a:solidFill>
                  <a:srgbClr val="460073"/>
                </a:solidFill>
                <a:latin typeface="Calibri"/>
              </a:rPr>
              <a:t>It isn't department mix.</a:t>
            </a:r>
            <a:r>
              <a:rPr sz="1300" i="0" b="0">
                <a:solidFill>
                  <a:srgbClr val="22222A"/>
                </a:solidFill>
                <a:latin typeface="Calibri"/>
              </a:rPr>
              <a:t> Controlling for department, role level, pay and potential, Entity_B still leaves at </a:t>
            </a:r>
            <a:r>
              <a:rPr sz="1300" i="0" b="1">
                <a:solidFill>
                  <a:srgbClr val="460073"/>
                </a:solidFill>
                <a:latin typeface="Calibri"/>
              </a:rPr>
              <a:t>1.95×</a:t>
            </a:r>
            <a:r>
              <a:rPr sz="1300" i="0" b="0">
                <a:solidFill>
                  <a:srgbClr val="22222A"/>
                </a:solidFill>
                <a:latin typeface="Calibri"/>
              </a:rPr>
              <a:t> Entity_A (appendix A15).</a:t>
            </a:r>
          </a:p>
        </p:txBody>
      </p:sp>
      <p:pic>
        <p:nvPicPr>
          <p:cNvPr id="8" name="Picture 7" descr="03_attrition_by_legacy_entity.png"/>
          <p:cNvPicPr>
            <a:picLocks noChangeAspect="1"/>
          </p:cNvPicPr>
          <p:nvPr/>
        </p:nvPicPr>
        <p:blipFill>
          <a:blip r:embed="rId2"/>
          <a:stretch>
            <a:fillRect/>
          </a:stretch>
        </p:blipFill>
        <p:spPr>
          <a:xfrm>
            <a:off x="5077215" y="1783080"/>
            <a:ext cx="6350490" cy="4206240"/>
          </a:xfrm>
          <a:prstGeom prst="rect">
            <a:avLst/>
          </a:prstGeom>
        </p:spPr>
      </p:pic>
      <p:sp>
        <p:nvSpPr>
          <p:cNvPr id="9" name="Rectangle 8"/>
          <p:cNvSpPr/>
          <p:nvPr/>
        </p:nvSpPr>
        <p:spPr>
          <a:xfrm>
            <a:off x="566928" y="5394960"/>
            <a:ext cx="50292" cy="8229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3776471" cy="8229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Entity_B isn't where the most dollars sit. NovaCorp-Origin holds $29.2M of the $45.1M on headcount alone. Entity_B is where the leverage is: $8.4M in 1,601 people you already know how to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IT ISN'T PAY, AND IT ISN'T THEIR MANAGERS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Six of eight engagement dimensions are fine. Two collapsed.</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Employee-level means across five waves, Welch's t-test. Entity_A n = 1,938, Entity_B n = 1,697 responders. Composite index: Entity_B 3.280 vs Entity_A 3.366.</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7</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100"/>
              </a:spcAft>
            </a:pPr>
            <a:r>
              <a:rPr sz="1250" i="0" b="1">
                <a:solidFill>
                  <a:srgbClr val="460073"/>
                </a:solidFill>
                <a:latin typeface="Calibri"/>
              </a:rPr>
              <a:t>Manager effectiveness</a:t>
            </a:r>
            <a:r>
              <a:rPr sz="1250" i="0" b="0">
                <a:solidFill>
                  <a:srgbClr val="22222A"/>
                </a:solidFill>
                <a:latin typeface="Calibri"/>
              </a:rPr>
              <a:t>: 3.344 vs 3.371, </a:t>
            </a:r>
            <a:r>
              <a:rPr sz="1250" i="0" b="1">
                <a:solidFill>
                  <a:srgbClr val="460073"/>
                </a:solidFill>
                <a:latin typeface="Calibri"/>
              </a:rPr>
              <a:t>no difference</a:t>
            </a:r>
            <a:r>
              <a:rPr sz="1250" i="0" b="0">
                <a:solidFill>
                  <a:srgbClr val="22222A"/>
                </a:solidFill>
                <a:latin typeface="Calibri"/>
              </a:rPr>
              <a:t> (p = 0.35).</a:t>
            </a:r>
          </a:p>
          <a:p>
            <a:pPr algn="l">
              <a:lnSpc>
                <a:spcPct val="118000"/>
              </a:lnSpc>
              <a:spcAft>
                <a:spcPts val="1100"/>
              </a:spcAft>
            </a:pPr>
            <a:r>
              <a:rPr sz="1250" i="0" b="1">
                <a:solidFill>
                  <a:srgbClr val="460073"/>
                </a:solidFill>
                <a:latin typeface="Calibri"/>
              </a:rPr>
              <a:t>Psychological safety</a:t>
            </a:r>
            <a:r>
              <a:rPr sz="1250" i="0" b="0">
                <a:solidFill>
                  <a:srgbClr val="22222A"/>
                </a:solidFill>
                <a:latin typeface="Calibri"/>
              </a:rPr>
              <a:t>: 3.351 vs 3.354, </a:t>
            </a:r>
            <a:r>
              <a:rPr sz="1250" i="0" b="1">
                <a:solidFill>
                  <a:srgbClr val="460073"/>
                </a:solidFill>
                <a:latin typeface="Calibri"/>
              </a:rPr>
              <a:t>no difference</a:t>
            </a:r>
            <a:r>
              <a:rPr sz="1250" i="0" b="0">
                <a:solidFill>
                  <a:srgbClr val="22222A"/>
                </a:solidFill>
                <a:latin typeface="Calibri"/>
              </a:rPr>
              <a:t> (p = 0.91).</a:t>
            </a:r>
          </a:p>
          <a:p>
            <a:pPr algn="l">
              <a:lnSpc>
                <a:spcPct val="118000"/>
              </a:lnSpc>
              <a:spcAft>
                <a:spcPts val="1100"/>
              </a:spcAft>
            </a:pPr>
            <a:r>
              <a:rPr sz="1250" i="0" b="1">
                <a:solidFill>
                  <a:srgbClr val="460073"/>
                </a:solidFill>
                <a:latin typeface="Calibri"/>
              </a:rPr>
              <a:t>Senior leadership trust −0.301</a:t>
            </a:r>
            <a:r>
              <a:rPr sz="1250" i="0" b="0">
                <a:solidFill>
                  <a:srgbClr val="22222A"/>
                </a:solidFill>
                <a:latin typeface="Calibri"/>
              </a:rPr>
              <a:t> (p = 1.5×10⁻²⁵). </a:t>
            </a:r>
            <a:r>
              <a:rPr sz="1250" i="0" b="1">
                <a:solidFill>
                  <a:srgbClr val="460073"/>
                </a:solidFill>
                <a:latin typeface="Calibri"/>
              </a:rPr>
              <a:t>Purpose &amp; meaning −0.300</a:t>
            </a:r>
            <a:r>
              <a:rPr sz="1250" i="0" b="0">
                <a:solidFill>
                  <a:srgbClr val="22222A"/>
                </a:solidFill>
                <a:latin typeface="Calibri"/>
              </a:rPr>
              <a:t> (p = 2.6×10⁻²⁵).</a:t>
            </a:r>
          </a:p>
          <a:p>
            <a:pPr algn="l">
              <a:lnSpc>
                <a:spcPct val="118000"/>
              </a:lnSpc>
              <a:spcAft>
                <a:spcPts val="1100"/>
              </a:spcAft>
            </a:pPr>
            <a:r>
              <a:rPr sz="1250" i="0" b="0">
                <a:solidFill>
                  <a:srgbClr val="22222A"/>
                </a:solidFill>
                <a:latin typeface="Calibri"/>
              </a:rPr>
              <a:t>And it isn't money. Entity_B sits at </a:t>
            </a:r>
            <a:r>
              <a:rPr sz="1250" i="0" b="1">
                <a:solidFill>
                  <a:srgbClr val="460073"/>
                </a:solidFill>
                <a:latin typeface="Calibri"/>
              </a:rPr>
              <a:t>0.961</a:t>
            </a:r>
            <a:r>
              <a:rPr sz="1250" i="0" b="0">
                <a:solidFill>
                  <a:srgbClr val="22222A"/>
                </a:solidFill>
                <a:latin typeface="Calibri"/>
              </a:rPr>
              <a:t> compa-ratio against NovaCorp-Origin's </a:t>
            </a:r>
            <a:r>
              <a:rPr sz="1250" i="0" b="1">
                <a:solidFill>
                  <a:srgbClr val="460073"/>
                </a:solidFill>
                <a:latin typeface="Calibri"/>
              </a:rPr>
              <a:t>0.937</a:t>
            </a:r>
            <a:r>
              <a:rPr sz="1250" i="0" b="0">
                <a:solidFill>
                  <a:srgbClr val="22222A"/>
                </a:solidFill>
                <a:latin typeface="Calibri"/>
              </a:rPr>
              <a:t>. They are paid better and leave anyway.</a:t>
            </a:r>
          </a:p>
        </p:txBody>
      </p:sp>
      <p:pic>
        <p:nvPicPr>
          <p:cNvPr id="8" name="Picture 7" descr="13_entity_b_dimension_diagnosis.png"/>
          <p:cNvPicPr>
            <a:picLocks noChangeAspect="1"/>
          </p:cNvPicPr>
          <p:nvPr/>
        </p:nvPicPr>
        <p:blipFill>
          <a:blip r:embed="rId2"/>
          <a:stretch>
            <a:fillRect/>
          </a:stretch>
        </p:blipFill>
        <p:spPr>
          <a:xfrm>
            <a:off x="4892040" y="1877000"/>
            <a:ext cx="6720840" cy="3881239"/>
          </a:xfrm>
          <a:prstGeom prst="rect">
            <a:avLst/>
          </a:prstGeom>
        </p:spPr>
      </p:pic>
      <p:sp>
        <p:nvSpPr>
          <p:cNvPr id="9" name="Rectangle 8"/>
          <p:cNvSpPr/>
          <p:nvPr/>
        </p:nvSpPr>
        <p:spPr>
          <a:xfrm>
            <a:off x="566928" y="5230368"/>
            <a:ext cx="50292" cy="9601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230368"/>
            <a:ext cx="3776471" cy="9601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Why it never showed on your dashboard: the composite index averages all eight dimensions, so two collapsed scores are diluted by six healthy ones. A gap of 0.085 that looks like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THEY ARRIVED THIS WAY, AND THEN WENT QUIET</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There was no decline to detect. Entity_B's first-ever survey was already broken.</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Responders only. Entity_B joins at wave 2, Entity_C at wave 5, so neither has an earlier reading to decline from.</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8</a:t>
            </a:r>
          </a:p>
        </p:txBody>
      </p:sp>
      <p:pic>
        <p:nvPicPr>
          <p:cNvPr id="7" name="Picture 6" descr="14_purpose_trust_over_time.png"/>
          <p:cNvPicPr>
            <a:picLocks noChangeAspect="1"/>
          </p:cNvPicPr>
          <p:nvPr/>
        </p:nvPicPr>
        <p:blipFill>
          <a:blip r:embed="rId2"/>
          <a:stretch>
            <a:fillRect/>
          </a:stretch>
        </p:blipFill>
        <p:spPr>
          <a:xfrm>
            <a:off x="2836765" y="1572768"/>
            <a:ext cx="6487990" cy="3310128"/>
          </a:xfrm>
          <a:prstGeom prst="rect">
            <a:avLst/>
          </a:prstGeom>
        </p:spPr>
      </p:pic>
      <p:sp>
        <p:nvSpPr>
          <p:cNvPr id="8" name="TextBox 7"/>
          <p:cNvSpPr txBox="1"/>
          <p:nvPr/>
        </p:nvSpPr>
        <p:spPr>
          <a:xfrm>
            <a:off x="566928" y="4983480"/>
            <a:ext cx="5486400" cy="1280160"/>
          </a:xfrm>
          <a:prstGeom prst="rect">
            <a:avLst/>
          </a:prstGeom>
          <a:noFill/>
        </p:spPr>
        <p:txBody>
          <a:bodyPr wrap="square" anchor="t" lIns="0" rIns="0" tIns="0" bIns="0">
            <a:spAutoFit/>
          </a:bodyPr>
          <a:lstStyle/>
          <a:p>
            <a:pPr algn="l">
              <a:lnSpc>
                <a:spcPct val="118000"/>
              </a:lnSpc>
              <a:spcAft>
                <a:spcPts val="800"/>
              </a:spcAft>
            </a:pPr>
            <a:r>
              <a:rPr sz="1200" i="0" b="0">
                <a:solidFill>
                  <a:srgbClr val="22222A"/>
                </a:solidFill>
                <a:latin typeface="Calibri"/>
              </a:rPr>
              <a:t>Entity_B's </a:t>
            </a:r>
            <a:r>
              <a:rPr sz="1200" i="0" b="1">
                <a:solidFill>
                  <a:srgbClr val="460073"/>
                </a:solidFill>
                <a:latin typeface="Calibri"/>
              </a:rPr>
              <a:t>first</a:t>
            </a:r>
            <a:r>
              <a:rPr sz="1200" i="0" b="0">
                <a:solidFill>
                  <a:srgbClr val="22222A"/>
                </a:solidFill>
                <a:latin typeface="Calibri"/>
              </a:rPr>
              <a:t> measurement: purpose 2.975, trust 3.060, against NovaCorp-Origin's steady 3.38. A year later: 3.067. </a:t>
            </a:r>
            <a:r>
              <a:rPr sz="1200" i="0" b="1">
                <a:solidFill>
                  <a:srgbClr val="460073"/>
                </a:solidFill>
                <a:latin typeface="Calibri"/>
              </a:rPr>
              <a:t>Flat.</a:t>
            </a:r>
          </a:p>
          <a:p>
            <a:pPr algn="l">
              <a:lnSpc>
                <a:spcPct val="118000"/>
              </a:lnSpc>
              <a:spcAft>
                <a:spcPts val="800"/>
              </a:spcAft>
            </a:pPr>
            <a:r>
              <a:rPr sz="1200" i="0" b="0">
                <a:solidFill>
                  <a:srgbClr val="22222A"/>
                </a:solidFill>
                <a:latin typeface="Calibri"/>
              </a:rPr>
              <a:t>Survey response rate: Entity_B </a:t>
            </a:r>
            <a:r>
              <a:rPr sz="1200" i="0" b="1">
                <a:solidFill>
                  <a:srgbClr val="460073"/>
                </a:solidFill>
                <a:latin typeface="Calibri"/>
              </a:rPr>
              <a:t>62.6%</a:t>
            </a:r>
            <a:r>
              <a:rPr sz="1200" i="0" b="0">
                <a:solidFill>
                  <a:srgbClr val="22222A"/>
                </a:solidFill>
                <a:latin typeface="Calibri"/>
              </a:rPr>
              <a:t> vs Entity_A </a:t>
            </a:r>
            <a:r>
              <a:rPr sz="1200" i="0" b="1">
                <a:solidFill>
                  <a:srgbClr val="460073"/>
                </a:solidFill>
                <a:latin typeface="Calibri"/>
              </a:rPr>
              <a:t>83.8%</a:t>
            </a:r>
            <a:r>
              <a:rPr sz="1200" i="0" b="0">
                <a:solidFill>
                  <a:srgbClr val="22222A"/>
                </a:solidFill>
                <a:latin typeface="Calibri"/>
              </a:rPr>
              <a:t>, 21 points lower.</a:t>
            </a:r>
          </a:p>
        </p:txBody>
      </p:sp>
      <p:sp>
        <p:nvSpPr>
          <p:cNvPr id="9" name="TextBox 8"/>
          <p:cNvSpPr txBox="1"/>
          <p:nvPr/>
        </p:nvSpPr>
        <p:spPr>
          <a:xfrm>
            <a:off x="6400800" y="4983480"/>
            <a:ext cx="5257800" cy="1280160"/>
          </a:xfrm>
          <a:prstGeom prst="rect">
            <a:avLst/>
          </a:prstGeom>
          <a:noFill/>
        </p:spPr>
        <p:txBody>
          <a:bodyPr wrap="square" anchor="t" lIns="0" rIns="0" tIns="0" bIns="0">
            <a:spAutoFit/>
          </a:bodyPr>
          <a:lstStyle/>
          <a:p>
            <a:pPr algn="l">
              <a:lnSpc>
                <a:spcPct val="118000"/>
              </a:lnSpc>
              <a:spcAft>
                <a:spcPts val="800"/>
              </a:spcAft>
            </a:pPr>
            <a:r>
              <a:rPr sz="1200" i="0" b="1">
                <a:solidFill>
                  <a:srgbClr val="460073"/>
                </a:solidFill>
                <a:latin typeface="Calibri"/>
              </a:rPr>
              <a:t>307 employees were never issued a survey at all.</a:t>
            </a:r>
            <a:r>
              <a:rPr sz="1200" i="0" b="0">
                <a:solidFill>
                  <a:srgbClr val="22222A"/>
                </a:solidFill>
                <a:latin typeface="Calibri"/>
              </a:rPr>
              <a:t> 152 of the mid-window leavers among them sit on the Entity_B and Entity_C legacy systems.</a:t>
            </a:r>
          </a:p>
          <a:p>
            <a:pPr algn="l">
              <a:lnSpc>
                <a:spcPct val="118000"/>
              </a:lnSpc>
              <a:spcAft>
                <a:spcPts val="800"/>
              </a:spcAft>
            </a:pPr>
            <a:r>
              <a:rPr sz="1200" i="0" b="0">
                <a:solidFill>
                  <a:srgbClr val="22222A"/>
                </a:solidFill>
                <a:latin typeface="Calibri"/>
              </a:rPr>
              <a:t>They weren't silent. </a:t>
            </a:r>
            <a:r>
              <a:rPr sz="1200" i="0" b="1">
                <a:solidFill>
                  <a:srgbClr val="460073"/>
                </a:solidFill>
                <a:latin typeface="Calibri"/>
              </a:rPr>
              <a:t>They were never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YOU'VE ALREADY SOLVED THIS ONCE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Entity_A is at 3.6%, below NovaCorp's own 4.5%. Integration works.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Attrition is annualised voluntary on active headcount. Response rate is the mean of each employee's own rate across five waves. Entity_A vs Entity_C, p = 0.101, not significant.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9</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Entity_A (FY2022, fully integrated) is now the </a:t>
            </a:r>
            <a:r>
              <a:rPr sz="1300" i="0" b="1">
                <a:solidFill>
                  <a:srgbClr val="460073"/>
                </a:solidFill>
                <a:latin typeface="Calibri"/>
              </a:rPr>
              <a:t>safest cohort in the company</a:t>
            </a:r>
            <a:r>
              <a:rPr sz="1300" i="0" b="0">
                <a:solidFill>
                  <a:srgbClr val="22222A"/>
                </a:solidFill>
                <a:latin typeface="Calibri"/>
              </a:rPr>
              <a:t>, better than NovaCorp-Origin itself.</a:t>
            </a:r>
          </a:p>
          <a:p>
            <a:pPr algn="l">
              <a:lnSpc>
                <a:spcPct val="118000"/>
              </a:lnSpc>
              <a:spcAft>
                <a:spcPts val="1300"/>
              </a:spcAft>
            </a:pPr>
            <a:r>
              <a:rPr sz="1300" i="0" b="0">
                <a:solidFill>
                  <a:srgbClr val="22222A"/>
                </a:solidFill>
                <a:latin typeface="Calibri"/>
              </a:rPr>
              <a:t>Its survey response rate has recovered to </a:t>
            </a:r>
            <a:r>
              <a:rPr sz="1300" i="0" b="1">
                <a:solidFill>
                  <a:srgbClr val="460073"/>
                </a:solidFill>
                <a:latin typeface="Calibri"/>
              </a:rPr>
              <a:t>83.8%</a:t>
            </a:r>
            <a:r>
              <a:rPr sz="1300" i="0" b="0">
                <a:solidFill>
                  <a:srgbClr val="22222A"/>
                </a:solidFill>
                <a:latin typeface="Calibri"/>
              </a:rPr>
              <a:t>, indistinguishable from NovaCorp-Origin.</a:t>
            </a:r>
          </a:p>
          <a:p>
            <a:pPr algn="l">
              <a:lnSpc>
                <a:spcPct val="118000"/>
              </a:lnSpc>
              <a:spcAft>
                <a:spcPts val="1300"/>
              </a:spcAft>
            </a:pPr>
            <a:r>
              <a:rPr sz="1300" i="0" b="0">
                <a:solidFill>
                  <a:srgbClr val="22222A"/>
                </a:solidFill>
                <a:latin typeface="Calibri"/>
              </a:rPr>
              <a:t>Entity_C (late FY2024) is at </a:t>
            </a:r>
            <a:r>
              <a:rPr sz="1300" i="0" b="1">
                <a:solidFill>
                  <a:srgbClr val="460073"/>
                </a:solidFill>
                <a:latin typeface="Calibri"/>
              </a:rPr>
              <a:t>4.6%</a:t>
            </a:r>
            <a:r>
              <a:rPr sz="1300" i="0" b="0">
                <a:solidFill>
                  <a:srgbClr val="22222A"/>
                </a:solidFill>
                <a:latin typeface="Calibri"/>
              </a:rPr>
              <a:t> and statistically indistinguishable from Entity_A. It is </a:t>
            </a:r>
            <a:r>
              <a:rPr sz="1300" i="0" b="1">
                <a:solidFill>
                  <a:srgbClr val="460073"/>
                </a:solidFill>
                <a:latin typeface="Calibri"/>
              </a:rPr>
              <a:t>not</a:t>
            </a:r>
            <a:r>
              <a:rPr sz="1300" i="0" b="0">
                <a:solidFill>
                  <a:srgbClr val="22222A"/>
                </a:solidFill>
                <a:latin typeface="Calibri"/>
              </a:rPr>
              <a:t> a second Entity_B yet.</a:t>
            </a:r>
          </a:p>
        </p:txBody>
      </p:sp>
      <p:pic>
        <p:nvPicPr>
          <p:cNvPr id="8" name="Picture 7" descr="S9_entity_recovery.png"/>
          <p:cNvPicPr>
            <a:picLocks noChangeAspect="1"/>
          </p:cNvPicPr>
          <p:nvPr/>
        </p:nvPicPr>
        <p:blipFill>
          <a:blip r:embed="rId2"/>
          <a:stretch>
            <a:fillRect/>
          </a:stretch>
        </p:blipFill>
        <p:spPr>
          <a:xfrm>
            <a:off x="4892040" y="1989879"/>
            <a:ext cx="6720840" cy="3701201"/>
          </a:xfrm>
          <a:prstGeom prst="rect">
            <a:avLst/>
          </a:prstGeom>
        </p:spPr>
      </p:pic>
      <p:sp>
        <p:nvSpPr>
          <p:cNvPr id="9" name="Rectangle 8"/>
          <p:cNvSpPr/>
          <p:nvPr/>
        </p:nvSpPr>
        <p:spPr>
          <a:xfrm>
            <a:off x="566928" y="5349240"/>
            <a:ext cx="50292" cy="8686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49240"/>
            <a:ext cx="3776471" cy="86868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turns the recommendation from “we hope this helps” into “you have already done this once, in this company, with this workforce.” It also sets your success measure.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TO DO</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Three actions, in order. The first one is free.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10</a:t>
            </a:r>
          </a:p>
        </p:txBody>
      </p:sp>
      <p:sp>
        <p:nvSpPr>
          <p:cNvPr id="6" name="Rectangle 5"/>
          <p:cNvSpPr/>
          <p:nvPr/>
        </p:nvSpPr>
        <p:spPr>
          <a:xfrm>
            <a:off x="566928" y="1828800"/>
            <a:ext cx="50292" cy="1207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2224"/>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A100FF"/>
                </a:solidFill>
                <a:latin typeface="Calibri"/>
              </a:rPr>
              <a:t>1</a:t>
            </a:r>
          </a:p>
        </p:txBody>
      </p:sp>
      <p:sp>
        <p:nvSpPr>
          <p:cNvPr id="8" name="TextBox 7"/>
          <p:cNvSpPr txBox="1"/>
          <p:nvPr/>
        </p:nvSpPr>
        <p:spPr>
          <a:xfrm>
            <a:off x="1298448" y="1828800"/>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Redefine what counts as a regrettable loss</a:t>
            </a:r>
          </a:p>
        </p:txBody>
      </p:sp>
      <p:sp>
        <p:nvSpPr>
          <p:cNvPr id="9" name="TextBox 8"/>
          <p:cNvSpPr txBox="1"/>
          <p:nvPr/>
        </p:nvSpPr>
        <p:spPr>
          <a:xfrm>
            <a:off x="1298448" y="2121408"/>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A100FF"/>
                </a:solidFill>
                <a:latin typeface="Calibri"/>
              </a:rPr>
              <a:t>~$0 · policy · this quarter</a:t>
            </a:r>
          </a:p>
        </p:txBody>
      </p:sp>
      <p:sp>
        <p:nvSpPr>
          <p:cNvPr id="10" name="TextBox 9"/>
          <p:cNvSpPr txBox="1"/>
          <p:nvPr/>
        </p:nvSpPr>
        <p:spPr>
          <a:xfrm>
            <a:off x="1298448" y="2395728"/>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Include High Performer alongside Outstanding. Separate the flag from the function that approved the exit. Review quarterly. Restates your baseline immediately and fixes next year's $42M at source.</a:t>
            </a:r>
          </a:p>
        </p:txBody>
      </p:sp>
      <p:sp>
        <p:nvSpPr>
          <p:cNvPr id="11" name="Rectangle 10"/>
          <p:cNvSpPr/>
          <p:nvPr/>
        </p:nvSpPr>
        <p:spPr>
          <a:xfrm>
            <a:off x="566928" y="3273552"/>
            <a:ext cx="50292" cy="120700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236976"/>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FF6B6B"/>
                </a:solidFill>
                <a:latin typeface="Calibri"/>
              </a:rPr>
              <a:t>2</a:t>
            </a:r>
          </a:p>
        </p:txBody>
      </p:sp>
      <p:sp>
        <p:nvSpPr>
          <p:cNvPr id="13" name="TextBox 12"/>
          <p:cNvSpPr txBox="1"/>
          <p:nvPr/>
        </p:nvSpPr>
        <p:spPr>
          <a:xfrm>
            <a:off x="1298448" y="3273552"/>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Finish the Entity_B integration, as a trust problem not a systems problem</a:t>
            </a:r>
          </a:p>
        </p:txBody>
      </p:sp>
      <p:sp>
        <p:nvSpPr>
          <p:cNvPr id="14" name="TextBox 13"/>
          <p:cNvSpPr txBox="1"/>
          <p:nvPr/>
        </p:nvSpPr>
        <p:spPr>
          <a:xfrm>
            <a:off x="1298448" y="3566160"/>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FF6B6B"/>
                </a:solidFill>
                <a:latin typeface="Calibri"/>
              </a:rPr>
              <a:t>inside the guided $40–50M FY26 integration budget</a:t>
            </a:r>
          </a:p>
        </p:txBody>
      </p:sp>
      <p:sp>
        <p:nvSpPr>
          <p:cNvPr id="15" name="TextBox 14"/>
          <p:cNvSpPr txBox="1"/>
          <p:nvPr/>
        </p:nvSpPr>
        <p:spPr>
          <a:xfrm>
            <a:off x="1298448" y="3840480"/>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Migrate off BambooHR. Stabilise the Senior Manager layer first — Entity_B loses L3s at 9.8%/yr against Entity_A's 2.9%, a 3.4× gap — or there is nobody credible left to communicate the integration. Then leadership visibility and honest communication. Not manager training.</a:t>
            </a:r>
          </a:p>
        </p:txBody>
      </p:sp>
      <p:sp>
        <p:nvSpPr>
          <p:cNvPr id="16" name="Rectangle 15"/>
          <p:cNvSpPr/>
          <p:nvPr/>
        </p:nvSpPr>
        <p:spPr>
          <a:xfrm>
            <a:off x="566928" y="4718304"/>
            <a:ext cx="50292" cy="120700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81728"/>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00B7C3"/>
                </a:solidFill>
                <a:latin typeface="Calibri"/>
              </a:rPr>
              <a:t>3</a:t>
            </a:r>
          </a:p>
        </p:txBody>
      </p:sp>
      <p:sp>
        <p:nvSpPr>
          <p:cNvPr id="18" name="TextBox 17"/>
          <p:cNvSpPr txBox="1"/>
          <p:nvPr/>
        </p:nvSpPr>
        <p:spPr>
          <a:xfrm>
            <a:off x="1298448" y="4718304"/>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Measure acquired cohorts from day one, at cohort level</a:t>
            </a:r>
          </a:p>
        </p:txBody>
      </p:sp>
      <p:sp>
        <p:nvSpPr>
          <p:cNvPr id="19" name="TextBox 18"/>
          <p:cNvSpPr txBox="1"/>
          <p:nvPr/>
        </p:nvSpPr>
        <p:spPr>
          <a:xfrm>
            <a:off x="1298448" y="5010912"/>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00B7C3"/>
                </a:solidFill>
                <a:latin typeface="Calibri"/>
              </a:rPr>
              <a:t>~$0</a:t>
            </a:r>
          </a:p>
        </p:txBody>
      </p:sp>
      <p:sp>
        <p:nvSpPr>
          <p:cNvPr id="20" name="TextBox 19"/>
          <p:cNvSpPr txBox="1"/>
          <p:nvPr/>
        </p:nvSpPr>
        <p:spPr>
          <a:xfrm>
            <a:off x="1298448" y="5285232"/>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Baseline every acquired group against company norms at their first survey. Track response rate as a health metric in its own right. Fix the 307 who were never surveyed.</a:t>
            </a:r>
          </a:p>
        </p:txBody>
      </p:sp>
      <p:sp>
        <p:nvSpPr>
          <p:cNvPr id="21" name="Rectangle 20"/>
          <p:cNvSpPr/>
          <p:nvPr/>
        </p:nvSpPr>
        <p:spPr>
          <a:xfrm>
            <a:off x="566928" y="614476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6144768"/>
            <a:ext cx="10771632" cy="4572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Notice what's not on this list: a pay round, a manager training programme, and cutting agency recruitment. The data rules out all three.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IT'S WORTH</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$71M addressable. The cheapest lever is the largest.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The 20% and 40% reduction rates are assumptions, not findings. Entity_B's $6.2M is a subset of the $7.9M early-tenure lever, not additional to it.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11</a:t>
            </a:r>
          </a:p>
        </p:txBody>
      </p:sp>
      <p:graphicFrame>
        <p:nvGraphicFramePr>
          <p:cNvPr id="7" name="Table 6"/>
          <p:cNvGraphicFramePr>
            <a:graphicFrameLocks noGrp="1"/>
          </p:cNvGraphicFramePr>
          <p:nvPr/>
        </p:nvGraphicFramePr>
        <p:xfrm>
          <a:off x="566928" y="1874519"/>
          <a:ext cx="11064240" cy="2103120"/>
        </p:xfrm>
        <a:graphic>
          <a:graphicData uri="http://schemas.openxmlformats.org/drawingml/2006/table">
            <a:tbl>
              <a:tblPr firstRow="1" bandRow="1">
                <a:tableStyleId>{5C22544A-7EE6-4342-B048-85BDC9FD1C3A}</a:tableStyleId>
              </a:tblPr>
              <a:tblGrid>
                <a:gridCol w="4160520"/>
                <a:gridCol w="1600200"/>
                <a:gridCol w="1417320"/>
                <a:gridCol w="1417320"/>
                <a:gridCol w="2468880"/>
              </a:tblGrid>
              <a:tr h="420624">
                <a:tc>
                  <a:txBody>
                    <a:bodyPr wrap="square"/>
                    <a:lstStyle/>
                    <a:p>
                      <a:pPr algn="l"/>
                      <a:r>
                        <a:rPr sz="1150" b="1">
                          <a:solidFill>
                            <a:srgbClr val="FFFFFF"/>
                          </a:solidFill>
                          <a:latin typeface="Calibri"/>
                        </a:rPr>
                        <a:t>Lever</a:t>
                      </a:r>
                    </a:p>
                  </a:txBody>
                  <a:tcPr marL="91440" marR="73152" marT="27432" marB="27432" anchor="ctr">
                    <a:solidFill>
                      <a:srgbClr val="460073"/>
                    </a:solidFill>
                  </a:tcPr>
                </a:tc>
                <a:tc>
                  <a:txBody>
                    <a:bodyPr wrap="square"/>
                    <a:lstStyle/>
                    <a:p>
                      <a:pPr algn="ctr"/>
                      <a:r>
                        <a:rPr sz="1150" b="1">
                          <a:solidFill>
                            <a:srgbClr val="FFFFFF"/>
                          </a:solidFill>
                          <a:latin typeface="Calibri"/>
                        </a:rPr>
                        <a:t>Addressable</a:t>
                      </a:r>
                    </a:p>
                  </a:txBody>
                  <a:tcPr marL="91440" marR="73152" marT="27432" marB="27432" anchor="ctr">
                    <a:solidFill>
                      <a:srgbClr val="460073"/>
                    </a:solidFill>
                  </a:tcPr>
                </a:tc>
                <a:tc>
                  <a:txBody>
                    <a:bodyPr wrap="square"/>
                    <a:lstStyle/>
                    <a:p>
                      <a:pPr algn="ctr"/>
                      <a:r>
                        <a:rPr sz="1150" b="1">
                          <a:solidFill>
                            <a:srgbClr val="FFFFFF"/>
                          </a:solidFill>
                          <a:latin typeface="Calibri"/>
                        </a:rPr>
                        <a:t>@20%</a:t>
                      </a:r>
                    </a:p>
                  </a:txBody>
                  <a:tcPr marL="91440" marR="73152" marT="27432" marB="27432" anchor="ctr">
                    <a:solidFill>
                      <a:srgbClr val="460073"/>
                    </a:solidFill>
                  </a:tcPr>
                </a:tc>
                <a:tc>
                  <a:txBody>
                    <a:bodyPr wrap="square"/>
                    <a:lstStyle/>
                    <a:p>
                      <a:pPr algn="ctr"/>
                      <a:r>
                        <a:rPr sz="1150" b="1">
                          <a:solidFill>
                            <a:srgbClr val="FFFFFF"/>
                          </a:solidFill>
                          <a:latin typeface="Calibri"/>
                        </a:rPr>
                        <a:t>@40%</a:t>
                      </a:r>
                    </a:p>
                  </a:txBody>
                  <a:tcPr marL="91440" marR="73152" marT="27432" marB="27432" anchor="ctr">
                    <a:solidFill>
                      <a:srgbClr val="460073"/>
                    </a:solidFill>
                  </a:tcPr>
                </a:tc>
                <a:tc>
                  <a:txBody>
                    <a:bodyPr wrap="square"/>
                    <a:lstStyle/>
                    <a:p>
                      <a:pPr algn="ctr"/>
                      <a:r>
                        <a:rPr sz="1150" b="1">
                          <a:solidFill>
                            <a:srgbClr val="FFFFFF"/>
                          </a:solidFill>
                          <a:latin typeface="Calibri"/>
                        </a:rPr>
                        <a:t>Cost to act</a:t>
                      </a:r>
                    </a:p>
                  </a:txBody>
                  <a:tcPr marL="91440" marR="73152" marT="27432" marB="27432" anchor="ctr">
                    <a:solidFill>
                      <a:srgbClr val="460073"/>
                    </a:solidFill>
                  </a:tcPr>
                </a:tc>
              </a:tr>
              <a:tr h="420624">
                <a:tc>
                  <a:txBody>
                    <a:bodyPr wrap="square"/>
                    <a:lstStyle/>
                    <a:p>
                      <a:pPr algn="l"/>
                      <a:r>
                        <a:rPr sz="1200" b="1">
                          <a:solidFill>
                            <a:srgbClr val="22222A"/>
                          </a:solidFill>
                          <a:latin typeface="Calibri"/>
                        </a:rPr>
                        <a:t>Redefine regrettable_flag + quarterly review</a:t>
                      </a:r>
                    </a:p>
                  </a:txBody>
                  <a:tcPr marL="91440" marR="73152" marT="27432" marB="27432" anchor="ctr">
                    <a:solidFill>
                      <a:srgbClr val="F4E9FF"/>
                    </a:solidFill>
                  </a:tcPr>
                </a:tc>
                <a:tc>
                  <a:txBody>
                    <a:bodyPr wrap="square"/>
                    <a:lstStyle/>
                    <a:p>
                      <a:pPr algn="ctr"/>
                      <a:r>
                        <a:rPr sz="1200" b="1">
                          <a:solidFill>
                            <a:srgbClr val="22222A"/>
                          </a:solidFill>
                          <a:latin typeface="Calibri"/>
                        </a:rPr>
                        <a:t>$45.1M</a:t>
                      </a:r>
                    </a:p>
                  </a:txBody>
                  <a:tcPr marL="91440" marR="73152" marT="27432" marB="27432" anchor="ctr">
                    <a:solidFill>
                      <a:srgbClr val="F4E9FF"/>
                    </a:solidFill>
                  </a:tcPr>
                </a:tc>
                <a:tc>
                  <a:txBody>
                    <a:bodyPr wrap="square"/>
                    <a:lstStyle/>
                    <a:p>
                      <a:pPr algn="ctr"/>
                      <a:r>
                        <a:rPr sz="1200" b="1">
                          <a:solidFill>
                            <a:srgbClr val="22222A"/>
                          </a:solidFill>
                          <a:latin typeface="Calibri"/>
                        </a:rPr>
                        <a:t>$9.0M</a:t>
                      </a:r>
                    </a:p>
                  </a:txBody>
                  <a:tcPr marL="91440" marR="73152" marT="27432" marB="27432" anchor="ctr">
                    <a:solidFill>
                      <a:srgbClr val="F4E9FF"/>
                    </a:solidFill>
                  </a:tcPr>
                </a:tc>
                <a:tc>
                  <a:txBody>
                    <a:bodyPr wrap="square"/>
                    <a:lstStyle/>
                    <a:p>
                      <a:pPr algn="ctr"/>
                      <a:r>
                        <a:rPr sz="1200" b="1">
                          <a:solidFill>
                            <a:srgbClr val="22222A"/>
                          </a:solidFill>
                          <a:latin typeface="Calibri"/>
                        </a:rPr>
                        <a:t>$18.1M</a:t>
                      </a:r>
                    </a:p>
                  </a:txBody>
                  <a:tcPr marL="91440" marR="73152" marT="27432" marB="27432" anchor="ctr">
                    <a:solidFill>
                      <a:srgbClr val="F4E9FF"/>
                    </a:solidFill>
                  </a:tcPr>
                </a:tc>
                <a:tc>
                  <a:txBody>
                    <a:bodyPr wrap="square"/>
                    <a:lstStyle/>
                    <a:p>
                      <a:pPr algn="ctr"/>
                      <a:r>
                        <a:rPr sz="1200" b="1">
                          <a:solidFill>
                            <a:srgbClr val="22222A"/>
                          </a:solidFill>
                          <a:latin typeface="Calibri"/>
                        </a:rPr>
                        <a:t>~$0 (policy)</a:t>
                      </a:r>
                    </a:p>
                  </a:txBody>
                  <a:tcPr marL="91440" marR="73152" marT="27432" marB="27432" anchor="ctr">
                    <a:solidFill>
                      <a:srgbClr val="F4E9FF"/>
                    </a:solidFill>
                  </a:tcPr>
                </a:tc>
              </a:tr>
              <a:tr h="420624">
                <a:tc>
                  <a:txBody>
                    <a:bodyPr wrap="square"/>
                    <a:lstStyle/>
                    <a:p>
                      <a:pPr algn="l"/>
                      <a:r>
                        <a:rPr sz="1200" b="0">
                          <a:solidFill>
                            <a:srgbClr val="22222A"/>
                          </a:solidFill>
                          <a:latin typeface="Calibri"/>
                        </a:rPr>
                        <a:t>Disengagement (813 staff below 2.5)</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c>
                  <a:txBody>
                    <a:bodyPr wrap="square"/>
                    <a:lstStyle/>
                    <a:p>
                      <a:pPr algn="ctr"/>
                      <a:r>
                        <a:rPr sz="1200" b="0">
                          <a:solidFill>
                            <a:srgbClr val="22222A"/>
                          </a:solidFill>
                          <a:latin typeface="Calibri"/>
                        </a:rPr>
                        <a:t>$3.6M</a:t>
                      </a:r>
                    </a:p>
                  </a:txBody>
                  <a:tcPr marL="91440" marR="73152" marT="27432" marB="27432" anchor="ctr">
                    <a:solidFill>
                      <a:srgbClr val="F8F8FB"/>
                    </a:solidFill>
                  </a:tcPr>
                </a:tc>
                <a:tc>
                  <a:txBody>
                    <a:bodyPr wrap="square"/>
                    <a:lstStyle/>
                    <a:p>
                      <a:pPr algn="ctr"/>
                      <a:r>
                        <a:rPr sz="1200" b="0">
                          <a:solidFill>
                            <a:srgbClr val="22222A"/>
                          </a:solidFill>
                          <a:latin typeface="Calibri"/>
                        </a:rPr>
                        <a:t>$7.1M</a:t>
                      </a:r>
                    </a:p>
                  </a:txBody>
                  <a:tcPr marL="91440" marR="73152" marT="27432" marB="27432" anchor="ctr">
                    <a:solidFill>
                      <a:srgbClr val="F8F8FB"/>
                    </a:solidFill>
                  </a:tcPr>
                </a:tc>
                <a:tc>
                  <a:txBody>
                    <a:bodyPr wrap="square"/>
                    <a:lstStyle/>
                    <a:p>
                      <a:pPr algn="ctr"/>
                      <a:r>
                        <a:rPr sz="1200" b="0">
                          <a:solidFill>
                            <a:srgbClr val="22222A"/>
                          </a:solidFill>
                          <a:latin typeface="Calibri"/>
                        </a:rPr>
                        <a:t>programme-dependent</a:t>
                      </a:r>
                    </a:p>
                  </a:txBody>
                  <a:tcPr marL="91440" marR="73152" marT="27432" marB="27432" anchor="ctr">
                    <a:solidFill>
                      <a:srgbClr val="F8F8FB"/>
                    </a:solidFill>
                  </a:tcPr>
                </a:tc>
              </a:tr>
              <a:tr h="420624">
                <a:tc>
                  <a:txBody>
                    <a:bodyPr wrap="square"/>
                    <a:lstStyle/>
                    <a:p>
                      <a:pPr algn="l"/>
                      <a:r>
                        <a:rPr sz="1200" b="0">
                          <a:solidFill>
                            <a:srgbClr val="22222A"/>
                          </a:solidFill>
                          <a:latin typeface="Calibri"/>
                        </a:rPr>
                        <a:t>Early-tenure / acquisition onboarding</a:t>
                      </a:r>
                    </a:p>
                  </a:txBody>
                  <a:tcPr marL="91440" marR="73152" marT="27432" marB="27432" anchor="ctr">
                    <a:solidFill>
                      <a:srgbClr val="FFFFFF"/>
                    </a:solidFill>
                  </a:tcPr>
                </a:tc>
                <a:tc>
                  <a:txBody>
                    <a:bodyPr wrap="square"/>
                    <a:lstStyle/>
                    <a:p>
                      <a:pPr algn="ctr"/>
                      <a:r>
                        <a:rPr sz="1200" b="0">
                          <a:solidFill>
                            <a:srgbClr val="22222A"/>
                          </a:solidFill>
                          <a:latin typeface="Calibri"/>
                        </a:rPr>
                        <a:t>$7.9M</a:t>
                      </a:r>
                    </a:p>
                  </a:txBody>
                  <a:tcPr marL="91440" marR="73152" marT="27432" marB="27432" anchor="ctr">
                    <a:solidFill>
                      <a:srgbClr val="FFFFFF"/>
                    </a:solidFill>
                  </a:tcPr>
                </a:tc>
                <a:tc>
                  <a:txBody>
                    <a:bodyPr wrap="square"/>
                    <a:lstStyle/>
                    <a:p>
                      <a:pPr algn="ctr"/>
                      <a:r>
                        <a:rPr sz="1200" b="0">
                          <a:solidFill>
                            <a:srgbClr val="22222A"/>
                          </a:solidFill>
                          <a:latin typeface="Calibri"/>
                        </a:rPr>
                        <a:t>$1.6M</a:t>
                      </a:r>
                    </a:p>
                  </a:txBody>
                  <a:tcPr marL="91440" marR="73152" marT="27432" marB="27432" anchor="ctr">
                    <a:solidFill>
                      <a:srgbClr val="FFFFFF"/>
                    </a:solidFill>
                  </a:tcPr>
                </a:tc>
                <a:tc>
                  <a:txBody>
                    <a:bodyPr wrap="square"/>
                    <a:lstStyle/>
                    <a:p>
                      <a:pPr algn="ctr"/>
                      <a:r>
                        <a:rPr sz="1200" b="0">
                          <a:solidFill>
                            <a:srgbClr val="22222A"/>
                          </a:solidFill>
                          <a:latin typeface="Calibri"/>
                        </a:rPr>
                        <a:t>$3.2M</a:t>
                      </a:r>
                    </a:p>
                  </a:txBody>
                  <a:tcPr marL="91440" marR="73152" marT="27432" marB="27432" anchor="ctr">
                    <a:solidFill>
                      <a:srgbClr val="FFFFFF"/>
                    </a:solidFill>
                  </a:tcPr>
                </a:tc>
                <a:tc>
                  <a:txBody>
                    <a:bodyPr wrap="square"/>
                    <a:lstStyle/>
                    <a:p>
                      <a:pPr algn="ctr"/>
                      <a:r>
                        <a:rPr sz="1200" b="0">
                          <a:solidFill>
                            <a:srgbClr val="22222A"/>
                          </a:solidFill>
                          <a:latin typeface="Calibri"/>
                        </a:rPr>
                        <a:t>~$500–800/head</a:t>
                      </a:r>
                    </a:p>
                  </a:txBody>
                  <a:tcPr marL="91440" marR="73152" marT="27432" marB="27432" anchor="ctr">
                    <a:solidFill>
                      <a:srgbClr val="FFFFFF"/>
                    </a:solidFill>
                  </a:tcPr>
                </a:tc>
              </a:tr>
              <a:tr h="420624">
                <a:tc>
                  <a:txBody>
                    <a:bodyPr wrap="square"/>
                    <a:lstStyle/>
                    <a:p>
                      <a:pPr algn="l"/>
                      <a:r>
                        <a:rPr sz="1200" b="0">
                          <a:solidFill>
                            <a:srgbClr val="22222A"/>
                          </a:solidFill>
                          <a:latin typeface="Calibri"/>
                        </a:rPr>
                        <a:t>      of which Entity_B specifically</a:t>
                      </a:r>
                    </a:p>
                  </a:txBody>
                  <a:tcPr marL="91440" marR="73152" marT="27432" marB="27432" anchor="ctr">
                    <a:solidFill>
                      <a:srgbClr val="F8F8FB"/>
                    </a:solidFill>
                  </a:tcPr>
                </a:tc>
                <a:tc>
                  <a:txBody>
                    <a:bodyPr wrap="square"/>
                    <a:lstStyle/>
                    <a:p>
                      <a:pPr algn="ctr"/>
                      <a:r>
                        <a:rPr sz="1200" b="0">
                          <a:solidFill>
                            <a:srgbClr val="22222A"/>
                          </a:solidFill>
                          <a:latin typeface="Calibri"/>
                        </a:rPr>
                        <a:t>$6.2M</a:t>
                      </a:r>
                    </a:p>
                  </a:txBody>
                  <a:tcPr marL="91440" marR="73152" marT="27432" marB="27432" anchor="ctr">
                    <a:solidFill>
                      <a:srgbClr val="F8F8FB"/>
                    </a:solidFill>
                  </a:tcPr>
                </a:tc>
                <a:tc>
                  <a:txBody>
                    <a:bodyPr wrap="square"/>
                    <a:lstStyle/>
                    <a:p>
                      <a:pPr algn="ctr"/>
                      <a:r>
                        <a:rPr sz="1200" b="0">
                          <a:solidFill>
                            <a:srgbClr val="22222A"/>
                          </a:solidFill>
                          <a:latin typeface="Calibri"/>
                        </a:rPr>
                        <a:t>$1.2M</a:t>
                      </a:r>
                    </a:p>
                  </a:txBody>
                  <a:tcPr marL="91440" marR="73152" marT="27432" marB="27432" anchor="ctr">
                    <a:solidFill>
                      <a:srgbClr val="F8F8FB"/>
                    </a:solidFill>
                  </a:tcPr>
                </a:tc>
                <a:tc>
                  <a:txBody>
                    <a:bodyPr wrap="square"/>
                    <a:lstStyle/>
                    <a:p>
                      <a:pPr algn="ctr"/>
                      <a:r>
                        <a:rPr sz="1200" b="0">
                          <a:solidFill>
                            <a:srgbClr val="22222A"/>
                          </a:solidFill>
                          <a:latin typeface="Calibri"/>
                        </a:rPr>
                        <a:t>$2.5M</a:t>
                      </a:r>
                    </a:p>
                  </a:txBody>
                  <a:tcPr marL="91440" marR="73152" marT="27432" marB="27432" anchor="ctr">
                    <a:solidFill>
                      <a:srgbClr val="F8F8FB"/>
                    </a:solidFill>
                  </a:tcPr>
                </a:tc>
                <a:tc>
                  <a:txBody>
                    <a:bodyPr wrap="square"/>
                    <a:lstStyle/>
                    <a:p>
                      <a:pPr algn="ctr"/>
                      <a:r>
                        <a:rPr sz="1200" b="0">
                          <a:solidFill>
                            <a:srgbClr val="22222A"/>
                          </a:solidFill>
                          <a:latin typeface="Calibri"/>
                        </a:rPr>
                        <a:t/>
                      </a:r>
                    </a:p>
                  </a:txBody>
                  <a:tcPr marL="91440" marR="73152" marT="27432" marB="27432" anchor="ctr">
                    <a:solidFill>
                      <a:srgbClr val="F8F8FB"/>
                    </a:solidFill>
                  </a:tcPr>
                </a:tc>
              </a:tr>
            </a:tbl>
          </a:graphicData>
        </a:graphic>
      </p:graphicFrame>
      <p:sp>
        <p:nvSpPr>
          <p:cNvPr id="8" name="Rectangle 7"/>
          <p:cNvSpPr/>
          <p:nvPr/>
        </p:nvSpPr>
        <p:spPr>
          <a:xfrm>
            <a:off x="566928" y="3977639"/>
            <a:ext cx="50292" cy="8686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3977639"/>
            <a:ext cx="10771632" cy="86868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20% and 40% are assumptions, not findings. That's the band typically claimed for targeted retention programmes. We show both so the decision doesn't depend on the optimistic one. The first lever is a definition change, so its return isn't capped by budget at all.</a:t>
            </a:r>
          </a:p>
        </p:txBody>
      </p:sp>
      <p:sp>
        <p:nvSpPr>
          <p:cNvPr id="10" name="Rectangle 9"/>
          <p:cNvSpPr/>
          <p:nvPr/>
        </p:nvSpPr>
        <p:spPr>
          <a:xfrm>
            <a:off x="566928" y="5074920"/>
            <a:ext cx="11064240" cy="960120"/>
          </a:xfrm>
          <a:prstGeom prst="rect">
            <a:avLst/>
          </a:prstGeom>
          <a:solidFill>
            <a:srgbClr val="FFF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5230368"/>
            <a:ext cx="10515600" cy="685800"/>
          </a:xfrm>
          <a:prstGeom prst="rect">
            <a:avLst/>
          </a:prstGeom>
          <a:noFill/>
        </p:spPr>
        <p:txBody>
          <a:bodyPr wrap="square" anchor="t" lIns="0" rIns="0" tIns="0" bIns="0">
            <a:spAutoFit/>
          </a:bodyPr>
          <a:lstStyle/>
          <a:p>
            <a:pPr algn="l">
              <a:lnSpc>
                <a:spcPct val="100000"/>
              </a:lnSpc>
              <a:spcAft>
                <a:spcPts val="300"/>
              </a:spcAft>
            </a:pPr>
            <a:r>
              <a:rPr sz="1200" i="0" b="1">
                <a:solidFill>
                  <a:srgbClr val="460073"/>
                </a:solidFill>
                <a:latin typeface="Calibri"/>
              </a:rPr>
              <a:t>$7.9M is the corrected figure.</a:t>
            </a:r>
          </a:p>
          <a:p>
            <a:pPr algn="l">
              <a:lnSpc>
                <a:spcPct val="114000"/>
              </a:lnSpc>
              <a:spcAft>
                <a:spcPts val="0"/>
              </a:spcAft>
            </a:pPr>
            <a:r>
              <a:rPr sz="1100" i="0" b="0">
                <a:solidFill>
                  <a:srgbClr val="22222A"/>
                </a:solidFill>
                <a:latin typeface="Calibri"/>
              </a:rPr>
              <a:t>An earlier draft said $29.6M. That counted the baseline early attrition every employer carries, not the excess attributable to the acquisition cohorts. Method and restatement in appendix A7.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NOT TO ACT ON THIS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A “who stopped answering” flag looks free. It flags 16.6% of 18–24s and 1.4% of 45–49s.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Four-fifths rule applied to a proposed individual flight-risk flag, on all active staff. All figures from ethics_audit.py. Full fairness method and results in appendix A4.</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12</a:t>
            </a:r>
          </a:p>
        </p:txBody>
      </p:sp>
      <p:sp>
        <p:nvSpPr>
          <p:cNvPr id="7" name="TextBox 6"/>
          <p:cNvSpPr txBox="1"/>
          <p:nvPr/>
        </p:nvSpPr>
        <p:spPr>
          <a:xfrm>
            <a:off x="566928" y="1874519"/>
            <a:ext cx="4480560" cy="4114800"/>
          </a:xfrm>
          <a:prstGeom prst="rect">
            <a:avLst/>
          </a:prstGeom>
          <a:noFill/>
        </p:spPr>
        <p:txBody>
          <a:bodyPr wrap="square" anchor="t" lIns="0" rIns="0" tIns="0" bIns="0">
            <a:spAutoFit/>
          </a:bodyPr>
          <a:lstStyle/>
          <a:p>
            <a:pPr algn="l">
              <a:lnSpc>
                <a:spcPct val="118000"/>
              </a:lnSpc>
              <a:spcAft>
                <a:spcPts val="1000"/>
              </a:spcAft>
            </a:pPr>
            <a:r>
              <a:rPr sz="1200" i="0" b="0">
                <a:solidFill>
                  <a:srgbClr val="22222A"/>
                </a:solidFill>
                <a:latin typeface="Calibri"/>
              </a:rPr>
              <a:t>The obvious move from our own analysis is a flight-risk score built on survey silence. </a:t>
            </a:r>
            <a:r>
              <a:rPr sz="1200" i="0" b="1">
                <a:solidFill>
                  <a:srgbClr val="460073"/>
                </a:solidFill>
                <a:latin typeface="Calibri"/>
              </a:rPr>
              <a:t>We recommend against deploying it at individual level.</a:t>
            </a:r>
          </a:p>
          <a:p>
            <a:pPr algn="l">
              <a:lnSpc>
                <a:spcPct val="118000"/>
              </a:lnSpc>
              <a:spcAft>
                <a:spcPts val="1000"/>
              </a:spcAft>
            </a:pPr>
            <a:r>
              <a:rPr sz="1200" i="0" b="0">
                <a:solidFill>
                  <a:srgbClr val="22222A"/>
                </a:solidFill>
                <a:latin typeface="Calibri"/>
              </a:rPr>
              <a:t>Under the </a:t>
            </a:r>
            <a:r>
              <a:rPr sz="1200" i="0" b="1">
                <a:solidFill>
                  <a:srgbClr val="460073"/>
                </a:solidFill>
                <a:latin typeface="Calibri"/>
              </a:rPr>
              <a:t>four-fifths rule</a:t>
            </a:r>
            <a:r>
              <a:rPr sz="1200" i="0" b="0">
                <a:solidFill>
                  <a:srgbClr val="22222A"/>
                </a:solidFill>
                <a:latin typeface="Calibri"/>
              </a:rPr>
              <a:t> it fails on age (ratio </a:t>
            </a:r>
            <a:r>
              <a:rPr sz="1200" i="0" b="1">
                <a:solidFill>
                  <a:srgbClr val="460073"/>
                </a:solidFill>
                <a:latin typeface="Calibri"/>
              </a:rPr>
              <a:t>0.08</a:t>
            </a:r>
            <a:r>
              <a:rPr sz="1200" i="0" b="0">
                <a:solidFill>
                  <a:srgbClr val="22222A"/>
                </a:solidFill>
                <a:latin typeface="Calibri"/>
              </a:rPr>
              <a:t>, a twelvefold gap), on role level (L1 9.2% vs L5 1.4%) and on acquisition cohort (Entity_C 31.7% vs NovaCorp-Origin 2.4%).</a:t>
            </a:r>
          </a:p>
          <a:p>
            <a:pPr algn="l">
              <a:lnSpc>
                <a:spcPct val="118000"/>
              </a:lnSpc>
              <a:spcAft>
                <a:spcPts val="1000"/>
              </a:spcAft>
            </a:pPr>
            <a:r>
              <a:rPr sz="1200" i="0" b="0">
                <a:solidFill>
                  <a:srgbClr val="22222A"/>
                </a:solidFill>
                <a:latin typeface="Calibri"/>
              </a:rPr>
              <a:t>It is also </a:t>
            </a:r>
            <a:r>
              <a:rPr sz="1200" i="0" b="1">
                <a:solidFill>
                  <a:srgbClr val="460073"/>
                </a:solidFill>
                <a:latin typeface="Calibri"/>
              </a:rPr>
              <a:t>wrong most of the time</a:t>
            </a:r>
            <a:r>
              <a:rPr sz="1200" i="0" b="0">
                <a:solidFill>
                  <a:srgbClr val="22222A"/>
                </a:solidFill>
                <a:latin typeface="Calibri"/>
              </a:rPr>
              <a:t>: </a:t>
            </a:r>
            <a:r>
              <a:rPr sz="1200" i="0" b="1">
                <a:solidFill>
                  <a:srgbClr val="460073"/>
                </a:solidFill>
                <a:latin typeface="Calibri"/>
              </a:rPr>
              <a:t>901 false positives</a:t>
            </a:r>
            <a:r>
              <a:rPr sz="1200" i="0" b="0">
                <a:solidFill>
                  <a:srgbClr val="22222A"/>
                </a:solidFill>
                <a:latin typeface="Calibri"/>
              </a:rPr>
              <a:t> against 263 true ones, </a:t>
            </a:r>
            <a:r>
              <a:rPr sz="1200" i="0" b="1">
                <a:solidFill>
                  <a:srgbClr val="460073"/>
                </a:solidFill>
                <a:latin typeface="Calibri"/>
              </a:rPr>
              <a:t>precision 23%</a:t>
            </a:r>
            <a:r>
              <a:rPr sz="1200" i="0" b="0">
                <a:solidFill>
                  <a:srgbClr val="22222A"/>
                </a:solidFill>
                <a:latin typeface="Calibri"/>
              </a:rPr>
              <a:t>. The dominant outcome is a career conversation about someone who was never leaving.</a:t>
            </a:r>
          </a:p>
          <a:p>
            <a:pPr algn="l">
              <a:lnSpc>
                <a:spcPct val="118000"/>
              </a:lnSpc>
              <a:spcAft>
                <a:spcPts val="1000"/>
              </a:spcAft>
            </a:pPr>
            <a:r>
              <a:rPr sz="1200" i="0" b="0">
                <a:solidFill>
                  <a:srgbClr val="22222A"/>
                </a:solidFill>
                <a:latin typeface="Calibri"/>
              </a:rPr>
              <a:t>Low response is concentrated in the acquisition cohorts, so the flag is substantially measuring </a:t>
            </a:r>
            <a:r>
              <a:rPr sz="1200" i="0" b="1">
                <a:solidFill>
                  <a:srgbClr val="460073"/>
                </a:solidFill>
                <a:latin typeface="Calibri"/>
              </a:rPr>
              <a:t>integration failure</a:t>
            </a:r>
            <a:r>
              <a:rPr sz="1200" i="0" b="0">
                <a:solidFill>
                  <a:srgbClr val="22222A"/>
                </a:solidFill>
                <a:latin typeface="Calibri"/>
              </a:rPr>
              <a:t>, not individual intent.</a:t>
            </a:r>
          </a:p>
        </p:txBody>
      </p:sp>
      <p:pic>
        <p:nvPicPr>
          <p:cNvPr id="8" name="Picture 7" descr="E3_adverse_impact_age.png"/>
          <p:cNvPicPr>
            <a:picLocks noChangeAspect="1"/>
          </p:cNvPicPr>
          <p:nvPr/>
        </p:nvPicPr>
        <p:blipFill>
          <a:blip r:embed="rId2"/>
          <a:stretch>
            <a:fillRect/>
          </a:stretch>
        </p:blipFill>
        <p:spPr>
          <a:xfrm>
            <a:off x="5349240" y="2167103"/>
            <a:ext cx="6263640" cy="3438193"/>
          </a:xfrm>
          <a:prstGeom prst="rect">
            <a:avLst/>
          </a:prstGeom>
        </p:spPr>
      </p:pic>
      <p:sp>
        <p:nvSpPr>
          <p:cNvPr id="9" name="Rectangle 8"/>
          <p:cNvSpPr/>
          <p:nvPr/>
        </p:nvSpPr>
        <p:spPr>
          <a:xfrm>
            <a:off x="566928" y="5486400"/>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486400"/>
            <a:ext cx="4279392"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We're showing you the thing we decided not to recommend. In a performance or redundancy conversation this is a discrimination exposure that costs more than the attrition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TO USE IT RESPONSIBLY</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Team-level diagnostic, disclosed to staff, never an individual score.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13</a:t>
            </a:r>
          </a:p>
        </p:txBody>
      </p:sp>
      <p:sp>
        <p:nvSpPr>
          <p:cNvPr id="6" name="TextBox 5"/>
          <p:cNvSpPr txBox="1"/>
          <p:nvPr/>
        </p:nvSpPr>
        <p:spPr>
          <a:xfrm>
            <a:off x="566928" y="1965960"/>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1</a:t>
            </a:r>
          </a:p>
        </p:txBody>
      </p:sp>
      <p:sp>
        <p:nvSpPr>
          <p:cNvPr id="7" name="TextBox 6"/>
          <p:cNvSpPr txBox="1"/>
          <p:nvPr/>
        </p:nvSpPr>
        <p:spPr>
          <a:xfrm>
            <a:off x="1133856" y="2002536"/>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Never as an individual score handed to a manager.</a:t>
            </a:r>
          </a:p>
        </p:txBody>
      </p:sp>
      <p:sp>
        <p:nvSpPr>
          <p:cNvPr id="8" name="TextBox 7"/>
          <p:cNvSpPr txBox="1"/>
          <p:nvPr/>
        </p:nvSpPr>
        <p:spPr>
          <a:xfrm>
            <a:off x="1133856" y="2350008"/>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23% precision. Three in four flagged people were never leaving.</a:t>
            </a:r>
          </a:p>
        </p:txBody>
      </p:sp>
      <p:sp>
        <p:nvSpPr>
          <p:cNvPr id="9" name="TextBox 8"/>
          <p:cNvSpPr txBox="1"/>
          <p:nvPr/>
        </p:nvSpPr>
        <p:spPr>
          <a:xfrm>
            <a:off x="566928" y="3319272"/>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2</a:t>
            </a:r>
          </a:p>
        </p:txBody>
      </p:sp>
      <p:sp>
        <p:nvSpPr>
          <p:cNvPr id="10" name="TextBox 9"/>
          <p:cNvSpPr txBox="1"/>
          <p:nvPr/>
        </p:nvSpPr>
        <p:spPr>
          <a:xfrm>
            <a:off x="1133856" y="3355848"/>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Team level only, minimum 8 responses.</a:t>
            </a:r>
          </a:p>
        </p:txBody>
      </p:sp>
      <p:sp>
        <p:nvSpPr>
          <p:cNvPr id="11" name="TextBox 10"/>
          <p:cNvSpPr txBox="1"/>
          <p:nvPr/>
        </p:nvSpPr>
        <p:spPr>
          <a:xfrm>
            <a:off x="1133856" y="3703320"/>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Reported as a diagnostic, not a prediction.</a:t>
            </a:r>
          </a:p>
        </p:txBody>
      </p:sp>
      <p:sp>
        <p:nvSpPr>
          <p:cNvPr id="12" name="TextBox 11"/>
          <p:cNvSpPr txBox="1"/>
          <p:nvPr/>
        </p:nvSpPr>
        <p:spPr>
          <a:xfrm>
            <a:off x="566928" y="4672584"/>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3</a:t>
            </a:r>
          </a:p>
        </p:txBody>
      </p:sp>
      <p:sp>
        <p:nvSpPr>
          <p:cNvPr id="13" name="TextBox 12"/>
          <p:cNvSpPr txBox="1"/>
          <p:nvPr/>
        </p:nvSpPr>
        <p:spPr>
          <a:xfrm>
            <a:off x="1133856" y="4709160"/>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Tell employees the participation metric exists.</a:t>
            </a:r>
          </a:p>
        </p:txBody>
      </p:sp>
      <p:sp>
        <p:nvSpPr>
          <p:cNvPr id="14" name="TextBox 13"/>
          <p:cNvSpPr txBox="1"/>
          <p:nvPr/>
        </p:nvSpPr>
        <p:spPr>
          <a:xfrm>
            <a:off x="1133856" y="5056632"/>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If the survey was sold as confidential, quietly re-using non-response as a personal risk score breaks that promise. Once staff work it out, response rates collapse and you lose the instrument entirely.</a:t>
            </a:r>
          </a:p>
        </p:txBody>
      </p:sp>
      <p:sp>
        <p:nvSpPr>
          <p:cNvPr id="15" name="Rectangle 14"/>
          <p:cNvSpPr/>
          <p:nvPr/>
        </p:nvSpPr>
        <p:spPr>
          <a:xfrm>
            <a:off x="7178040" y="1920240"/>
            <a:ext cx="4434840" cy="3794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25512" y="2240280"/>
            <a:ext cx="3749039" cy="320040"/>
          </a:xfrm>
          <a:prstGeom prst="rect">
            <a:avLst/>
          </a:prstGeom>
          <a:noFill/>
        </p:spPr>
        <p:txBody>
          <a:bodyPr wrap="square" anchor="t" lIns="0" rIns="0" tIns="0" bIns="0">
            <a:spAutoFit/>
          </a:bodyPr>
          <a:lstStyle/>
          <a:p>
            <a:pPr algn="l">
              <a:lnSpc>
                <a:spcPct val="100000"/>
              </a:lnSpc>
              <a:spcAft>
                <a:spcPts val="1800"/>
              </a:spcAft>
            </a:pPr>
            <a:r>
              <a:rPr sz="1000" i="0" b="1">
                <a:solidFill>
                  <a:srgbClr val="5A5A66"/>
                </a:solidFill>
                <a:latin typeface="Calibri"/>
              </a:rPr>
              <a:t>WHAT WE DELIBERATELY DID NOT DO</a:t>
            </a:r>
          </a:p>
          <a:p>
            <a:pPr algn="l">
              <a:lnSpc>
                <a:spcPct val="100000"/>
              </a:lnSpc>
              <a:spcAft>
                <a:spcPts val="300"/>
              </a:spcAft>
            </a:pPr>
            <a:r>
              <a:rPr sz="1250" i="0" b="1">
                <a:solidFill>
                  <a:srgbClr val="460073"/>
                </a:solidFill>
                <a:latin typeface="Calibri"/>
              </a:rPr>
              <a:t>No demographic features in any model.</a:t>
            </a:r>
          </a:p>
          <a:p>
            <a:pPr algn="l">
              <a:lnSpc>
                <a:spcPct val="118000"/>
              </a:lnSpc>
              <a:spcAft>
                <a:spcPts val="1700"/>
              </a:spcAft>
            </a:pPr>
            <a:r>
              <a:rPr sz="1100" i="0" b="0">
                <a:solidFill>
                  <a:srgbClr val="22222A"/>
                </a:solidFill>
                <a:latin typeface="Calibri"/>
              </a:rPr>
              <a:t>Gender, age and cultural background appear only as fairness-audit dimensions, never as predictors.</a:t>
            </a:r>
          </a:p>
          <a:p>
            <a:pPr algn="l">
              <a:lnSpc>
                <a:spcPct val="100000"/>
              </a:lnSpc>
              <a:spcAft>
                <a:spcPts val="300"/>
              </a:spcAft>
            </a:pPr>
            <a:r>
              <a:rPr sz="1250" i="0" b="1">
                <a:solidFill>
                  <a:srgbClr val="460073"/>
                </a:solidFill>
                <a:latin typeface="Calibri"/>
              </a:rPr>
              <a:t>No individual employees or managers named.</a:t>
            </a:r>
          </a:p>
          <a:p>
            <a:pPr algn="l">
              <a:lnSpc>
                <a:spcPct val="118000"/>
              </a:lnSpc>
              <a:spcAft>
                <a:spcPts val="1700"/>
              </a:spcAft>
            </a:pPr>
            <a:r>
              <a:rPr sz="1100" i="0" b="0">
                <a:solidFill>
                  <a:srgbClr val="22222A"/>
                </a:solidFill>
                <a:latin typeface="Calibri"/>
              </a:rPr>
              <a:t>Manager results aggregated, suppressed below 8 reports.</a:t>
            </a:r>
          </a:p>
          <a:p>
            <a:pPr algn="l">
              <a:lnSpc>
                <a:spcPct val="100000"/>
              </a:lnSpc>
              <a:spcAft>
                <a:spcPts val="300"/>
              </a:spcAft>
            </a:pPr>
            <a:r>
              <a:rPr sz="1250" i="0" b="1">
                <a:solidFill>
                  <a:srgbClr val="460073"/>
                </a:solidFill>
                <a:latin typeface="Calibri"/>
              </a:rPr>
              <a:t>No causal language.</a:t>
            </a:r>
          </a:p>
          <a:p>
            <a:pPr algn="l">
              <a:lnSpc>
                <a:spcPct val="118000"/>
              </a:lnSpc>
              <a:spcAft>
                <a:spcPts val="1700"/>
              </a:spcAft>
            </a:pPr>
            <a:r>
              <a:rPr sz="1100" i="0" b="0">
                <a:solidFill>
                  <a:srgbClr val="22222A"/>
                </a:solidFill>
                <a:latin typeface="Calibri"/>
              </a:rPr>
              <a:t>Association only. We never claim one thing caused another.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WE CAN'T TELL YOU</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limits of this analysis, stated before you ask.</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Full data-quality register in appendix A6. Statistical test register in A8.</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14</a:t>
            </a:r>
          </a:p>
        </p:txBody>
      </p:sp>
      <p:sp>
        <p:nvSpPr>
          <p:cNvPr id="7" name="TextBox 6"/>
          <p:cNvSpPr txBox="1"/>
          <p:nvPr/>
        </p:nvSpPr>
        <p:spPr>
          <a:xfrm>
            <a:off x="566928" y="1783080"/>
            <a:ext cx="548640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Two-year window, annualised.</a:t>
            </a:r>
            <a:r>
              <a:rPr sz="1150" i="0" b="0">
                <a:solidFill>
                  <a:srgbClr val="22222A"/>
                </a:solidFill>
                <a:latin typeface="Calibri"/>
              </a:rPr>
              <a:t> All rates are voluntary exits ÷ 2 years ÷ active headcount = </a:t>
            </a:r>
            <a:r>
              <a:rPr sz="1150" i="0" b="1">
                <a:solidFill>
                  <a:srgbClr val="460073"/>
                </a:solidFill>
                <a:latin typeface="Calibri"/>
              </a:rPr>
              <a:t>4.7%/yr</a:t>
            </a:r>
            <a:r>
              <a:rPr sz="1150" i="0" b="0">
                <a:solidFill>
                  <a:srgbClr val="22222A"/>
                </a:solidFill>
                <a:latin typeface="Calibri"/>
              </a:rPr>
              <a:t>. Your FY2025 Annual Report's “10.4% voluntary attrition” is total attrition including 267 involuntary exits across the full two years. It reproduces exactly as 1,400/13,403. </a:t>
            </a:r>
            <a:r>
              <a:rPr sz="1150" i="0" b="1">
                <a:solidFill>
                  <a:srgbClr val="460073"/>
                </a:solidFill>
                <a:latin typeface="Calibri"/>
              </a:rPr>
              <a:t>We restate; we don't accuse.</a:t>
            </a:r>
          </a:p>
          <a:p>
            <a:pPr algn="l">
              <a:lnSpc>
                <a:spcPct val="118000"/>
              </a:lnSpc>
              <a:spcAft>
                <a:spcPts val="1300"/>
              </a:spcAft>
            </a:pPr>
            <a:r>
              <a:rPr sz="1150" i="0" b="1">
                <a:solidFill>
                  <a:srgbClr val="460073"/>
                </a:solidFill>
                <a:latin typeface="Calibri"/>
              </a:rPr>
              <a:t>We cannot see pre-acquisition Entity_B.</a:t>
            </a:r>
            <a:r>
              <a:rPr sz="1150" i="0" b="0">
                <a:solidFill>
                  <a:srgbClr val="22222A"/>
                </a:solidFill>
                <a:latin typeface="Calibri"/>
              </a:rPr>
              <a:t> They may have arrived unhappy from their previous employer. We genuinely cannot rule this out.</a:t>
            </a:r>
          </a:p>
          <a:p>
            <a:pPr algn="l">
              <a:lnSpc>
                <a:spcPct val="118000"/>
              </a:lnSpc>
              <a:spcAft>
                <a:spcPts val="1300"/>
              </a:spcAft>
            </a:pPr>
            <a:r>
              <a:rPr sz="1150" i="0" b="1">
                <a:solidFill>
                  <a:srgbClr val="460073"/>
                </a:solidFill>
                <a:latin typeface="Calibri"/>
              </a:rPr>
              <a:t>Engagement is only observed for responders</a:t>
            </a:r>
            <a:r>
              <a:rPr sz="1150" i="0" b="0">
                <a:solidFill>
                  <a:srgbClr val="22222A"/>
                </a:solidFill>
                <a:latin typeface="Calibri"/>
              </a:rPr>
              <a:t>, and leavers responded less, so every disengagement figure is a lower bound.</a:t>
            </a:r>
          </a:p>
          <a:p>
            <a:pPr algn="l">
              <a:lnSpc>
                <a:spcPct val="118000"/>
              </a:lnSpc>
              <a:spcAft>
                <a:spcPts val="1300"/>
              </a:spcAft>
            </a:pPr>
            <a:r>
              <a:rPr sz="1150" i="0" b="1">
                <a:solidFill>
                  <a:srgbClr val="460073"/>
                </a:solidFill>
                <a:latin typeface="Calibri"/>
              </a:rPr>
              <a:t>Association, not causation.</a:t>
            </a:r>
            <a:r>
              <a:rPr sz="1150" i="0" b="0">
                <a:solidFill>
                  <a:srgbClr val="22222A"/>
                </a:solidFill>
                <a:latin typeface="Calibri"/>
              </a:rPr>
              <a:t> Senior Manager churn and collapsed trust move together. We cannot say which drives which.</a:t>
            </a:r>
          </a:p>
        </p:txBody>
      </p:sp>
      <p:sp>
        <p:nvSpPr>
          <p:cNvPr id="8" name="TextBox 7"/>
          <p:cNvSpPr txBox="1"/>
          <p:nvPr/>
        </p:nvSpPr>
        <p:spPr>
          <a:xfrm>
            <a:off x="6446520" y="1783080"/>
            <a:ext cx="521208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regrettable_flag, performance_band_at_exit and stated_exit_reason are retrospective HR judgements.</a:t>
            </a:r>
            <a:r>
              <a:rPr sz="1150" i="0" b="0">
                <a:solidFill>
                  <a:srgbClr val="22222A"/>
                </a:solidFill>
                <a:latin typeface="Calibri"/>
              </a:rPr>
              <a:t> We use them as the object of analysis, not as ground truth.</a:t>
            </a:r>
          </a:p>
          <a:p>
            <a:pPr algn="l">
              <a:lnSpc>
                <a:spcPct val="118000"/>
              </a:lnSpc>
              <a:spcAft>
                <a:spcPts val="1300"/>
              </a:spcAft>
            </a:pPr>
            <a:r>
              <a:rPr sz="1150" i="0" b="1">
                <a:solidFill>
                  <a:srgbClr val="460073"/>
                </a:solidFill>
                <a:latin typeface="Calibri"/>
              </a:rPr>
              <a:t>The 2025-H2 review cycle is missing</a:t>
            </a:r>
            <a:r>
              <a:rPr sz="1150" i="0" b="0">
                <a:solidFill>
                  <a:srgbClr val="22222A"/>
                </a:solidFill>
                <a:latin typeface="Calibri"/>
              </a:rPr>
              <a:t>, so performance data is up to 12 months stale for some leavers.</a:t>
            </a:r>
          </a:p>
          <a:p>
            <a:pPr algn="l">
              <a:lnSpc>
                <a:spcPct val="118000"/>
              </a:lnSpc>
              <a:spcAft>
                <a:spcPts val="1300"/>
              </a:spcAft>
            </a:pPr>
            <a:r>
              <a:rPr sz="1150" i="0" b="1">
                <a:solidFill>
                  <a:srgbClr val="460073"/>
                </a:solidFill>
                <a:latin typeface="Calibri"/>
              </a:rPr>
              <a:t>Small samples above Level 4.</a:t>
            </a:r>
            <a:r>
              <a:rPr sz="1150" i="0" b="0">
                <a:solidFill>
                  <a:srgbClr val="22222A"/>
                </a:solidFill>
                <a:latin typeface="Calibri"/>
              </a:rPr>
              <a:t> Nothing above L4 is reliable: 279 people at L4, 103 above it.</a:t>
            </a:r>
          </a:p>
        </p:txBody>
      </p:sp>
      <p:sp>
        <p:nvSpPr>
          <p:cNvPr id="9" name="Rectangle 8"/>
          <p:cNvSpPr/>
          <p:nvPr/>
        </p:nvSpPr>
        <p:spPr>
          <a:xfrm>
            <a:off x="566928" y="5532120"/>
            <a:ext cx="50292" cy="56692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On a strict voluntary reading you have already met the FY2026 sub-9.5% target. That's worth resolving before the next board pack.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CLOSE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Start with the free one.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15</a:t>
            </a:r>
          </a:p>
        </p:txBody>
      </p:sp>
      <p:sp>
        <p:nvSpPr>
          <p:cNvPr id="6" name="Rectangle 5"/>
          <p:cNvSpPr/>
          <p:nvPr/>
        </p:nvSpPr>
        <p:spPr>
          <a:xfrm>
            <a:off x="566928" y="1874519"/>
            <a:ext cx="3538728" cy="5486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A100FF"/>
                </a:solidFill>
                <a:latin typeface="Calibri"/>
              </a:rPr>
              <a:t>THIS QUARTER</a:t>
            </a:r>
          </a:p>
        </p:txBody>
      </p:sp>
      <p:sp>
        <p:nvSpPr>
          <p:cNvPr id="8" name="TextBox 7"/>
          <p:cNvSpPr txBox="1"/>
          <p:nvPr/>
        </p:nvSpPr>
        <p:spPr>
          <a:xfrm>
            <a:off x="566928"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Redefine regrettable.</a:t>
            </a:r>
          </a:p>
        </p:txBody>
      </p:sp>
      <p:sp>
        <p:nvSpPr>
          <p:cNvPr id="9" name="TextBox 8"/>
          <p:cNvSpPr txBox="1"/>
          <p:nvPr/>
        </p:nvSpPr>
        <p:spPr>
          <a:xfrm>
            <a:off x="566928"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Cost ~$0. It restates your baseline and stops you funding a budget line built on a blind spot.</a:t>
            </a:r>
          </a:p>
        </p:txBody>
      </p:sp>
      <p:sp>
        <p:nvSpPr>
          <p:cNvPr id="10" name="Rectangle 9"/>
          <p:cNvSpPr/>
          <p:nvPr/>
        </p:nvSpPr>
        <p:spPr>
          <a:xfrm>
            <a:off x="4325112" y="1874519"/>
            <a:ext cx="3538728" cy="54864"/>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FF6B6B"/>
                </a:solidFill>
                <a:latin typeface="Calibri"/>
              </a:rPr>
              <a:t>THIS HALF</a:t>
            </a:r>
          </a:p>
        </p:txBody>
      </p:sp>
      <p:sp>
        <p:nvSpPr>
          <p:cNvPr id="12" name="TextBox 11"/>
          <p:cNvSpPr txBox="1"/>
          <p:nvPr/>
        </p:nvSpPr>
        <p:spPr>
          <a:xfrm>
            <a:off x="4325112"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Finish Entity_B.</a:t>
            </a:r>
          </a:p>
        </p:txBody>
      </p:sp>
      <p:sp>
        <p:nvSpPr>
          <p:cNvPr id="13" name="TextBox 12"/>
          <p:cNvSpPr txBox="1"/>
          <p:nvPr/>
        </p:nvSpPr>
        <p:spPr>
          <a:xfrm>
            <a:off x="4325112"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Senior Manager layer first, then leadership visibility. $8.4M concentrated, inside a budget you have already guided.</a:t>
            </a:r>
          </a:p>
        </p:txBody>
      </p:sp>
      <p:sp>
        <p:nvSpPr>
          <p:cNvPr id="14" name="Rectangle 13"/>
          <p:cNvSpPr/>
          <p:nvPr/>
        </p:nvSpPr>
        <p:spPr>
          <a:xfrm>
            <a:off x="8083296" y="1874519"/>
            <a:ext cx="3538728"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3296"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00B7C3"/>
                </a:solidFill>
                <a:latin typeface="Calibri"/>
              </a:rPr>
              <a:t>ONGOING</a:t>
            </a:r>
          </a:p>
        </p:txBody>
      </p:sp>
      <p:sp>
        <p:nvSpPr>
          <p:cNvPr id="16" name="TextBox 15"/>
          <p:cNvSpPr txBox="1"/>
          <p:nvPr/>
        </p:nvSpPr>
        <p:spPr>
          <a:xfrm>
            <a:off x="8083296"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Baseline every acquired cohort from day one.</a:t>
            </a:r>
          </a:p>
        </p:txBody>
      </p:sp>
      <p:sp>
        <p:nvSpPr>
          <p:cNvPr id="17" name="TextBox 16"/>
          <p:cNvSpPr txBox="1"/>
          <p:nvPr/>
        </p:nvSpPr>
        <p:spPr>
          <a:xfrm>
            <a:off x="8083296"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Entity_C is healthy today. It does not have to become the next Entity_B.</a:t>
            </a:r>
          </a:p>
        </p:txBody>
      </p:sp>
      <p:sp>
        <p:nvSpPr>
          <p:cNvPr id="18" name="Rectangle 17"/>
          <p:cNvSpPr/>
          <p:nvPr/>
        </p:nvSpPr>
        <p:spPr>
          <a:xfrm>
            <a:off x="566928" y="4892040"/>
            <a:ext cx="11064240" cy="123444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5138928"/>
            <a:ext cx="10241280" cy="777240"/>
          </a:xfrm>
          <a:prstGeom prst="rect">
            <a:avLst/>
          </a:prstGeom>
          <a:noFill/>
        </p:spPr>
        <p:txBody>
          <a:bodyPr wrap="square" anchor="t" lIns="0" rIns="0" tIns="0" bIns="0">
            <a:spAutoFit/>
          </a:bodyPr>
          <a:lstStyle/>
          <a:p>
            <a:pPr algn="l">
              <a:lnSpc>
                <a:spcPct val="100000"/>
              </a:lnSpc>
              <a:spcAft>
                <a:spcPts val="500"/>
              </a:spcAft>
            </a:pPr>
            <a:r>
              <a:rPr sz="1500" i="0" b="1">
                <a:solidFill>
                  <a:srgbClr val="FFFFFF"/>
                </a:solidFill>
                <a:latin typeface="Calibri"/>
              </a:rPr>
              <a:t>You already have the money set aside.</a:t>
            </a:r>
          </a:p>
          <a:p>
            <a:pPr algn="l">
              <a:lnSpc>
                <a:spcPct val="116000"/>
              </a:lnSpc>
              <a:spcAft>
                <a:spcPts val="0"/>
              </a:spcAft>
            </a:pPr>
            <a:r>
              <a:rPr sz="1250" i="0" b="0">
                <a:solidFill>
                  <a:srgbClr val="D8C2EF"/>
                </a:solidFill>
                <a:latin typeface="Calibri"/>
              </a:rPr>
              <a:t>The Annual Report commits to a People Reinvention Programme three times. This is what we'd spend it on, and this is what we'd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310128"/>
            <a:ext cx="10424160" cy="914400"/>
          </a:xfrm>
          <a:prstGeom prst="rect">
            <a:avLst/>
          </a:prstGeom>
          <a:noFill/>
        </p:spPr>
        <p:txBody>
          <a:bodyPr wrap="square" anchor="t" lIns="0" rIns="0" tIns="0" bIns="0">
            <a:spAutoFit/>
          </a:bodyPr>
          <a:lstStyle/>
          <a:p>
            <a:pPr algn="l">
              <a:lnSpc>
                <a:spcPct val="100000"/>
              </a:lnSpc>
              <a:spcAft>
                <a:spcPts val="600"/>
              </a:spcAft>
            </a:pPr>
            <a:r>
              <a:rPr sz="4400" i="0" b="1">
                <a:solidFill>
                  <a:srgbClr val="FFFFFF"/>
                </a:solidFill>
                <a:latin typeface="Calibri"/>
              </a:rPr>
              <a:t>Appendix</a:t>
            </a:r>
          </a:p>
          <a:p>
            <a:pPr algn="l">
              <a:lnSpc>
                <a:spcPct val="100000"/>
              </a:lnSpc>
              <a:spcAft>
                <a:spcPts val="0"/>
              </a:spcAft>
            </a:pPr>
            <a:r>
              <a:rPr sz="1500" i="0" b="0">
                <a:solidFill>
                  <a:srgbClr val="C9A8EA"/>
                </a:solidFill>
                <a:latin typeface="Calibri"/>
              </a:rPr>
              <a:t>A1 to A14. Method, assumptions, every test, and where each number comes from.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Constants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constant below is published by Finance in the case brief §6. Nothing outside this table is used as a benchmark.</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a:t>
            </a:r>
          </a:p>
        </p:txBody>
      </p:sp>
      <p:graphicFrame>
        <p:nvGraphicFramePr>
          <p:cNvPr id="7" name="Table 6"/>
          <p:cNvGraphicFramePr>
            <a:graphicFrameLocks noGrp="1"/>
          </p:cNvGraphicFramePr>
          <p:nvPr/>
        </p:nvGraphicFramePr>
        <p:xfrm>
          <a:off x="566928" y="1691640"/>
          <a:ext cx="11064240" cy="2816352"/>
        </p:xfrm>
        <a:graphic>
          <a:graphicData uri="http://schemas.openxmlformats.org/drawingml/2006/table">
            <a:tbl>
              <a:tblPr firstRow="1" bandRow="1">
                <a:tableStyleId>{5C22544A-7EE6-4342-B048-85BDC9FD1C3A}</a:tableStyleId>
              </a:tblPr>
              <a:tblGrid>
                <a:gridCol w="3931920"/>
                <a:gridCol w="3291840"/>
                <a:gridCol w="3840480"/>
              </a:tblGrid>
              <a:tr h="402336">
                <a:tc>
                  <a:txBody>
                    <a:bodyPr wrap="square"/>
                    <a:lstStyle/>
                    <a:p>
                      <a:pPr algn="l"/>
                      <a:r>
                        <a:rPr sz="1150" b="1">
                          <a:solidFill>
                            <a:srgbClr val="FFFFFF"/>
                          </a:solidFill>
                          <a:latin typeface="Calibri"/>
                        </a:rPr>
                        <a:t>Constant</a:t>
                      </a:r>
                    </a:p>
                  </a:txBody>
                  <a:tcPr marL="91440" marR="73152" marT="27432" marB="27432" anchor="ctr">
                    <a:solidFill>
                      <a:srgbClr val="460073"/>
                    </a:solidFill>
                  </a:tcPr>
                </a:tc>
                <a:tc>
                  <a:txBody>
                    <a:bodyPr wrap="square"/>
                    <a:lstStyle/>
                    <a:p>
                      <a:pPr algn="ctr"/>
                      <a:r>
                        <a:rPr sz="1150" b="1">
                          <a:solidFill>
                            <a:srgbClr val="FFFFFF"/>
                          </a:solidFill>
                          <a:latin typeface="Calibri"/>
                        </a:rPr>
                        <a:t>Value</a:t>
                      </a:r>
                    </a:p>
                  </a:txBody>
                  <a:tcPr marL="91440" marR="73152" marT="27432" marB="27432" anchor="ctr">
                    <a:solidFill>
                      <a:srgbClr val="460073"/>
                    </a:solidFill>
                  </a:tcPr>
                </a:tc>
                <a:tc>
                  <a:txBody>
                    <a:bodyPr wrap="square"/>
                    <a:lstStyle/>
                    <a:p>
                      <a:pPr algn="ctr"/>
                      <a:r>
                        <a:rPr sz="1150" b="1">
                          <a:solidFill>
                            <a:srgbClr val="FFFFFF"/>
                          </a:solidFill>
                          <a:latin typeface="Calibri"/>
                        </a:rPr>
                        <a:t>Used for</a:t>
                      </a:r>
                    </a:p>
                  </a:txBody>
                  <a:tcPr marL="91440" marR="73152" marT="27432" marB="27432" anchor="ctr">
                    <a:solidFill>
                      <a:srgbClr val="460073"/>
                    </a:solidFill>
                  </a:tcPr>
                </a:tc>
              </a:tr>
              <a:tr h="402336">
                <a:tc>
                  <a:txBody>
                    <a:bodyPr wrap="square"/>
                    <a:lstStyle/>
                    <a:p>
                      <a:pPr algn="l"/>
                      <a:r>
                        <a:rPr sz="1200" b="0">
                          <a:solidFill>
                            <a:srgbClr val="22222A"/>
                          </a:solidFill>
                          <a:latin typeface="Calibri"/>
                        </a:rPr>
                        <a:t>Replacement cost multiplier</a:t>
                      </a:r>
                    </a:p>
                  </a:txBody>
                  <a:tcPr marL="91440" marR="73152" marT="27432" marB="27432" anchor="ctr">
                    <a:solidFill>
                      <a:srgbClr val="FFFFFF"/>
                    </a:solidFill>
                  </a:tcPr>
                </a:tc>
                <a:tc>
                  <a:txBody>
                    <a:bodyPr wrap="square"/>
                    <a:lstStyle/>
                    <a:p>
                      <a:pPr algn="ctr"/>
                      <a:r>
                        <a:rPr sz="1200" b="0">
                          <a:solidFill>
                            <a:srgbClr val="22222A"/>
                          </a:solidFill>
                          <a:latin typeface="Calibri"/>
                        </a:rPr>
                        <a:t>1.50 × annual base salary</a:t>
                      </a:r>
                    </a:p>
                  </a:txBody>
                  <a:tcPr marL="91440" marR="73152" marT="27432" marB="27432" anchor="ctr">
                    <a:solidFill>
                      <a:srgbClr val="FFFFFF"/>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Backfill rate</a:t>
                      </a:r>
                    </a:p>
                  </a:txBody>
                  <a:tcPr marL="91440" marR="73152" marT="27432" marB="27432" anchor="ctr">
                    <a:solidFill>
                      <a:srgbClr val="F8F8FB"/>
                    </a:solidFill>
                  </a:tcPr>
                </a:tc>
                <a:tc>
                  <a:txBody>
                    <a:bodyPr wrap="square"/>
                    <a:lstStyle/>
                    <a:p>
                      <a:pPr algn="ctr"/>
                      <a:r>
                        <a:rPr sz="1200" b="0">
                          <a:solidFill>
                            <a:srgbClr val="22222A"/>
                          </a:solidFill>
                          <a:latin typeface="Calibri"/>
                        </a:rPr>
                        <a:t>85% of vacated roles</a:t>
                      </a:r>
                    </a:p>
                  </a:txBody>
                  <a:tcPr marL="91440" marR="73152" marT="27432" marB="27432" anchor="ctr">
                    <a:solidFill>
                      <a:srgbClr val="F8F8FB"/>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Superannuation on-cost</a:t>
                      </a:r>
                    </a:p>
                  </a:txBody>
                  <a:tcPr marL="91440" marR="73152" marT="27432" marB="27432" anchor="ctr">
                    <a:solidFill>
                      <a:srgbClr val="FFFFFF"/>
                    </a:solidFill>
                  </a:tcPr>
                </a:tc>
                <a:tc>
                  <a:txBody>
                    <a:bodyPr wrap="square"/>
                    <a:lstStyle/>
                    <a:p>
                      <a:pPr algn="ctr"/>
                      <a:r>
                        <a:rPr sz="1200" b="0">
                          <a:solidFill>
                            <a:srgbClr val="22222A"/>
                          </a:solidFill>
                          <a:latin typeface="Calibri"/>
                        </a:rPr>
                        <a:t>12.0% of base</a:t>
                      </a:r>
                    </a:p>
                  </a:txBody>
                  <a:tcPr marL="91440" marR="73152" marT="27432" marB="27432" anchor="ctr">
                    <a:solidFill>
                      <a:srgbClr val="FFFFFF"/>
                    </a:solidFill>
                  </a:tcPr>
                </a:tc>
                <a:tc>
                  <a:txBody>
                    <a:bodyPr wrap="square"/>
                    <a:lstStyle/>
                    <a:p>
                      <a:pPr algn="ctr"/>
                      <a:r>
                        <a:rPr sz="1200" b="0">
                          <a:solidFill>
                            <a:srgbClr val="22222A"/>
                          </a:solidFill>
                          <a:latin typeface="Calibri"/>
                        </a:rPr>
                        <a:t>all salary figures grossed up</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Disengagement productivity loss</a:t>
                      </a:r>
                    </a:p>
                  </a:txBody>
                  <a:tcPr marL="91440" marR="73152" marT="27432" marB="27432" anchor="ctr">
                    <a:solidFill>
                      <a:srgbClr val="F8F8FB"/>
                    </a:solidFill>
                  </a:tcPr>
                </a:tc>
                <a:tc>
                  <a:txBody>
                    <a:bodyPr wrap="square"/>
                    <a:lstStyle/>
                    <a:p>
                      <a:pPr algn="ctr"/>
                      <a:r>
                        <a:rPr sz="1200" b="0">
                          <a:solidFill>
                            <a:srgbClr val="22222A"/>
                          </a:solidFill>
                          <a:latin typeface="Calibri"/>
                        </a:rPr>
                        <a:t>15% of base salary/yr</a:t>
                      </a:r>
                    </a:p>
                  </a:txBody>
                  <a:tcPr marL="91440" marR="73152" marT="27432" marB="27432" anchor="ctr">
                    <a:solidFill>
                      <a:srgbClr val="F8F8FB"/>
                    </a:solidFill>
                  </a:tcPr>
                </a:tc>
                <a:tc>
                  <a:txBody>
                    <a:bodyPr wrap="square"/>
                    <a:lstStyle/>
                    <a:p>
                      <a:pPr algn="ctr"/>
                      <a:r>
                        <a:rPr sz="1200" b="0">
                          <a:solidFill>
                            <a:srgbClr val="22222A"/>
                          </a:solidFill>
                          <a:latin typeface="Calibri"/>
                        </a:rPr>
                        <a:t>disengagement bucket</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Agency fee rate</a:t>
                      </a:r>
                    </a:p>
                  </a:txBody>
                  <a:tcPr marL="91440" marR="73152" marT="27432" marB="27432" anchor="ctr">
                    <a:solidFill>
                      <a:srgbClr val="FFFFFF"/>
                    </a:solidFill>
                  </a:tcPr>
                </a:tc>
                <a:tc>
                  <a:txBody>
                    <a:bodyPr wrap="square"/>
                    <a:lstStyle/>
                    <a:p>
                      <a:pPr algn="ctr"/>
                      <a:r>
                        <a:rPr sz="1200" b="0">
                          <a:solidFill>
                            <a:srgbClr val="22222A"/>
                          </a:solidFill>
                          <a:latin typeface="Calibri"/>
                        </a:rPr>
                        <a:t>18% of first-year base</a:t>
                      </a:r>
                    </a:p>
                  </a:txBody>
                  <a:tcPr marL="91440" marR="73152" marT="27432" marB="27432" anchor="ctr">
                    <a:solidFill>
                      <a:srgbClr val="FFFFFF"/>
                    </a:solidFill>
                  </a:tcPr>
                </a:tc>
                <a:tc>
                  <a:txBody>
                    <a:bodyPr wrap="square"/>
                    <a:lstStyle/>
                    <a:p>
                      <a:pPr algn="ctr"/>
                      <a:r>
                        <a:rPr sz="1200" b="0">
                          <a:solidFill>
                            <a:srgbClr val="22222A"/>
                          </a:solidFill>
                          <a:latin typeface="Calibri"/>
                        </a:rPr>
                        <a:t>hiring bucket</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Direct hire benchmark</a:t>
                      </a:r>
                    </a:p>
                  </a:txBody>
                  <a:tcPr marL="91440" marR="73152" marT="27432" marB="27432" anchor="ctr">
                    <a:solidFill>
                      <a:srgbClr val="F8F8FB"/>
                    </a:solidFill>
                  </a:tcPr>
                </a:tc>
                <a:tc>
                  <a:txBody>
                    <a:bodyPr wrap="square"/>
                    <a:lstStyle/>
                    <a:p>
                      <a:pPr algn="ctr"/>
                      <a:r>
                        <a:rPr sz="1200" b="0">
                          <a:solidFill>
                            <a:srgbClr val="22222A"/>
                          </a:solidFill>
                          <a:latin typeface="Calibri"/>
                        </a:rPr>
                        <a:t>$5,500 fully loaded</a:t>
                      </a:r>
                    </a:p>
                  </a:txBody>
                  <a:tcPr marL="91440" marR="73152" marT="27432" marB="27432" anchor="ctr">
                    <a:solidFill>
                      <a:srgbClr val="F8F8FB"/>
                    </a:solidFill>
                  </a:tcPr>
                </a:tc>
                <a:tc>
                  <a:txBody>
                    <a:bodyPr wrap="square"/>
                    <a:lstStyle/>
                    <a:p>
                      <a:pPr algn="ctr"/>
                      <a:r>
                        <a:rPr sz="1200" b="0">
                          <a:solidFill>
                            <a:srgbClr val="22222A"/>
                          </a:solidFill>
                          <a:latin typeface="Calibri"/>
                        </a:rPr>
                        <a:t>hiring bucket</a:t>
                      </a:r>
                    </a:p>
                  </a:txBody>
                  <a:tcPr marL="91440" marR="73152" marT="27432" marB="27432" anchor="ctr">
                    <a:solidFill>
                      <a:srgbClr val="F8F8FB"/>
                    </a:solidFill>
                  </a:tcPr>
                </a:tc>
              </a:tr>
            </a:tbl>
          </a:graphicData>
        </a:graphic>
      </p:graphicFrame>
      <p:sp>
        <p:nvSpPr>
          <p:cNvPr id="8" name="Rectangle 7"/>
          <p:cNvSpPr/>
          <p:nvPr/>
        </p:nvSpPr>
        <p:spPr>
          <a:xfrm>
            <a:off x="566928" y="461772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4617720"/>
            <a:ext cx="10771632" cy="105156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The only numbers we introduce beyond this table are the 20% and 40% intervention-effectiveness rates on slide 11. Those are labelled as assumptions on the slide itself and shown at both ends, so no conclusion depends on the optimistic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Population decisions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asks explicitly that these be documented. Each choice is stated with the reason it was made.</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A2</a:t>
            </a:r>
          </a:p>
        </p:txBody>
      </p:sp>
      <p:graphicFrame>
        <p:nvGraphicFramePr>
          <p:cNvPr id="7" name="Table 6"/>
          <p:cNvGraphicFramePr>
            <a:graphicFrameLocks noGrp="1"/>
          </p:cNvGraphicFramePr>
          <p:nvPr/>
        </p:nvGraphicFramePr>
        <p:xfrm>
          <a:off x="566928" y="1645920"/>
          <a:ext cx="11064240" cy="3803904"/>
        </p:xfrm>
        <a:graphic>
          <a:graphicData uri="http://schemas.openxmlformats.org/drawingml/2006/table">
            <a:tbl>
              <a:tblPr firstRow="1" bandRow="1">
                <a:tableStyleId>{5C22544A-7EE6-4342-B048-85BDC9FD1C3A}</a:tableStyleId>
              </a:tblPr>
              <a:tblGrid>
                <a:gridCol w="2651760"/>
                <a:gridCol w="3566160"/>
                <a:gridCol w="4846320"/>
              </a:tblGrid>
              <a:tr h="475488">
                <a:tc>
                  <a:txBody>
                    <a:bodyPr wrap="square"/>
                    <a:lstStyle/>
                    <a:p>
                      <a:pPr algn="l"/>
                      <a:r>
                        <a:rPr sz="1150" b="1">
                          <a:solidFill>
                            <a:srgbClr val="FFFFFF"/>
                          </a:solidFill>
                          <a:latin typeface="Calibri"/>
                        </a:rPr>
                        <a:t>Decision</a:t>
                      </a:r>
                    </a:p>
                  </a:txBody>
                  <a:tcPr marL="91440" marR="73152" marT="27432" marB="27432" anchor="ctr">
                    <a:solidFill>
                      <a:srgbClr val="460073"/>
                    </a:solidFill>
                  </a:tcPr>
                </a:tc>
                <a:tc>
                  <a:txBody>
                    <a:bodyPr wrap="square"/>
                    <a:lstStyle/>
                    <a:p>
                      <a:pPr algn="l"/>
                      <a:r>
                        <a:rPr sz="1150" b="1">
                          <a:solidFill>
                            <a:srgbClr val="FFFFFF"/>
                          </a:solidFill>
                          <a:latin typeface="Calibri"/>
                        </a:rPr>
                        <a:t>Choice</a:t>
                      </a:r>
                    </a:p>
                  </a:txBody>
                  <a:tcPr marL="91440" marR="73152" marT="27432" marB="27432" anchor="ctr">
                    <a:solidFill>
                      <a:srgbClr val="460073"/>
                    </a:solidFill>
                  </a:tcPr>
                </a:tc>
                <a:tc>
                  <a:txBody>
                    <a:bodyPr wrap="square"/>
                    <a:lstStyle/>
                    <a:p>
                      <a:pPr algn="l"/>
                      <a:r>
                        <a:rPr sz="1150" b="1">
                          <a:solidFill>
                            <a:srgbClr val="FFFFFF"/>
                          </a:solidFill>
                          <a:latin typeface="Calibri"/>
                        </a:rPr>
                        <a:t>Why</a:t>
                      </a:r>
                    </a:p>
                  </a:txBody>
                  <a:tcPr marL="91440" marR="73152" marT="27432" marB="27432" anchor="ctr">
                    <a:solidFill>
                      <a:srgbClr val="460073"/>
                    </a:solidFill>
                  </a:tcPr>
                </a:tc>
              </a:tr>
              <a:tr h="475488">
                <a:tc>
                  <a:txBody>
                    <a:bodyPr wrap="square"/>
                    <a:lstStyle/>
                    <a:p>
                      <a:pPr algn="l"/>
                      <a:r>
                        <a:rPr sz="1100" b="0">
                          <a:solidFill>
                            <a:srgbClr val="22222A"/>
                          </a:solidFill>
                          <a:latin typeface="Calibri"/>
                        </a:rPr>
                        <a:t>Observation window</a:t>
                      </a:r>
                    </a:p>
                  </a:txBody>
                  <a:tcPr marL="91440" marR="73152" marT="27432" marB="27432" anchor="ctr">
                    <a:solidFill>
                      <a:srgbClr val="FFFFFF"/>
                    </a:solidFill>
                  </a:tcPr>
                </a:tc>
                <a:tc>
                  <a:txBody>
                    <a:bodyPr wrap="square"/>
                    <a:lstStyle/>
                    <a:p>
                      <a:pPr algn="l"/>
                      <a:r>
                        <a:rPr sz="1100" b="0">
                          <a:solidFill>
                            <a:srgbClr val="22222A"/>
                          </a:solidFill>
                          <a:latin typeface="Calibri"/>
                        </a:rPr>
                        <a:t>1 Jan 2024 – 31 Dec 2025 = 2.0 years</a:t>
                      </a:r>
                    </a:p>
                  </a:txBody>
                  <a:tcPr marL="91440" marR="73152" marT="27432" marB="27432" anchor="ctr">
                    <a:solidFill>
                      <a:srgbClr val="FFFFFF"/>
                    </a:solidFill>
                  </a:tcPr>
                </a:tc>
                <a:tc>
                  <a:txBody>
                    <a:bodyPr wrap="square"/>
                    <a:lstStyle/>
                    <a:p>
                      <a:pPr algn="l"/>
                      <a:r>
                        <a:rPr sz="1100" b="0">
                          <a:solidFill>
                            <a:srgbClr val="22222A"/>
                          </a:solidFill>
                          <a:latin typeface="Calibri"/>
                        </a:rPr>
                        <a:t>Stated in brief §4. Every rate divided by 2 to annualise.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Attrition denominator</a:t>
                      </a:r>
                    </a:p>
                  </a:txBody>
                  <a:tcPr marL="91440" marR="73152" marT="27432" marB="27432" anchor="ctr">
                    <a:solidFill>
                      <a:srgbClr val="F8F8FB"/>
                    </a:solidFill>
                  </a:tcPr>
                </a:tc>
                <a:tc>
                  <a:txBody>
                    <a:bodyPr wrap="square"/>
                    <a:lstStyle/>
                    <a:p>
                      <a:pPr algn="l"/>
                      <a:r>
                        <a:rPr sz="1100" b="0">
                          <a:solidFill>
                            <a:srgbClr val="22222A"/>
                          </a:solidFill>
                          <a:latin typeface="Calibri"/>
                        </a:rPr>
                        <a:t>Active headcount (12,003)</a:t>
                      </a:r>
                    </a:p>
                  </a:txBody>
                  <a:tcPr marL="91440" marR="73152" marT="27432" marB="27432" anchor="ctr">
                    <a:solidFill>
                      <a:srgbClr val="F8F8FB"/>
                    </a:solidFill>
                  </a:tcPr>
                </a:tc>
                <a:tc>
                  <a:txBody>
                    <a:bodyPr wrap="square"/>
                    <a:lstStyle/>
                    <a:p>
                      <a:pPr algn="l"/>
                      <a:r>
                        <a:rPr sz="1100" b="0">
                          <a:solidFill>
                            <a:srgbClr val="22222A"/>
                          </a:solidFill>
                          <a:latin typeface="Calibri"/>
                        </a:rPr>
                        <a:t>A rate quoted against a roster that still contains leavers understates 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Which exits count as cost</a:t>
                      </a:r>
                    </a:p>
                  </a:txBody>
                  <a:tcPr marL="91440" marR="73152" marT="27432" marB="27432" anchor="ctr">
                    <a:solidFill>
                      <a:srgbClr val="FFFFFF"/>
                    </a:solidFill>
                  </a:tcPr>
                </a:tc>
                <a:tc>
                  <a:txBody>
                    <a:bodyPr wrap="square"/>
                    <a:lstStyle/>
                    <a:p>
                      <a:pPr algn="l"/>
                      <a:r>
                        <a:rPr sz="1100" b="0">
                          <a:solidFill>
                            <a:srgbClr val="22222A"/>
                          </a:solidFill>
                          <a:latin typeface="Calibri"/>
                        </a:rPr>
                        <a:t>Voluntary only (1,133 of 1,400)</a:t>
                      </a:r>
                    </a:p>
                  </a:txBody>
                  <a:tcPr marL="91440" marR="73152" marT="27432" marB="27432" anchor="ctr">
                    <a:solidFill>
                      <a:srgbClr val="FFFFFF"/>
                    </a:solidFill>
                  </a:tcPr>
                </a:tc>
                <a:tc>
                  <a:txBody>
                    <a:bodyPr wrap="square"/>
                    <a:lstStyle/>
                    <a:p>
                      <a:pPr algn="l"/>
                      <a:r>
                        <a:rPr sz="1100" b="0">
                          <a:solidFill>
                            <a:srgbClr val="22222A"/>
                          </a:solidFill>
                          <a:latin typeface="Calibri"/>
                        </a:rPr>
                        <a:t>An involuntary exit is a decision the company made, not a loss it suffered.</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“High value”</a:t>
                      </a:r>
                    </a:p>
                  </a:txBody>
                  <a:tcPr marL="91440" marR="73152" marT="27432" marB="27432" anchor="ctr">
                    <a:solidFill>
                      <a:srgbClr val="F8F8FB"/>
                    </a:solidFill>
                  </a:tcPr>
                </a:tc>
                <a:tc>
                  <a:txBody>
                    <a:bodyPr wrap="square"/>
                    <a:lstStyle/>
                    <a:p>
                      <a:pPr algn="l"/>
                      <a:r>
                        <a:rPr sz="1100" b="0">
                          <a:solidFill>
                            <a:srgbClr val="22222A"/>
                          </a:solidFill>
                          <a:latin typeface="Calibri"/>
                        </a:rPr>
                        <a:t>Band at exit ∈ {Outstanding, High Performer}</a:t>
                      </a:r>
                    </a:p>
                  </a:txBody>
                  <a:tcPr marL="91440" marR="73152" marT="27432" marB="27432" anchor="ctr">
                    <a:solidFill>
                      <a:srgbClr val="F8F8FB"/>
                    </a:solidFill>
                  </a:tcPr>
                </a:tc>
                <a:tc>
                  <a:txBody>
                    <a:bodyPr wrap="square"/>
                    <a:lstStyle/>
                    <a:p>
                      <a:pPr algn="l"/>
                      <a:r>
                        <a:rPr sz="1100" b="0">
                          <a:solidFill>
                            <a:srgbClr val="22222A"/>
                          </a:solidFill>
                          <a:latin typeface="Calibri"/>
                        </a:rPr>
                        <a:t>The only value proxy available at the point of exit.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Disengaged</a:t>
                      </a:r>
                    </a:p>
                  </a:txBody>
                  <a:tcPr marL="91440" marR="73152" marT="27432" marB="27432" anchor="ctr">
                    <a:solidFill>
                      <a:srgbClr val="FFFFFF"/>
                    </a:solidFill>
                  </a:tcPr>
                </a:tc>
                <a:tc>
                  <a:txBody>
                    <a:bodyPr wrap="square"/>
                    <a:lstStyle/>
                    <a:p>
                      <a:pPr algn="l"/>
                      <a:r>
                        <a:rPr sz="1100" b="0">
                          <a:solidFill>
                            <a:srgbClr val="22222A"/>
                          </a:solidFill>
                          <a:latin typeface="Calibri"/>
                        </a:rPr>
                        <a:t>Index &lt; 2.5 over the 2 most recent responded waves</a:t>
                      </a:r>
                    </a:p>
                  </a:txBody>
                  <a:tcPr marL="91440" marR="73152" marT="27432" marB="27432" anchor="ctr">
                    <a:solidFill>
                      <a:srgbClr val="FFFFFF"/>
                    </a:solidFill>
                  </a:tcPr>
                </a:tc>
                <a:tc>
                  <a:txBody>
                    <a:bodyPr wrap="square"/>
                    <a:lstStyle/>
                    <a:p>
                      <a:pPr algn="l"/>
                      <a:r>
                        <a:rPr sz="1100" b="0">
                          <a:solidFill>
                            <a:srgbClr val="22222A"/>
                          </a:solidFill>
                          <a:latin typeface="Calibri"/>
                        </a:rPr>
                        <a:t>“Persistently”, per the brief. Single-wave dips are noise.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Non-responders</a:t>
                      </a:r>
                    </a:p>
                  </a:txBody>
                  <a:tcPr marL="91440" marR="73152" marT="27432" marB="27432" anchor="ctr">
                    <a:solidFill>
                      <a:srgbClr val="F8F8FB"/>
                    </a:solidFill>
                  </a:tcPr>
                </a:tc>
                <a:tc>
                  <a:txBody>
                    <a:bodyPr wrap="square"/>
                    <a:lstStyle/>
                    <a:p>
                      <a:pPr algn="l"/>
                      <a:r>
                        <a:rPr sz="1100" b="0">
                          <a:solidFill>
                            <a:srgbClr val="22222A"/>
                          </a:solidFill>
                          <a:latin typeface="Calibri"/>
                        </a:rPr>
                        <a:t>Retained, not dropped</a:t>
                      </a:r>
                    </a:p>
                  </a:txBody>
                  <a:tcPr marL="91440" marR="73152" marT="27432" marB="27432" anchor="ctr">
                    <a:solidFill>
                      <a:srgbClr val="F8F8FB"/>
                    </a:solidFill>
                  </a:tcPr>
                </a:tc>
                <a:tc>
                  <a:txBody>
                    <a:bodyPr wrap="square"/>
                    <a:lstStyle/>
                    <a:p>
                      <a:pPr algn="l"/>
                      <a:r>
                        <a:rPr sz="1100" b="0">
                          <a:solidFill>
                            <a:srgbClr val="22222A"/>
                          </a:solidFill>
                          <a:latin typeface="Calibri"/>
                        </a:rPr>
                        <a:t>Brief §4 warns these rows are intentional. They carry the silence signal.</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Early-tenure population</a:t>
                      </a:r>
                    </a:p>
                  </a:txBody>
                  <a:tcPr marL="91440" marR="73152" marT="27432" marB="27432" anchor="ctr">
                    <a:solidFill>
                      <a:srgbClr val="FFFFFF"/>
                    </a:solidFill>
                  </a:tcPr>
                </a:tc>
                <a:tc>
                  <a:txBody>
                    <a:bodyPr wrap="square"/>
                    <a:lstStyle/>
                    <a:p>
                      <a:pPr algn="l"/>
                      <a:r>
                        <a:rPr sz="1100" b="0">
                          <a:solidFill>
                            <a:srgbClr val="22222A"/>
                          </a:solidFill>
                          <a:latin typeface="Calibri"/>
                        </a:rPr>
                        <a:t>Hired on/after 1 Jan 2024 only</a:t>
                      </a:r>
                    </a:p>
                  </a:txBody>
                  <a:tcPr marL="91440" marR="73152" marT="27432" marB="27432" anchor="ctr">
                    <a:solidFill>
                      <a:srgbClr val="FFFFFF"/>
                    </a:solidFill>
                  </a:tcPr>
                </a:tc>
                <a:tc>
                  <a:txBody>
                    <a:bodyPr wrap="square"/>
                    <a:lstStyle/>
                    <a:p>
                      <a:pPr algn="l"/>
                      <a:r>
                        <a:rPr sz="1100" b="0">
                          <a:solidFill>
                            <a:srgbClr val="22222A"/>
                          </a:solidFill>
                          <a:latin typeface="Calibri"/>
                        </a:rPr>
                        <a:t>Removes the left-truncation bias documented in A6 §1.1.</a:t>
                      </a:r>
                    </a:p>
                  </a:txBody>
                  <a:tcPr marL="91440" marR="73152"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Cost formulas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Three formulas produce every dollar figure in the deck. All are the brief's own, applied to the populations defined in A2.</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A3</a:t>
            </a:r>
          </a:p>
        </p:txBody>
      </p:sp>
      <p:sp>
        <p:nvSpPr>
          <p:cNvPr id="7" name="Rectangle 6"/>
          <p:cNvSpPr/>
          <p:nvPr/>
        </p:nvSpPr>
        <p:spPr>
          <a:xfrm>
            <a:off x="566928" y="1691640"/>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91640"/>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Replacement cost</a:t>
            </a:r>
          </a:p>
        </p:txBody>
      </p:sp>
      <p:sp>
        <p:nvSpPr>
          <p:cNvPr id="9" name="TextBox 8"/>
          <p:cNvSpPr txBox="1"/>
          <p:nvPr/>
        </p:nvSpPr>
        <p:spPr>
          <a:xfrm>
            <a:off x="795528" y="2002536"/>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1.50 × 0.85 × Σ(salary_at_exit × 1.12) ÷ 2.0</a:t>
            </a:r>
          </a:p>
        </p:txBody>
      </p:sp>
      <p:sp>
        <p:nvSpPr>
          <p:cNvPr id="10" name="TextBox 9"/>
          <p:cNvSpPr txBox="1"/>
          <p:nvPr/>
        </p:nvSpPr>
        <p:spPr>
          <a:xfrm>
            <a:off x="795528" y="2331720"/>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voluntary exits rated Outstanding or High Performer. Gives $45.1M/yr.</a:t>
            </a:r>
          </a:p>
        </p:txBody>
      </p:sp>
      <p:sp>
        <p:nvSpPr>
          <p:cNvPr id="11" name="Rectangle 10"/>
          <p:cNvSpPr/>
          <p:nvPr/>
        </p:nvSpPr>
        <p:spPr>
          <a:xfrm>
            <a:off x="566928" y="2898648"/>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2898648"/>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Disengagement</a:t>
            </a:r>
          </a:p>
        </p:txBody>
      </p:sp>
      <p:sp>
        <p:nvSpPr>
          <p:cNvPr id="13" name="TextBox 12"/>
          <p:cNvSpPr txBox="1"/>
          <p:nvPr/>
        </p:nvSpPr>
        <p:spPr>
          <a:xfrm>
            <a:off x="795528" y="3209544"/>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Σ(salary_active × 1.12) × 0.15</a:t>
            </a:r>
          </a:p>
        </p:txBody>
      </p:sp>
      <p:sp>
        <p:nvSpPr>
          <p:cNvPr id="14" name="TextBox 13"/>
          <p:cNvSpPr txBox="1"/>
          <p:nvPr/>
        </p:nvSpPr>
        <p:spPr>
          <a:xfrm>
            <a:off x="795528" y="3538728"/>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813 active staff whose index is below 2.5. Gives $17.8M/yr.</a:t>
            </a:r>
          </a:p>
        </p:txBody>
      </p:sp>
      <p:sp>
        <p:nvSpPr>
          <p:cNvPr id="15" name="Rectangle 14"/>
          <p:cNvSpPr/>
          <p:nvPr/>
        </p:nvSpPr>
        <p:spPr>
          <a:xfrm>
            <a:off x="566928" y="4105656"/>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105656"/>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Agency premium</a:t>
            </a:r>
          </a:p>
        </p:txBody>
      </p:sp>
      <p:sp>
        <p:nvSpPr>
          <p:cNvPr id="17" name="TextBox 16"/>
          <p:cNvSpPr txBox="1"/>
          <p:nvPr/>
        </p:nvSpPr>
        <p:spPr>
          <a:xfrm>
            <a:off x="795528" y="4416552"/>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 max(salary × 0.18 − 5,500, 0) ÷ 2.0</a:t>
            </a:r>
          </a:p>
        </p:txBody>
      </p:sp>
      <p:sp>
        <p:nvSpPr>
          <p:cNvPr id="18" name="TextBox 17"/>
          <p:cNvSpPr txBox="1"/>
          <p:nvPr/>
        </p:nvSpPr>
        <p:spPr>
          <a:xfrm>
            <a:off x="795528" y="4745736"/>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274 agency hires made inside the window. Gives $2.3M/yr.</a:t>
            </a:r>
          </a:p>
        </p:txBody>
      </p:sp>
      <p:sp>
        <p:nvSpPr>
          <p:cNvPr id="19" name="Rectangle 18"/>
          <p:cNvSpPr/>
          <p:nvPr/>
        </p:nvSpPr>
        <p:spPr>
          <a:xfrm>
            <a:off x="566928" y="5486400"/>
            <a:ext cx="50292" cy="68580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86400"/>
            <a:ext cx="10771632" cy="6858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early-tenure lever ($7.9M) uses the replacement-cost formula applied to the excess exits over a 6.4% NovaCorp-Origin new-joiner baseline, not to all early exits. Method in A7.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Fairness method and results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Four-fifths (80%) rule, the standard EEOC adverse-impact screen: a group's rate divided by the highest group's rate. Below 0.80 warrants investigation.</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All figures reproduce from ethics_audit.py. Groups below n = 20 (flag test) and n = 50 (silence test) are suppressed rather than reported.</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A4</a:t>
            </a:r>
          </a:p>
        </p:txBody>
      </p:sp>
      <p:graphicFrame>
        <p:nvGraphicFramePr>
          <p:cNvPr id="8" name="Table 7"/>
          <p:cNvGraphicFramePr>
            <a:graphicFrameLocks noGrp="1"/>
          </p:cNvGraphicFramePr>
          <p:nvPr/>
        </p:nvGraphicFramePr>
        <p:xfrm>
          <a:off x="566928" y="1755648"/>
          <a:ext cx="11064240" cy="2377440"/>
        </p:xfrm>
        <a:graphic>
          <a:graphicData uri="http://schemas.openxmlformats.org/drawingml/2006/table">
            <a:tbl>
              <a:tblPr firstRow="1" bandRow="1">
                <a:tableStyleId>{5C22544A-7EE6-4342-B048-85BDC9FD1C3A}</a:tableStyleId>
              </a:tblPr>
              <a:tblGrid>
                <a:gridCol w="2286000"/>
                <a:gridCol w="2651760"/>
                <a:gridCol w="1188720"/>
                <a:gridCol w="3474720"/>
                <a:gridCol w="1463040"/>
              </a:tblGrid>
              <a:tr h="475488">
                <a:tc>
                  <a:txBody>
                    <a:bodyPr wrap="square"/>
                    <a:lstStyle/>
                    <a:p>
                      <a:pPr algn="l"/>
                      <a:r>
                        <a:rPr sz="1050" b="1">
                          <a:solidFill>
                            <a:srgbClr val="FFFFFF"/>
                          </a:solidFill>
                          <a:latin typeface="Calibri"/>
                        </a:rPr>
                        <a:t>Flag tested</a:t>
                      </a:r>
                    </a:p>
                  </a:txBody>
                  <a:tcPr marL="91440" marR="73152" marT="27432" marB="27432" anchor="ctr">
                    <a:solidFill>
                      <a:srgbClr val="460073"/>
                    </a:solidFill>
                  </a:tcPr>
                </a:tc>
                <a:tc>
                  <a:txBody>
                    <a:bodyPr wrap="square"/>
                    <a:lstStyle/>
                    <a:p>
                      <a:pPr algn="ctr"/>
                      <a:r>
                        <a:rPr sz="1050" b="1">
                          <a:solidFill>
                            <a:srgbClr val="FFFFFF"/>
                          </a:solidFill>
                          <a:latin typeface="Calibri"/>
                        </a:rPr>
                        <a:t>Dimension</a:t>
                      </a:r>
                    </a:p>
                  </a:txBody>
                  <a:tcPr marL="91440" marR="73152" marT="27432" marB="27432" anchor="ctr">
                    <a:solidFill>
                      <a:srgbClr val="460073"/>
                    </a:solidFill>
                  </a:tcPr>
                </a:tc>
                <a:tc>
                  <a:txBody>
                    <a:bodyPr wrap="square"/>
                    <a:lstStyle/>
                    <a:p>
                      <a:pPr algn="ctr"/>
                      <a:r>
                        <a:rPr sz="1050" b="1">
                          <a:solidFill>
                            <a:srgbClr val="FFFFFF"/>
                          </a:solidFill>
                          <a:latin typeface="Calibri"/>
                        </a:rPr>
                        <a:t>Worst ratio</a:t>
                      </a:r>
                    </a:p>
                  </a:txBody>
                  <a:tcPr marL="91440" marR="73152" marT="27432" marB="27432" anchor="ctr">
                    <a:solidFill>
                      <a:srgbClr val="460073"/>
                    </a:solidFill>
                  </a:tcPr>
                </a:tc>
                <a:tc>
                  <a:txBody>
                    <a:bodyPr wrap="square"/>
                    <a:lstStyle/>
                    <a:p>
                      <a:pPr algn="l"/>
                      <a:r>
                        <a:rPr sz="1050" b="1">
                          <a:solidFill>
                            <a:srgbClr val="FFFFFF"/>
                          </a:solidFill>
                          <a:latin typeface="Calibri"/>
                        </a:rPr>
                        <a:t>Detail</a:t>
                      </a:r>
                    </a:p>
                  </a:txBody>
                  <a:tcPr marL="91440" marR="73152" marT="27432" marB="27432" anchor="ctr">
                    <a:solidFill>
                      <a:srgbClr val="460073"/>
                    </a:solidFill>
                  </a:tcPr>
                </a:tc>
                <a:tc>
                  <a:txBody>
                    <a:bodyPr wrap="square"/>
                    <a:lstStyle/>
                    <a:p>
                      <a:pPr algn="ctr"/>
                      <a:r>
                        <a:rPr sz="1050" b="1">
                          <a:solidFill>
                            <a:srgbClr val="FFFFFF"/>
                          </a:solidFill>
                          <a:latin typeface="Calibri"/>
                        </a:rPr>
                        <a:t>Verdict</a:t>
                      </a:r>
                    </a:p>
                  </a:txBody>
                  <a:tcPr marL="91440" marR="73152" marT="27432" marB="27432" anchor="ctr">
                    <a:solidFill>
                      <a:srgbClr val="460073"/>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Age band</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18–24: 16.6% vs 45–49: 1.4%  (n = 1,253 / 1,017)</a:t>
                      </a:r>
                    </a:p>
                  </a:txBody>
                  <a:tcPr marL="91440" marR="73152" marT="27432" marB="27432" anchor="ctr">
                    <a:solidFill>
                      <a:srgbClr val="FFFFFF"/>
                    </a:solidFill>
                  </a:tcPr>
                </a:tc>
                <a:tc>
                  <a:txBody>
                    <a:bodyPr wrap="square"/>
                    <a:lstStyle/>
                    <a:p>
                      <a:pPr algn="ctr"/>
                      <a:r>
                        <a:rPr sz="1050" b="0">
                          <a:solidFill>
                            <a:srgbClr val="22222A"/>
                          </a:solidFill>
                          <a:latin typeface="Calibri"/>
                        </a:rPr>
                        <a:t>Fails badly</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8F8FB"/>
                    </a:solidFill>
                  </a:tcPr>
                </a:tc>
                <a:tc>
                  <a:txBody>
                    <a:bodyPr wrap="square"/>
                    <a:lstStyle/>
                    <a:p>
                      <a:pPr algn="ctr"/>
                      <a:r>
                        <a:rPr sz="1050" b="0">
                          <a:solidFill>
                            <a:srgbClr val="22222A"/>
                          </a:solidFill>
                          <a:latin typeface="Calibri"/>
                        </a:rPr>
                        <a:t>Role level</a:t>
                      </a:r>
                    </a:p>
                  </a:txBody>
                  <a:tcPr marL="91440" marR="73152" marT="27432" marB="27432" anchor="ctr">
                    <a:solidFill>
                      <a:srgbClr val="F8F8FB"/>
                    </a:solidFill>
                  </a:tcPr>
                </a:tc>
                <a:tc>
                  <a:txBody>
                    <a:bodyPr wrap="square"/>
                    <a:lstStyle/>
                    <a:p>
                      <a:pPr algn="ctr"/>
                      <a:r>
                        <a:rPr sz="1050" b="0">
                          <a:solidFill>
                            <a:srgbClr val="22222A"/>
                          </a:solidFill>
                          <a:latin typeface="Calibri"/>
                        </a:rPr>
                        <a:t>0.15</a:t>
                      </a:r>
                    </a:p>
                  </a:txBody>
                  <a:tcPr marL="91440" marR="73152" marT="27432" marB="27432" anchor="ctr">
                    <a:solidFill>
                      <a:srgbClr val="F8F8FB"/>
                    </a:solidFill>
                  </a:tcPr>
                </a:tc>
                <a:tc>
                  <a:txBody>
                    <a:bodyPr wrap="square"/>
                    <a:lstStyle/>
                    <a:p>
                      <a:pPr algn="l"/>
                      <a:r>
                        <a:rPr sz="1050" b="0">
                          <a:solidFill>
                            <a:srgbClr val="22222A"/>
                          </a:solidFill>
                          <a:latin typeface="Calibri"/>
                        </a:rPr>
                        <a:t>L1 9.2% vs L5 1.4%  (n = 6,931 / 74)</a:t>
                      </a:r>
                    </a:p>
                  </a:txBody>
                  <a:tcPr marL="91440" marR="73152" marT="27432" marB="27432" anchor="ctr">
                    <a:solidFill>
                      <a:srgbClr val="F8F8FB"/>
                    </a:solidFill>
                  </a:tcPr>
                </a:tc>
                <a:tc>
                  <a:txBody>
                    <a:bodyPr wrap="square"/>
                    <a:lstStyle/>
                    <a:p>
                      <a:pPr algn="ctr"/>
                      <a:r>
                        <a:rPr sz="1050" b="0">
                          <a:solidFill>
                            <a:srgbClr val="22222A"/>
                          </a:solidFill>
                          <a:latin typeface="Calibri"/>
                        </a:rPr>
                        <a:t>Fails</a:t>
                      </a:r>
                    </a:p>
                  </a:txBody>
                  <a:tcPr marL="91440" marR="73152" marT="27432" marB="27432" anchor="ctr">
                    <a:solidFill>
                      <a:srgbClr val="F8F8FB"/>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Acquisition cohort</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Entity_C 31.7% vs NovaCorp-Origin 2.4%</a:t>
                      </a:r>
                    </a:p>
                  </a:txBody>
                  <a:tcPr marL="91440" marR="73152" marT="27432" marB="27432" anchor="ctr">
                    <a:solidFill>
                      <a:srgbClr val="FFFFFF"/>
                    </a:solidFill>
                  </a:tcPr>
                </a:tc>
                <a:tc>
                  <a:txBody>
                    <a:bodyPr wrap="square"/>
                    <a:lstStyle/>
                    <a:p>
                      <a:pPr algn="ctr"/>
                      <a:r>
                        <a:rPr sz="1050" b="0">
                          <a:solidFill>
                            <a:srgbClr val="22222A"/>
                          </a:solidFill>
                          <a:latin typeface="Calibri"/>
                        </a:rPr>
                        <a:t>Fails</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HR regrettable_flag</a:t>
                      </a:r>
                    </a:p>
                  </a:txBody>
                  <a:tcPr marL="91440" marR="73152" marT="27432" marB="27432" anchor="ctr">
                    <a:solidFill>
                      <a:srgbClr val="F8F8FB"/>
                    </a:solidFill>
                  </a:tcPr>
                </a:tc>
                <a:tc>
                  <a:txBody>
                    <a:bodyPr wrap="square"/>
                    <a:lstStyle/>
                    <a:p>
                      <a:pPr algn="ctr"/>
                      <a:r>
                        <a:rPr sz="1050" b="0">
                          <a:solidFill>
                            <a:srgbClr val="22222A"/>
                          </a:solidFill>
                          <a:latin typeface="Calibri"/>
                        </a:rPr>
                        <a:t>Gender, within Outstanding leavers</a:t>
                      </a:r>
                    </a:p>
                  </a:txBody>
                  <a:tcPr marL="91440" marR="73152" marT="27432" marB="27432" anchor="ctr">
                    <a:solidFill>
                      <a:srgbClr val="F8F8FB"/>
                    </a:solidFill>
                  </a:tcPr>
                </a:tc>
                <a:tc>
                  <a:txBody>
                    <a:bodyPr wrap="square"/>
                    <a:lstStyle/>
                    <a:p>
                      <a:pPr algn="ctr"/>
                      <a:r>
                        <a:rPr sz="1050" b="0">
                          <a:solidFill>
                            <a:srgbClr val="22222A"/>
                          </a:solidFill>
                          <a:latin typeface="Calibri"/>
                        </a:rPr>
                        <a:t>0.60</a:t>
                      </a:r>
                    </a:p>
                  </a:txBody>
                  <a:tcPr marL="91440" marR="73152" marT="27432" marB="27432" anchor="ctr">
                    <a:solidFill>
                      <a:srgbClr val="F8F8FB"/>
                    </a:solidFill>
                  </a:tcPr>
                </a:tc>
                <a:tc>
                  <a:txBody>
                    <a:bodyPr wrap="square"/>
                    <a:lstStyle/>
                    <a:p>
                      <a:pPr algn="l"/>
                      <a:r>
                        <a:rPr sz="1050" b="0">
                          <a:solidFill>
                            <a:srgbClr val="22222A"/>
                          </a:solidFill>
                          <a:latin typeface="Calibri"/>
                        </a:rPr>
                        <a:t>M 74.6% / F 59.4% / NB 44.4%  (n = 67 / 64 / 9)</a:t>
                      </a:r>
                    </a:p>
                  </a:txBody>
                  <a:tcPr marL="91440" marR="73152" marT="27432" marB="27432" anchor="ctr">
                    <a:solidFill>
                      <a:srgbClr val="F8F8FB"/>
                    </a:solidFill>
                  </a:tcPr>
                </a:tc>
                <a:tc>
                  <a:txBody>
                    <a:bodyPr wrap="square"/>
                    <a:lstStyle/>
                    <a:p>
                      <a:pPr algn="ctr"/>
                      <a:r>
                        <a:rPr sz="1050" b="0">
                          <a:solidFill>
                            <a:srgbClr val="22222A"/>
                          </a:solidFill>
                          <a:latin typeface="Calibri"/>
                        </a:rPr>
                        <a:t>Under-powered</a:t>
                      </a:r>
                    </a:p>
                  </a:txBody>
                  <a:tcPr marL="91440" marR="73152" marT="27432" marB="27432" anchor="ctr">
                    <a:solidFill>
                      <a:srgbClr val="F8F8FB"/>
                    </a:solidFill>
                  </a:tcPr>
                </a:tc>
              </a:tr>
            </a:tbl>
          </a:graphicData>
        </a:graphic>
      </p:graphicFrame>
      <p:sp>
        <p:nvSpPr>
          <p:cNvPr id="9" name="TextBox 8"/>
          <p:cNvSpPr txBox="1"/>
          <p:nvPr/>
        </p:nvSpPr>
        <p:spPr>
          <a:xfrm>
            <a:off x="566928" y="4251960"/>
            <a:ext cx="10972800" cy="1828800"/>
          </a:xfrm>
          <a:prstGeom prst="rect">
            <a:avLst/>
          </a:prstGeom>
          <a:noFill/>
        </p:spPr>
        <p:txBody>
          <a:bodyPr wrap="square" anchor="t" lIns="0" rIns="0" tIns="0" bIns="0">
            <a:spAutoFit/>
          </a:bodyPr>
          <a:lstStyle/>
          <a:p>
            <a:pPr algn="l">
              <a:lnSpc>
                <a:spcPct val="118000"/>
              </a:lnSpc>
              <a:spcAft>
                <a:spcPts val="1200"/>
              </a:spcAft>
            </a:pPr>
            <a:r>
              <a:rPr sz="1200" i="0" b="1">
                <a:solidFill>
                  <a:srgbClr val="460073"/>
                </a:solidFill>
                <a:latin typeface="Calibri"/>
              </a:rPr>
              <a:t>The silence flag result is unambiguous.</a:t>
            </a:r>
            <a:r>
              <a:rPr sz="1200" i="0" b="0">
                <a:solidFill>
                  <a:srgbClr val="22222A"/>
                </a:solidFill>
                <a:latin typeface="Calibri"/>
              </a:rPr>
              <a:t> It fails on three dimensions at once, on groups of 900 to 1,900 people. This is why we recommend against individual-level deployment on slide 12.</a:t>
            </a:r>
          </a:p>
          <a:p>
            <a:pPr algn="l">
              <a:lnSpc>
                <a:spcPct val="118000"/>
              </a:lnSpc>
              <a:spcAft>
                <a:spcPts val="1200"/>
              </a:spcAft>
            </a:pPr>
            <a:r>
              <a:rPr sz="1200" i="0" b="1">
                <a:solidFill>
                  <a:srgbClr val="460073"/>
                </a:solidFill>
                <a:latin typeface="Calibri"/>
              </a:rPr>
              <a:t>The regrettable_flag result is suggestive but under-powered.</a:t>
            </a:r>
            <a:r>
              <a:rPr sz="1200" i="0" b="0">
                <a:solidFill>
                  <a:srgbClr val="22222A"/>
                </a:solidFill>
                <a:latin typeface="Calibri"/>
              </a:rPr>
              <a:t> With 9 non-binary staff in the comparison we report it as a governance risk requiring audit, not as established discrimination. Saying more than the sample supports would be the same error we are criticising.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Sensitivity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How the $45.1M headline moves across the two assumptions we do not control.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Replacement multiplier 1.0–2.0×, backfill 70–100%. Brief's constants are 1.50× and 85%.</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A5</a:t>
            </a:r>
          </a:p>
        </p:txBody>
      </p:sp>
      <p:pic>
        <p:nvPicPr>
          <p:cNvPr id="8" name="Picture 7" descr="E5_sensitivity.png"/>
          <p:cNvPicPr>
            <a:picLocks noChangeAspect="1"/>
          </p:cNvPicPr>
          <p:nvPr/>
        </p:nvPicPr>
        <p:blipFill>
          <a:blip r:embed="rId2"/>
          <a:stretch>
            <a:fillRect/>
          </a:stretch>
        </p:blipFill>
        <p:spPr>
          <a:xfrm>
            <a:off x="640080" y="2020824"/>
            <a:ext cx="6583680" cy="3364992"/>
          </a:xfrm>
          <a:prstGeom prst="rect">
            <a:avLst/>
          </a:prstGeom>
        </p:spPr>
      </p:pic>
      <p:sp>
        <p:nvSpPr>
          <p:cNvPr id="9" name="TextBox 8"/>
          <p:cNvSpPr txBox="1"/>
          <p:nvPr/>
        </p:nvSpPr>
        <p:spPr>
          <a:xfrm>
            <a:off x="7543800" y="1828800"/>
            <a:ext cx="4114800" cy="3840480"/>
          </a:xfrm>
          <a:prstGeom prst="rect">
            <a:avLst/>
          </a:prstGeom>
          <a:noFill/>
        </p:spPr>
        <p:txBody>
          <a:bodyPr wrap="square" anchor="t" lIns="0" rIns="0" tIns="0" bIns="0">
            <a:spAutoFit/>
          </a:bodyPr>
          <a:lstStyle/>
          <a:p>
            <a:pPr algn="l">
              <a:lnSpc>
                <a:spcPct val="118000"/>
              </a:lnSpc>
              <a:spcAft>
                <a:spcPts val="1400"/>
              </a:spcAft>
            </a:pPr>
            <a:r>
              <a:rPr sz="1250" i="0" b="0">
                <a:solidFill>
                  <a:srgbClr val="22222A"/>
                </a:solidFill>
                <a:latin typeface="Calibri"/>
              </a:rPr>
              <a:t>Full range across the grid: </a:t>
            </a:r>
            <a:r>
              <a:rPr sz="1250" i="0" b="1">
                <a:solidFill>
                  <a:srgbClr val="460073"/>
                </a:solidFill>
                <a:latin typeface="Calibri"/>
              </a:rPr>
              <a:t>$24.8M to $70.8M</a:t>
            </a:r>
            <a:r>
              <a:rPr sz="1250" i="0" b="0">
                <a:solidFill>
                  <a:srgbClr val="22222A"/>
                </a:solidFill>
                <a:latin typeface="Calibri"/>
              </a:rPr>
              <a:t>.</a:t>
            </a:r>
          </a:p>
          <a:p>
            <a:pPr algn="l">
              <a:lnSpc>
                <a:spcPct val="118000"/>
              </a:lnSpc>
              <a:spcAft>
                <a:spcPts val="1400"/>
              </a:spcAft>
            </a:pPr>
            <a:r>
              <a:rPr sz="1250" i="0" b="0">
                <a:solidFill>
                  <a:srgbClr val="22222A"/>
                </a:solidFill>
                <a:latin typeface="Calibri"/>
              </a:rPr>
              <a:t>We quote </a:t>
            </a:r>
            <a:r>
              <a:rPr sz="1250" i="0" b="1">
                <a:solidFill>
                  <a:srgbClr val="460073"/>
                </a:solidFill>
                <a:latin typeface="Calibri"/>
              </a:rPr>
              <a:t>$34–56M</a:t>
            </a:r>
            <a:r>
              <a:rPr sz="1250" i="0" b="0">
                <a:solidFill>
                  <a:srgbClr val="22222A"/>
                </a:solidFill>
                <a:latin typeface="Calibri"/>
              </a:rPr>
              <a:t> as the defensible band, roughly ±25% around the brief's own constants.</a:t>
            </a:r>
          </a:p>
          <a:p>
            <a:pPr algn="l">
              <a:lnSpc>
                <a:spcPct val="118000"/>
              </a:lnSpc>
              <a:spcAft>
                <a:spcPts val="1400"/>
              </a:spcAft>
            </a:pPr>
            <a:r>
              <a:rPr sz="1250" i="0" b="1">
                <a:solidFill>
                  <a:srgbClr val="460073"/>
                </a:solidFill>
                <a:latin typeface="Calibri"/>
              </a:rPr>
              <a:t>Every cell in the grid exceeds the $14.3M currently counted.</a:t>
            </a:r>
            <a:r>
              <a:rPr sz="1250" i="0" b="0">
                <a:solidFill>
                  <a:srgbClr val="22222A"/>
                </a:solidFill>
                <a:latin typeface="Calibri"/>
              </a:rPr>
              <a:t> The finding does not depend on the assumption. That is the point of showing the grid rather than a single number.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issues found</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calls data preparation “a substantive analytical step, not a preprocessing formality”. This records every issue, and what we did about it.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572768"/>
          <a:ext cx="11064240" cy="4096512"/>
        </p:xfrm>
        <a:graphic>
          <a:graphicData uri="http://schemas.openxmlformats.org/drawingml/2006/table">
            <a:tbl>
              <a:tblPr firstRow="1" bandRow="1">
                <a:tableStyleId>{5C22544A-7EE6-4342-B048-85BDC9FD1C3A}</a:tableStyleId>
              </a:tblPr>
              <a:tblGrid>
                <a:gridCol w="548640"/>
                <a:gridCol w="4937760"/>
                <a:gridCol w="5577840"/>
              </a:tblGrid>
              <a:tr h="512064">
                <a:tc>
                  <a:txBody>
                    <a:bodyPr wrap="square"/>
                    <a:lstStyle/>
                    <a:p>
                      <a:pPr algn="l"/>
                      <a:r>
                        <a:rPr sz="1000" b="1">
                          <a:solidFill>
                            <a:srgbClr val="FFFFFF"/>
                          </a:solidFill>
                          <a:latin typeface="Calibri"/>
                        </a:rPr>
                        <a:t>#</a:t>
                      </a:r>
                    </a:p>
                  </a:txBody>
                  <a:tcPr marL="91440" marR="73152" marT="27432" marB="27432" anchor="ctr">
                    <a:solidFill>
                      <a:srgbClr val="460073"/>
                    </a:solidFill>
                  </a:tcPr>
                </a:tc>
                <a:tc>
                  <a:txBody>
                    <a:bodyPr wrap="square"/>
                    <a:lstStyle/>
                    <a:p>
                      <a:pPr algn="l"/>
                      <a:r>
                        <a:rPr sz="1000" b="1">
                          <a:solidFill>
                            <a:srgbClr val="FFFFFF"/>
                          </a:solidFill>
                          <a:latin typeface="Calibri"/>
                        </a:rPr>
                        <a:t>Issue</a:t>
                      </a:r>
                    </a:p>
                  </a:txBody>
                  <a:tcPr marL="91440" marR="73152" marT="27432" marB="27432" anchor="ctr">
                    <a:solidFill>
                      <a:srgbClr val="460073"/>
                    </a:solidFill>
                  </a:tcPr>
                </a:tc>
                <a:tc>
                  <a:txBody>
                    <a:bodyPr wrap="square"/>
                    <a:lstStyle/>
                    <a:p>
                      <a:pPr algn="l"/>
                      <a:r>
                        <a:rPr sz="1000" b="1">
                          <a:solidFill>
                            <a:srgbClr val="FFFFFF"/>
                          </a:solidFill>
                          <a:latin typeface="Calibri"/>
                        </a:rPr>
                        <a:t>What we did</a:t>
                      </a:r>
                    </a:p>
                  </a:txBody>
                  <a:tcPr marL="91440" marR="73152" marT="27432" marB="27432" anchor="ctr">
                    <a:solidFill>
                      <a:srgbClr val="460073"/>
                    </a:solidFill>
                  </a:tcPr>
                </a:tc>
              </a:tr>
              <a:tr h="512064">
                <a:tc>
                  <a:txBody>
                    <a:bodyPr wrap="square"/>
                    <a:lstStyle/>
                    <a:p>
                      <a:pPr algn="l"/>
                      <a:r>
                        <a:rPr sz="900" b="0">
                          <a:solidFill>
                            <a:srgbClr val="22222A"/>
                          </a:solidFill>
                          <a:latin typeface="Calibri"/>
                        </a:rPr>
                        <a:t>1.1</a:t>
                      </a:r>
                    </a:p>
                  </a:txBody>
                  <a:tcPr marL="91440" marR="73152" marT="27432" marB="27432" anchor="ctr">
                    <a:solidFill>
                      <a:srgbClr val="FFFFFF"/>
                    </a:solidFill>
                  </a:tcPr>
                </a:tc>
                <a:tc>
                  <a:txBody>
                    <a:bodyPr wrap="square"/>
                    <a:lstStyle/>
                    <a:p>
                      <a:pPr algn="l"/>
                      <a:r>
                        <a:rPr sz="900" b="0">
                          <a:solidFill>
                            <a:srgbClr val="22222A"/>
                          </a:solidFill>
                          <a:latin typeface="Calibri"/>
                        </a:rPr>
                        <a:t>hire_date is a system-entry date for acquired staff. Entity_C's whole roster reads as under 9 months tenure. Material.</a:t>
                      </a:r>
                    </a:p>
                  </a:txBody>
                  <a:tcPr marL="91440" marR="73152" marT="27432" marB="27432" anchor="ctr">
                    <a:solidFill>
                      <a:srgbClr val="FFFFFF"/>
                    </a:solidFill>
                  </a:tcPr>
                </a:tc>
                <a:tc>
                  <a:txBody>
                    <a:bodyPr wrap="square"/>
                    <a:lstStyle/>
                    <a:p>
                      <a:pPr algn="l"/>
                      <a:r>
                        <a:rPr sz="900" b="0">
                          <a:solidFill>
                            <a:srgbClr val="22222A"/>
                          </a:solidFill>
                          <a:latin typeface="Calibri"/>
                        </a:rPr>
                        <a:t>Restricted all early-tenure analysis to in-window hires, so everyone is observed from tenure 0. Changed the lever from $29.6M to $7.9M. See A7.</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The 2025-H2 performance cycle is absent, so band at exit can be up to 12 months stale.</a:t>
                      </a:r>
                    </a:p>
                  </a:txBody>
                  <a:tcPr marL="91440" marR="73152" marT="27432" marB="27432" anchor="ctr">
                    <a:solidFill>
                      <a:srgbClr val="F8F8FB"/>
                    </a:solidFill>
                  </a:tcPr>
                </a:tc>
                <a:tc>
                  <a:txBody>
                    <a:bodyPr wrap="square"/>
                    <a:lstStyle/>
                    <a:p>
                      <a:pPr algn="l"/>
                      <a:r>
                        <a:rPr sz="900" b="0">
                          <a:solidFill>
                            <a:srgbClr val="22222A"/>
                          </a:solidFill>
                          <a:latin typeface="Calibri"/>
                        </a:rPr>
                        <a:t>Used performance band as a value proxy at exit, not a current-state measure, and flagged staleness wherever it carries a dollar.</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1.3</a:t>
                      </a:r>
                    </a:p>
                  </a:txBody>
                  <a:tcPr marL="91440" marR="73152" marT="27432" marB="27432" anchor="ctr">
                    <a:solidFill>
                      <a:srgbClr val="FFFFFF"/>
                    </a:solidFill>
                  </a:tcPr>
                </a:tc>
                <a:tc>
                  <a:txBody>
                    <a:bodyPr wrap="square"/>
                    <a:lstStyle/>
                    <a:p>
                      <a:pPr algn="l"/>
                      <a:r>
                        <a:rPr sz="900" b="0">
                          <a:solidFill>
                            <a:srgbClr val="22222A"/>
                          </a:solidFill>
                          <a:latin typeface="Calibri"/>
                        </a:rPr>
                        <a:t>307 employees have no engagement records. 171 were employed while surveys ran and were still never asked; 152 sit on Entity_B and Entity_C systems.</a:t>
                      </a:r>
                    </a:p>
                  </a:txBody>
                  <a:tcPr marL="91440" marR="73152" marT="27432" marB="27432" anchor="ctr">
                    <a:solidFill>
                      <a:srgbClr val="FFFFFF"/>
                    </a:solidFill>
                  </a:tcPr>
                </a:tc>
                <a:tc>
                  <a:txBody>
                    <a:bodyPr wrap="square"/>
                    <a:lstStyle/>
                    <a:p>
                      <a:pPr algn="l"/>
                      <a:r>
                        <a:rPr sz="900" b="0">
                          <a:solidFill>
                            <a:srgbClr val="22222A"/>
                          </a:solidFill>
                          <a:latin typeface="Calibri"/>
                        </a:rPr>
                        <a:t>Excluded from the silence-flag population, because “never issued” is not “issued and declined”. Reported separately as a data-fragmentation finding.</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10,264 rows have response_flag = False with null dimensions. Intentional, per the brief.</a:t>
                      </a:r>
                    </a:p>
                  </a:txBody>
                  <a:tcPr marL="91440" marR="73152" marT="27432" marB="27432" anchor="ctr">
                    <a:solidFill>
                      <a:srgbClr val="F8F8FB"/>
                    </a:solidFill>
                  </a:tcPr>
                </a:tc>
                <a:tc>
                  <a:txBody>
                    <a:bodyPr wrap="square"/>
                    <a:lstStyle/>
                    <a:p>
                      <a:pPr algn="l"/>
                      <a:r>
                        <a:rPr sz="900" b="0">
                          <a:solidFill>
                            <a:srgbClr val="22222A"/>
                          </a:solidFill>
                          <a:latin typeface="Calibri"/>
                        </a:rPr>
                        <a:t>Retained every row. Response rate used as a variable in its own right. Scores averaged per employee before any group comparison.</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1.5</a:t>
                      </a:r>
                    </a:p>
                  </a:txBody>
                  <a:tcPr marL="91440" marR="73152" marT="27432" marB="27432" anchor="ctr">
                    <a:solidFill>
                      <a:srgbClr val="FFFFFF"/>
                    </a:solidFill>
                  </a:tcPr>
                </a:tc>
                <a:tc>
                  <a:txBody>
                    <a:bodyPr wrap="square"/>
                    <a:lstStyle/>
                    <a:p>
                      <a:pPr algn="l"/>
                      <a:r>
                        <a:rPr sz="900" b="0">
                          <a:solidFill>
                            <a:srgbClr val="22222A"/>
                          </a:solidFill>
                          <a:latin typeface="Calibri"/>
                        </a:rPr>
                        <a:t>“Push” does not mean disengagement-driven. 267 of 955 push exits are involuntary. Definitional.</a:t>
                      </a:r>
                    </a:p>
                  </a:txBody>
                  <a:tcPr marL="91440" marR="73152" marT="27432" marB="27432" anchor="ctr">
                    <a:solidFill>
                      <a:srgbClr val="FFFFFF"/>
                    </a:solidFill>
                  </a:tcPr>
                </a:tc>
                <a:tc>
                  <a:txBody>
                    <a:bodyPr wrap="square"/>
                    <a:lstStyle/>
                    <a:p>
                      <a:pPr algn="l"/>
                      <a:r>
                        <a:rPr sz="900" b="0">
                          <a:solidFill>
                            <a:srgbClr val="22222A"/>
                          </a:solidFill>
                          <a:latin typeface="Calibri"/>
                        </a:rPr>
                        <a:t>Removed any claim that 68% push implies 68% preventable. All cost figures use voluntary exits only.</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1.6</a:t>
                      </a:r>
                    </a:p>
                  </a:txBody>
                  <a:tcPr marL="91440" marR="73152" marT="27432" marB="27432" anchor="ctr">
                    <a:solidFill>
                      <a:srgbClr val="F8F8FB"/>
                    </a:solidFill>
                  </a:tcPr>
                </a:tc>
                <a:tc>
                  <a:txBody>
                    <a:bodyPr wrap="square"/>
                    <a:lstStyle/>
                    <a:p>
                      <a:pPr algn="l"/>
                      <a:r>
                        <a:rPr sz="900" b="0">
                          <a:solidFill>
                            <a:srgbClr val="22222A"/>
                          </a:solidFill>
                          <a:latin typeface="Calibri"/>
                        </a:rPr>
                        <a:t>Small samples above Level 4: L5 78, L6 16, L7 8, L8 1.</a:t>
                      </a:r>
                    </a:p>
                  </a:txBody>
                  <a:tcPr marL="91440" marR="73152" marT="27432" marB="27432" anchor="ctr">
                    <a:solidFill>
                      <a:srgbClr val="F8F8FB"/>
                    </a:solidFill>
                  </a:tcPr>
                </a:tc>
                <a:tc>
                  <a:txBody>
                    <a:bodyPr wrap="square"/>
                    <a:lstStyle/>
                    <a:p>
                      <a:pPr algn="l"/>
                      <a:r>
                        <a:rPr sz="900" b="0">
                          <a:solidFill>
                            <a:srgbClr val="22222A"/>
                          </a:solidFill>
                          <a:latin typeface="Calibri"/>
                        </a:rPr>
                        <a:t>Report nothing above L4 as a finding. Where a senior gap appears, state the n and decline to conclude.</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1.7</a:t>
                      </a:r>
                    </a:p>
                  </a:txBody>
                  <a:tcPr marL="91440" marR="73152" marT="27432" marB="27432" anchor="ctr">
                    <a:solidFill>
                      <a:srgbClr val="FFFFFF"/>
                    </a:solidFill>
                  </a:tcPr>
                </a:tc>
                <a:tc>
                  <a:txBody>
                    <a:bodyPr wrap="square"/>
                    <a:lstStyle/>
                    <a:p>
                      <a:pPr algn="l"/>
                      <a:r>
                        <a:rPr sz="900" b="0">
                          <a:solidFill>
                            <a:srgbClr val="22222A"/>
                          </a:solidFill>
                          <a:latin typeface="Calibri"/>
                        </a:rPr>
                        <a:t>The Annual Report's “voluntary attrition” is total attrition over two years on the full roster.</a:t>
                      </a:r>
                    </a:p>
                  </a:txBody>
                  <a:tcPr marL="91440" marR="73152" marT="27432" marB="27432" anchor="ctr">
                    <a:solidFill>
                      <a:srgbClr val="FFFFFF"/>
                    </a:solidFill>
                  </a:tcPr>
                </a:tc>
                <a:tc>
                  <a:txBody>
                    <a:bodyPr wrap="square"/>
                    <a:lstStyle/>
                    <a:p>
                      <a:pPr algn="l"/>
                      <a:r>
                        <a:rPr sz="900" b="0">
                          <a:solidFill>
                            <a:srgbClr val="22222A"/>
                          </a:solidFill>
                          <a:latin typeface="Calibri"/>
                        </a:rPr>
                        <a:t>Restated as annualised voluntary on active (4.7%/yr) and footnoted the denominator on every slide carrying a rate.</a:t>
                      </a:r>
                    </a:p>
                  </a:txBody>
                  <a:tcPr marL="91440" marR="73152"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checks that came back clean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Documenting what we verified and found sound matters as much as what we found broken.</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645920"/>
          <a:ext cx="6766560" cy="3657600"/>
        </p:xfrm>
        <a:graphic>
          <a:graphicData uri="http://schemas.openxmlformats.org/drawingml/2006/table">
            <a:tbl>
              <a:tblPr firstRow="1" bandRow="1">
                <a:tableStyleId>{5C22544A-7EE6-4342-B048-85BDC9FD1C3A}</a:tableStyleId>
              </a:tblPr>
              <a:tblGrid>
                <a:gridCol w="4206240"/>
                <a:gridCol w="2560320"/>
              </a:tblGrid>
              <a:tr h="365760">
                <a:tc>
                  <a:txBody>
                    <a:bodyPr wrap="square"/>
                    <a:lstStyle/>
                    <a:p>
                      <a:pPr algn="l"/>
                      <a:r>
                        <a:rPr sz="1150" b="1">
                          <a:solidFill>
                            <a:srgbClr val="FFFFFF"/>
                          </a:solidFill>
                          <a:latin typeface="Calibri"/>
                        </a:rPr>
                        <a:t>Check</a:t>
                      </a:r>
                    </a:p>
                  </a:txBody>
                  <a:tcPr marL="91440" marR="73152" marT="27432" marB="27432" anchor="ctr">
                    <a:solidFill>
                      <a:srgbClr val="460073"/>
                    </a:solidFill>
                  </a:tcPr>
                </a:tc>
                <a:tc>
                  <a:txBody>
                    <a:bodyPr wrap="square"/>
                    <a:lstStyle/>
                    <a:p>
                      <a:pPr algn="l"/>
                      <a:r>
                        <a:rPr sz="1150" b="1">
                          <a:solidFill>
                            <a:srgbClr val="FFFFFF"/>
                          </a:solidFill>
                          <a:latin typeface="Calibri"/>
                        </a:rPr>
                        <a:t>Result</a:t>
                      </a:r>
                    </a:p>
                  </a:txBody>
                  <a:tcPr marL="91440" marR="73152" marT="27432" marB="27432" anchor="ctr">
                    <a:solidFill>
                      <a:srgbClr val="460073"/>
                    </a:solidFill>
                  </a:tcPr>
                </a:tc>
              </a:tr>
              <a:tr h="365760">
                <a:tc>
                  <a:txBody>
                    <a:bodyPr wrap="square"/>
                    <a:lstStyle/>
                    <a:p>
                      <a:pPr algn="l"/>
                      <a:r>
                        <a:rPr sz="1100" b="0">
                          <a:solidFill>
                            <a:srgbClr val="22222A"/>
                          </a:solidFill>
                          <a:latin typeface="Calibri"/>
                        </a:rPr>
                        <a:t>Duplicate employee_id in employees.csv</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attrition_log rows with no matching employee</a:t>
                      </a:r>
                    </a:p>
                  </a:txBody>
                  <a:tcPr marL="91440" marR="73152" marT="27432" marB="27432" anchor="ctr">
                    <a:solidFill>
                      <a:srgbClr val="F8F8FB"/>
                    </a:solidFill>
                  </a:tcPr>
                </a:tc>
                <a:tc>
                  <a:txBody>
                    <a:bodyPr wrap="square"/>
                    <a:lstStyle/>
                    <a:p>
                      <a:pPr algn="l"/>
                      <a:r>
                        <a:rPr sz="1100" b="0">
                          <a:solidFill>
                            <a:srgbClr val="22222A"/>
                          </a:solidFill>
                          <a:latin typeface="Calibri"/>
                        </a:rPr>
                        <a:t>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Employees marked departed with no attrition record</a:t>
                      </a:r>
                    </a:p>
                  </a:txBody>
                  <a:tcPr marL="91440" marR="73152" marT="27432" marB="27432" anchor="ctr">
                    <a:solidFill>
                      <a:srgbClr val="FFFFFF"/>
                    </a:solidFill>
                  </a:tcPr>
                </a:tc>
                <a:tc>
                  <a:txBody>
                    <a:bodyPr wrap="square"/>
                    <a:lstStyle/>
                    <a:p>
                      <a:pPr algn="l"/>
                      <a:r>
                        <a:rPr sz="1100" b="0">
                          <a:solidFill>
                            <a:srgbClr val="22222A"/>
                          </a:solidFill>
                          <a:latin typeface="Calibri"/>
                        </a:rPr>
                        <a:t>0 — exact 1:1 on all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exit_date disagreement between the two files</a:t>
                      </a:r>
                    </a:p>
                  </a:txBody>
                  <a:tcPr marL="91440" marR="73152" marT="27432" marB="27432" anchor="ctr">
                    <a:solidFill>
                      <a:srgbClr val="F8F8FB"/>
                    </a:solidFill>
                  </a:tcPr>
                </a:tc>
                <a:tc>
                  <a:txBody>
                    <a:bodyPr wrap="square"/>
                    <a:lstStyle/>
                    <a:p>
                      <a:pPr algn="l"/>
                      <a:r>
                        <a:rPr sz="1100" b="0">
                          <a:solidFill>
                            <a:srgbClr val="22222A"/>
                          </a:solidFill>
                          <a:latin typeface="Calibri"/>
                        </a:rPr>
                        <a:t>0 of 1,400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salary vs salary_at_exit disagreement</a:t>
                      </a:r>
                    </a:p>
                  </a:txBody>
                  <a:tcPr marL="91440" marR="73152" marT="27432" marB="27432" anchor="ctr">
                    <a:solidFill>
                      <a:srgbClr val="FFFFFF"/>
                    </a:solidFill>
                  </a:tcPr>
                </a:tc>
                <a:tc>
                  <a:txBody>
                    <a:bodyPr wrap="square"/>
                    <a:lstStyle/>
                    <a:p>
                      <a:pPr algn="l"/>
                      <a:r>
                        <a:rPr sz="1100" b="0">
                          <a:solidFill>
                            <a:srgbClr val="22222A"/>
                          </a:solidFill>
                          <a:latin typeface="Calibri"/>
                        </a:rPr>
                        <a:t>0 of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Date formatting variation</a:t>
                      </a:r>
                    </a:p>
                  </a:txBody>
                  <a:tcPr marL="91440" marR="73152" marT="27432" marB="27432" anchor="ctr">
                    <a:solidFill>
                      <a:srgbClr val="F8F8FB"/>
                    </a:solidFill>
                  </a:tcPr>
                </a:tc>
                <a:tc>
                  <a:txBody>
                    <a:bodyPr wrap="square"/>
                    <a:lstStyle/>
                    <a:p>
                      <a:pPr algn="l"/>
                      <a:r>
                        <a:rPr sz="1100" b="0">
                          <a:solidFill>
                            <a:srgbClr val="22222A"/>
                          </a:solidFill>
                          <a:latin typeface="Calibri"/>
                        </a:rPr>
                        <a:t>None — all YYYY-MM-DD across all files</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Negative or impossible tenure values</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Survey rows dated after an employee's exit date</a:t>
                      </a:r>
                    </a:p>
                  </a:txBody>
                  <a:tcPr marL="91440" marR="73152" marT="27432" marB="27432" anchor="ctr">
                    <a:solidFill>
                      <a:srgbClr val="F8F8FB"/>
                    </a:solidFill>
                  </a:tcPr>
                </a:tc>
                <a:tc>
                  <a:txBody>
                    <a:bodyPr wrap="square"/>
                    <a:lstStyle/>
                    <a:p>
                      <a:pPr algn="l"/>
                      <a:r>
                        <a:rPr sz="1100" b="0">
                          <a:solidFill>
                            <a:srgbClr val="22222A"/>
                          </a:solidFill>
                          <a:latin typeface="Calibri"/>
                        </a:rPr>
                        <a:t>0 — the link is not an artifact</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Nulls outside the two expected fields</a:t>
                      </a:r>
                    </a:p>
                  </a:txBody>
                  <a:tcPr marL="91440" marR="73152" marT="27432" marB="27432" anchor="ctr">
                    <a:solidFill>
                      <a:srgbClr val="FFFFFF"/>
                    </a:solidFill>
                  </a:tcPr>
                </a:tc>
                <a:tc>
                  <a:txBody>
                    <a:bodyPr wrap="square"/>
                    <a:lstStyle/>
                    <a:p>
                      <a:pPr algn="l"/>
                      <a:r>
                        <a:rPr sz="1100" b="0">
                          <a:solidFill>
                            <a:srgbClr val="22222A"/>
                          </a:solidFill>
                          <a:latin typeface="Calibri"/>
                        </a:rPr>
                        <a:t>None</a:t>
                      </a:r>
                    </a:p>
                  </a:txBody>
                  <a:tcPr marL="91440" marR="73152" marT="27432" marB="27432" anchor="ctr">
                    <a:solidFill>
                      <a:srgbClr val="FFFFFF"/>
                    </a:solidFill>
                  </a:tcPr>
                </a:tc>
              </a:tr>
            </a:tbl>
          </a:graphicData>
        </a:graphic>
      </p:graphicFrame>
      <p:sp>
        <p:nvSpPr>
          <p:cNvPr id="8" name="Rectangle 7"/>
          <p:cNvSpPr/>
          <p:nvPr/>
        </p:nvSpPr>
        <p:spPr>
          <a:xfrm>
            <a:off x="7726679" y="1645920"/>
            <a:ext cx="3886200" cy="370332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9" y="1920240"/>
            <a:ext cx="3246120" cy="320040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WHAT THIS MEANS</a:t>
            </a:r>
          </a:p>
          <a:p>
            <a:pPr algn="l">
              <a:lnSpc>
                <a:spcPct val="115000"/>
              </a:lnSpc>
              <a:spcAft>
                <a:spcPts val="1000"/>
              </a:spcAft>
            </a:pPr>
            <a:r>
              <a:rPr sz="1300" i="0" b="1">
                <a:solidFill>
                  <a:srgbClr val="460073"/>
                </a:solidFill>
                <a:latin typeface="Calibri"/>
              </a:rPr>
              <a:t>The data is materially cleaner than the brief's framing implies.</a:t>
            </a:r>
          </a:p>
          <a:p>
            <a:pPr algn="l">
              <a:lnSpc>
                <a:spcPct val="120000"/>
              </a:lnSpc>
              <a:spcAft>
                <a:spcPts val="1000"/>
              </a:spcAft>
            </a:pPr>
            <a:r>
              <a:rPr sz="1150" i="0" b="0">
                <a:solidFill>
                  <a:srgbClr val="22222A"/>
                </a:solidFill>
                <a:latin typeface="Calibri"/>
              </a:rPr>
              <a:t>The substantive issues are semantic, not structural. Fields that are well-formed but do not mean what their names suggest: hire_date, pathway, and the Annual Report's “voluntary attrition”.</a:t>
            </a:r>
          </a:p>
          <a:p>
            <a:pPr algn="l">
              <a:lnSpc>
                <a:spcPct val="120000"/>
              </a:lnSpc>
              <a:spcAft>
                <a:spcPts val="0"/>
              </a:spcAft>
            </a:pPr>
            <a:r>
              <a:rPr sz="1150" i="0" b="0">
                <a:solidFill>
                  <a:srgbClr val="22222A"/>
                </a:solidFill>
                <a:latin typeface="Calibri"/>
              </a:rPr>
              <a:t>That is the harder failure mode to catch, and it is where our data-preparation effort went.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Early-tenure correction: $29.6M → $7.9M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largest single correction we made to our own work. Reproduces with cost_model.py §3 and §5, cross-checked independently by cost_fix2.py.</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A7</a:t>
            </a:r>
          </a:p>
        </p:txBody>
      </p:sp>
      <p:sp>
        <p:nvSpPr>
          <p:cNvPr id="7" name="TextBox 6"/>
          <p:cNvSpPr txBox="1"/>
          <p:nvPr/>
        </p:nvSpPr>
        <p:spPr>
          <a:xfrm>
            <a:off x="566928"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FF6B6B"/>
                </a:solidFill>
                <a:latin typeface="Calibri"/>
              </a:rPr>
              <a:t>WHAT WAS WRONG</a:t>
            </a:r>
          </a:p>
        </p:txBody>
      </p:sp>
      <p:sp>
        <p:nvSpPr>
          <p:cNvPr id="8" name="TextBox 7"/>
          <p:cNvSpPr txBox="1"/>
          <p:nvPr/>
        </p:nvSpPr>
        <p:spPr>
          <a:xfrm>
            <a:off x="566928" y="1828800"/>
            <a:ext cx="5212080" cy="2011680"/>
          </a:xfrm>
          <a:prstGeom prst="rect">
            <a:avLst/>
          </a:prstGeom>
          <a:noFill/>
        </p:spPr>
        <p:txBody>
          <a:bodyPr wrap="square" anchor="t" lIns="0" rIns="0" tIns="0" bIns="0">
            <a:spAutoFit/>
          </a:bodyPr>
          <a:lstStyle/>
          <a:p>
            <a:pPr algn="l">
              <a:lnSpc>
                <a:spcPct val="118000"/>
              </a:lnSpc>
              <a:spcAft>
                <a:spcPts val="1100"/>
              </a:spcAft>
            </a:pPr>
            <a:r>
              <a:rPr sz="1150" i="0" b="0">
                <a:solidFill>
                  <a:srgbClr val="22222A"/>
                </a:solidFill>
                <a:latin typeface="Calibri"/>
              </a:rPr>
              <a:t>The original defined an early exit as anyone departed with tenure ≤ 12 months, measured against </a:t>
            </a:r>
            <a:r>
              <a:rPr sz="1150" i="0" b="1">
                <a:solidFill>
                  <a:srgbClr val="460073"/>
                </a:solidFill>
                <a:latin typeface="Calibri"/>
              </a:rPr>
              <a:t>all</a:t>
            </a:r>
            <a:r>
              <a:rPr sz="1150" i="0" b="0">
                <a:solidFill>
                  <a:srgbClr val="22222A"/>
                </a:solidFill>
                <a:latin typeface="Calibri"/>
              </a:rPr>
              <a:t> hires of that source.</a:t>
            </a:r>
          </a:p>
          <a:p>
            <a:pPr algn="l">
              <a:lnSpc>
                <a:spcPct val="118000"/>
              </a:lnSpc>
              <a:spcAft>
                <a:spcPts val="1100"/>
              </a:spcAft>
            </a:pPr>
            <a:r>
              <a:rPr sz="1150" i="0" b="0">
                <a:solidFill>
                  <a:srgbClr val="22222A"/>
                </a:solidFill>
                <a:latin typeface="Calibri"/>
              </a:rPr>
              <a:t>But 94.7% of NovaCorp-Origin staff were hired before the window opened, so we never see their first year. Entity_C cannot contain anyone above 9 months' tenure, so </a:t>
            </a:r>
            <a:r>
              <a:rPr sz="1150" i="0" b="1">
                <a:solidFill>
                  <a:srgbClr val="460073"/>
                </a:solidFill>
                <a:latin typeface="Calibri"/>
              </a:rPr>
              <a:t>100% of its exits are early exits by construction</a:t>
            </a:r>
            <a:r>
              <a:rPr sz="1150" i="0" b="0">
                <a:solidFill>
                  <a:srgbClr val="22222A"/>
                </a:solidFill>
                <a:latin typeface="Calibri"/>
              </a:rPr>
              <a:t>.</a:t>
            </a:r>
          </a:p>
          <a:p>
            <a:pPr algn="l">
              <a:lnSpc>
                <a:spcPct val="118000"/>
              </a:lnSpc>
              <a:spcAft>
                <a:spcPts val="1100"/>
              </a:spcAft>
            </a:pPr>
            <a:r>
              <a:rPr sz="1150" i="0" b="0">
                <a:solidFill>
                  <a:srgbClr val="22222A"/>
                </a:solidFill>
                <a:latin typeface="Calibri"/>
              </a:rPr>
              <a:t>The comparison measured </a:t>
            </a:r>
            <a:r>
              <a:rPr sz="1150" i="0" b="1">
                <a:solidFill>
                  <a:srgbClr val="460073"/>
                </a:solidFill>
                <a:latin typeface="Calibri"/>
              </a:rPr>
              <a:t>who we can observe</a:t>
            </a:r>
            <a:r>
              <a:rPr sz="1150" i="0" b="0">
                <a:solidFill>
                  <a:srgbClr val="22222A"/>
                </a:solidFill>
                <a:latin typeface="Calibri"/>
              </a:rPr>
              <a:t>, not who leaves early.</a:t>
            </a:r>
          </a:p>
        </p:txBody>
      </p:sp>
      <p:sp>
        <p:nvSpPr>
          <p:cNvPr id="9" name="TextBox 8"/>
          <p:cNvSpPr txBox="1"/>
          <p:nvPr/>
        </p:nvSpPr>
        <p:spPr>
          <a:xfrm>
            <a:off x="6400800"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00B7C3"/>
                </a:solidFill>
                <a:latin typeface="Calibri"/>
              </a:rPr>
              <a:t>THE FIX</a:t>
            </a:r>
          </a:p>
        </p:txBody>
      </p:sp>
      <p:graphicFrame>
        <p:nvGraphicFramePr>
          <p:cNvPr id="10" name="Table 9"/>
          <p:cNvGraphicFramePr>
            <a:graphicFrameLocks noGrp="1"/>
          </p:cNvGraphicFramePr>
          <p:nvPr/>
        </p:nvGraphicFramePr>
        <p:xfrm>
          <a:off x="6400800" y="1828800"/>
          <a:ext cx="5212080" cy="1389888"/>
        </p:xfrm>
        <a:graphic>
          <a:graphicData uri="http://schemas.openxmlformats.org/drawingml/2006/table">
            <a:tbl>
              <a:tblPr firstRow="1" bandRow="1">
                <a:tableStyleId>{5C22544A-7EE6-4342-B048-85BDC9FD1C3A}</a:tableStyleId>
              </a:tblPr>
              <a:tblGrid>
                <a:gridCol w="2103120"/>
                <a:gridCol w="914400"/>
                <a:gridCol w="1188720"/>
                <a:gridCol w="1005840"/>
              </a:tblGrid>
              <a:tr h="347472">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n</a:t>
                      </a:r>
                    </a:p>
                  </a:txBody>
                  <a:tcPr marL="91440" marR="73152" marT="27432" marB="27432" anchor="ctr">
                    <a:solidFill>
                      <a:srgbClr val="460073"/>
                    </a:solidFill>
                  </a:tcPr>
                </a:tc>
                <a:tc>
                  <a:txBody>
                    <a:bodyPr wrap="square"/>
                    <a:lstStyle/>
                    <a:p>
                      <a:pPr algn="ctr"/>
                      <a:r>
                        <a:rPr sz="1150" b="1">
                          <a:solidFill>
                            <a:srgbClr val="FFFFFF"/>
                          </a:solidFill>
                          <a:latin typeface="Calibri"/>
                        </a:rPr>
                        <a:t>early exits</a:t>
                      </a:r>
                    </a:p>
                  </a:txBody>
                  <a:tcPr marL="91440" marR="73152" marT="27432" marB="27432" anchor="ctr">
                    <a:solidFill>
                      <a:srgbClr val="460073"/>
                    </a:solidFill>
                  </a:tcPr>
                </a:tc>
                <a:tc>
                  <a:txBody>
                    <a:bodyPr wrap="square"/>
                    <a:lstStyle/>
                    <a:p>
                      <a:pPr algn="ctr"/>
                      <a:r>
                        <a:rPr sz="1150" b="1">
                          <a:solidFill>
                            <a:srgbClr val="FFFFFF"/>
                          </a:solidFill>
                          <a:latin typeface="Calibri"/>
                        </a:rPr>
                        <a:t>rate</a:t>
                      </a:r>
                    </a:p>
                  </a:txBody>
                  <a:tcPr marL="91440" marR="73152" marT="27432" marB="27432" anchor="ctr">
                    <a:solidFill>
                      <a:srgbClr val="460073"/>
                    </a:solidFill>
                  </a:tcPr>
                </a:tc>
              </a:tr>
              <a:tr h="347472">
                <a:tc>
                  <a:txBody>
                    <a:bodyPr wrap="square"/>
                    <a:lstStyle/>
                    <a:p>
                      <a:pPr algn="l"/>
                      <a:r>
                        <a:rPr sz="1100" b="0">
                          <a:solidFill>
                            <a:srgbClr val="22222A"/>
                          </a:solidFill>
                          <a:latin typeface="Calibri"/>
                        </a:rPr>
                        <a:t>NovaCorp-Origin</a:t>
                      </a:r>
                    </a:p>
                  </a:txBody>
                  <a:tcPr marL="91440" marR="73152" marT="27432" marB="27432" anchor="ctr">
                    <a:solidFill>
                      <a:srgbClr val="FFFFFF"/>
                    </a:solidFill>
                  </a:tcPr>
                </a:tc>
                <a:tc>
                  <a:txBody>
                    <a:bodyPr wrap="square"/>
                    <a:lstStyle/>
                    <a:p>
                      <a:pPr algn="ctr"/>
                      <a:r>
                        <a:rPr sz="1100" b="0">
                          <a:solidFill>
                            <a:srgbClr val="22222A"/>
                          </a:solidFill>
                          <a:latin typeface="Calibri"/>
                        </a:rPr>
                        <a:t>455</a:t>
                      </a:r>
                    </a:p>
                  </a:txBody>
                  <a:tcPr marL="91440" marR="73152" marT="27432" marB="27432" anchor="ctr">
                    <a:solidFill>
                      <a:srgbClr val="FFFFFF"/>
                    </a:solidFill>
                  </a:tcPr>
                </a:tc>
                <a:tc>
                  <a:txBody>
                    <a:bodyPr wrap="square"/>
                    <a:lstStyle/>
                    <a:p>
                      <a:pPr algn="ctr"/>
                      <a:r>
                        <a:rPr sz="1100" b="0">
                          <a:solidFill>
                            <a:srgbClr val="22222A"/>
                          </a:solidFill>
                          <a:latin typeface="Calibri"/>
                        </a:rPr>
                        <a:t>29</a:t>
                      </a:r>
                    </a:p>
                  </a:txBody>
                  <a:tcPr marL="91440" marR="73152" marT="27432" marB="27432" anchor="ctr">
                    <a:solidFill>
                      <a:srgbClr val="FFFFFF"/>
                    </a:solidFill>
                  </a:tcPr>
                </a:tc>
                <a:tc>
                  <a:txBody>
                    <a:bodyPr wrap="square"/>
                    <a:lstStyle/>
                    <a:p>
                      <a:pPr algn="ctr"/>
                      <a:r>
                        <a:rPr sz="1100" b="0">
                          <a:solidFill>
                            <a:srgbClr val="22222A"/>
                          </a:solidFill>
                          <a:latin typeface="Calibri"/>
                        </a:rPr>
                        <a:t>6.4%</a:t>
                      </a:r>
                    </a:p>
                  </a:txBody>
                  <a:tcPr marL="91440" marR="73152" marT="27432" marB="27432" anchor="ctr">
                    <a:solidFill>
                      <a:srgbClr val="FFFFFF"/>
                    </a:solidFill>
                  </a:tcPr>
                </a:tc>
              </a:tr>
              <a:tr h="347472">
                <a:tc>
                  <a:txBody>
                    <a:bodyPr wrap="square"/>
                    <a:lstStyle/>
                    <a:p>
                      <a:pPr algn="l"/>
                      <a:r>
                        <a:rPr sz="1100" b="0">
                          <a:solidFill>
                            <a:srgbClr val="22222A"/>
                          </a:solidFill>
                          <a:latin typeface="Calibri"/>
                        </a:rPr>
                        <a:t>Entity_C</a:t>
                      </a:r>
                    </a:p>
                  </a:txBody>
                  <a:tcPr marL="91440" marR="73152" marT="27432" marB="27432" anchor="ctr">
                    <a:solidFill>
                      <a:srgbClr val="F8F8FB"/>
                    </a:solidFill>
                  </a:tcPr>
                </a:tc>
                <a:tc>
                  <a:txBody>
                    <a:bodyPr wrap="square"/>
                    <a:lstStyle/>
                    <a:p>
                      <a:pPr algn="ctr"/>
                      <a:r>
                        <a:rPr sz="1100" b="0">
                          <a:solidFill>
                            <a:srgbClr val="22222A"/>
                          </a:solidFill>
                          <a:latin typeface="Calibri"/>
                        </a:rPr>
                        <a:t>1,014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8.4%</a:t>
                      </a:r>
                    </a:p>
                  </a:txBody>
                  <a:tcPr marL="91440" marR="73152" marT="27432" marB="27432" anchor="ctr">
                    <a:solidFill>
                      <a:srgbClr val="F8F8FB"/>
                    </a:solidFill>
                  </a:tcPr>
                </a:tc>
              </a:tr>
              <a:tr h="347472">
                <a:tc>
                  <a:txBody>
                    <a:bodyPr wrap="square"/>
                    <a:lstStyle/>
                    <a:p>
                      <a:pPr algn="l"/>
                      <a:r>
                        <a:rPr sz="1100" b="0">
                          <a:solidFill>
                            <a:srgbClr val="22222A"/>
                          </a:solidFill>
                          <a:latin typeface="Calibri"/>
                        </a:rPr>
                        <a:t>Entity_B</a:t>
                      </a:r>
                    </a:p>
                  </a:txBody>
                  <a:tcPr marL="91440" marR="73152" marT="27432" marB="27432" anchor="ctr">
                    <a:solidFill>
                      <a:srgbClr val="FFFFFF"/>
                    </a:solidFill>
                  </a:tcPr>
                </a:tc>
                <a:tc>
                  <a:txBody>
                    <a:bodyPr wrap="square"/>
                    <a:lstStyle/>
                    <a:p>
                      <a:pPr algn="ctr"/>
                      <a:r>
                        <a:rPr sz="1100" b="0">
                          <a:solidFill>
                            <a:srgbClr val="22222A"/>
                          </a:solidFill>
                          <a:latin typeface="Calibri"/>
                        </a:rPr>
                        <a:t>1,884</a:t>
                      </a:r>
                    </a:p>
                  </a:txBody>
                  <a:tcPr marL="91440" marR="73152" marT="27432" marB="27432" anchor="ctr">
                    <a:solidFill>
                      <a:srgbClr val="FFFFFF"/>
                    </a:solidFill>
                  </a:tcPr>
                </a:tc>
                <a:tc>
                  <a:txBody>
                    <a:bodyPr wrap="square"/>
                    <a:lstStyle/>
                    <a:p>
                      <a:pPr algn="ctr"/>
                      <a:r>
                        <a:rPr sz="1100" b="0">
                          <a:solidFill>
                            <a:srgbClr val="22222A"/>
                          </a:solidFill>
                          <a:latin typeface="Calibri"/>
                        </a:rPr>
                        <a:t>192</a:t>
                      </a:r>
                    </a:p>
                  </a:txBody>
                  <a:tcPr marL="91440" marR="73152" marT="27432" marB="27432" anchor="ctr">
                    <a:solidFill>
                      <a:srgbClr val="FFFFFF"/>
                    </a:solidFill>
                  </a:tcPr>
                </a:tc>
                <a:tc>
                  <a:txBody>
                    <a:bodyPr wrap="square"/>
                    <a:lstStyle/>
                    <a:p>
                      <a:pPr algn="ctr"/>
                      <a:r>
                        <a:rPr sz="1100" b="0">
                          <a:solidFill>
                            <a:srgbClr val="22222A"/>
                          </a:solidFill>
                          <a:latin typeface="Calibri"/>
                        </a:rPr>
                        <a:t>10.2%</a:t>
                      </a:r>
                    </a:p>
                  </a:txBody>
                  <a:tcPr marL="91440" marR="73152" marT="27432" marB="27432" anchor="ctr">
                    <a:solidFill>
                      <a:srgbClr val="FFFFFF"/>
                    </a:solidFill>
                  </a:tcPr>
                </a:tc>
              </a:tr>
            </a:tbl>
          </a:graphicData>
        </a:graphic>
      </p:graphicFrame>
      <p:sp>
        <p:nvSpPr>
          <p:cNvPr id="11" name="TextBox 10"/>
          <p:cNvSpPr txBox="1"/>
          <p:nvPr/>
        </p:nvSpPr>
        <p:spPr>
          <a:xfrm>
            <a:off x="6400800" y="3337560"/>
            <a:ext cx="5212080" cy="640080"/>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Restricted to people hired inside the window, so everyone is observed from tenure 0. Cross-checked with a left-truncated Kaplan-Meier.</a:t>
            </a:r>
          </a:p>
        </p:txBody>
      </p:sp>
      <p:graphicFrame>
        <p:nvGraphicFramePr>
          <p:cNvPr id="12" name="Table 11"/>
          <p:cNvGraphicFramePr>
            <a:graphicFrameLocks noGrp="1"/>
          </p:cNvGraphicFramePr>
          <p:nvPr/>
        </p:nvGraphicFramePr>
        <p:xfrm>
          <a:off x="566928" y="4114800"/>
          <a:ext cx="11064240" cy="1536192"/>
        </p:xfrm>
        <a:graphic>
          <a:graphicData uri="http://schemas.openxmlformats.org/drawingml/2006/table">
            <a:tbl>
              <a:tblPr firstRow="1" bandRow="1">
                <a:tableStyleId>{5C22544A-7EE6-4342-B048-85BDC9FD1C3A}</a:tableStyleId>
              </a:tblPr>
              <a:tblGrid>
                <a:gridCol w="2743200"/>
                <a:gridCol w="3108960"/>
                <a:gridCol w="2468880"/>
                <a:gridCol w="2743200"/>
              </a:tblGrid>
              <a:tr h="384048">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rate vs 6.4% baseline</a:t>
                      </a:r>
                    </a:p>
                  </a:txBody>
                  <a:tcPr marL="91440" marR="73152" marT="27432" marB="27432" anchor="ctr">
                    <a:solidFill>
                      <a:srgbClr val="460073"/>
                    </a:solidFill>
                  </a:tcPr>
                </a:tc>
                <a:tc>
                  <a:txBody>
                    <a:bodyPr wrap="square"/>
                    <a:lstStyle/>
                    <a:p>
                      <a:pPr algn="ctr"/>
                      <a:r>
                        <a:rPr sz="1150" b="1">
                          <a:solidFill>
                            <a:srgbClr val="FFFFFF"/>
                          </a:solidFill>
                          <a:latin typeface="Calibri"/>
                        </a:rPr>
                        <a:t>excess exits</a:t>
                      </a:r>
                    </a:p>
                  </a:txBody>
                  <a:tcPr marL="91440" marR="73152" marT="27432" marB="27432" anchor="ctr">
                    <a:solidFill>
                      <a:srgbClr val="460073"/>
                    </a:solidFill>
                  </a:tcPr>
                </a:tc>
                <a:tc>
                  <a:txBody>
                    <a:bodyPr wrap="square"/>
                    <a:lstStyle/>
                    <a:p>
                      <a:pPr algn="ctr"/>
                      <a:r>
                        <a:rPr sz="1150" b="1">
                          <a:solidFill>
                            <a:srgbClr val="FFFFFF"/>
                          </a:solidFill>
                          <a:latin typeface="Calibri"/>
                        </a:rPr>
                        <a:t>cost</a:t>
                      </a:r>
                    </a:p>
                  </a:txBody>
                  <a:tcPr marL="91440" marR="73152" marT="27432" marB="27432" anchor="ctr">
                    <a:solidFill>
                      <a:srgbClr val="460073"/>
                    </a:solidFill>
                  </a:tcPr>
                </a:tc>
              </a:tr>
              <a:tr h="384048">
                <a:tc>
                  <a:txBody>
                    <a:bodyPr wrap="square"/>
                    <a:lstStyle/>
                    <a:p>
                      <a:pPr algn="l"/>
                      <a:r>
                        <a:rPr sz="1200" b="0">
                          <a:solidFill>
                            <a:srgbClr val="22222A"/>
                          </a:solidFill>
                          <a:latin typeface="Calibri"/>
                        </a:rPr>
                        <a:t>Entity_B</a:t>
                      </a:r>
                    </a:p>
                  </a:txBody>
                  <a:tcPr marL="91440" marR="73152" marT="27432" marB="27432" anchor="ctr">
                    <a:solidFill>
                      <a:srgbClr val="FFFFFF"/>
                    </a:solidFill>
                  </a:tcPr>
                </a:tc>
                <a:tc>
                  <a:txBody>
                    <a:bodyPr wrap="square"/>
                    <a:lstStyle/>
                    <a:p>
                      <a:pPr algn="ctr"/>
                      <a:r>
                        <a:rPr sz="1200" b="0">
                          <a:solidFill>
                            <a:srgbClr val="22222A"/>
                          </a:solidFill>
                          <a:latin typeface="Calibri"/>
                        </a:rPr>
                        <a:t>10.2%</a:t>
                      </a:r>
                    </a:p>
                  </a:txBody>
                  <a:tcPr marL="91440" marR="73152" marT="27432" marB="27432" anchor="ctr">
                    <a:solidFill>
                      <a:srgbClr val="FFFFFF"/>
                    </a:solidFill>
                  </a:tcPr>
                </a:tc>
                <a:tc>
                  <a:txBody>
                    <a:bodyPr wrap="square"/>
                    <a:lstStyle/>
                    <a:p>
                      <a:pPr algn="ctr"/>
                      <a:r>
                        <a:rPr sz="1200" b="0">
                          <a:solidFill>
                            <a:srgbClr val="22222A"/>
                          </a:solidFill>
                          <a:latin typeface="Calibri"/>
                        </a:rPr>
                        <a:t>72</a:t>
                      </a:r>
                    </a:p>
                  </a:txBody>
                  <a:tcPr marL="91440" marR="73152" marT="27432" marB="27432" anchor="ctr">
                    <a:solidFill>
                      <a:srgbClr val="FFFFFF"/>
                    </a:solidFill>
                  </a:tcPr>
                </a:tc>
                <a:tc>
                  <a:txBody>
                    <a:bodyPr wrap="square"/>
                    <a:lstStyle/>
                    <a:p>
                      <a:pPr algn="ctr"/>
                      <a:r>
                        <a:rPr sz="1200" b="0">
                          <a:solidFill>
                            <a:srgbClr val="22222A"/>
                          </a:solidFill>
                          <a:latin typeface="Calibri"/>
                        </a:rPr>
                        <a:t>$6.2M/yr</a:t>
                      </a:r>
                    </a:p>
                  </a:txBody>
                  <a:tcPr marL="91440" marR="73152" marT="27432" marB="27432" anchor="ctr">
                    <a:solidFill>
                      <a:srgbClr val="FFFFFF"/>
                    </a:solidFill>
                  </a:tcPr>
                </a:tc>
              </a:tr>
              <a:tr h="384048">
                <a:tc>
                  <a:txBody>
                    <a:bodyPr wrap="square"/>
                    <a:lstStyle/>
                    <a:p>
                      <a:pPr algn="l"/>
                      <a:r>
                        <a:rPr sz="1200" b="0">
                          <a:solidFill>
                            <a:srgbClr val="22222A"/>
                          </a:solidFill>
                          <a:latin typeface="Calibri"/>
                        </a:rPr>
                        <a:t>Entity_C</a:t>
                      </a:r>
                    </a:p>
                  </a:txBody>
                  <a:tcPr marL="91440" marR="73152" marT="27432" marB="27432" anchor="ctr">
                    <a:solidFill>
                      <a:srgbClr val="F8F8FB"/>
                    </a:solidFill>
                  </a:tcPr>
                </a:tc>
                <a:tc>
                  <a:txBody>
                    <a:bodyPr wrap="square"/>
                    <a:lstStyle/>
                    <a:p>
                      <a:pPr algn="ctr"/>
                      <a:r>
                        <a:rPr sz="1200" b="0">
                          <a:solidFill>
                            <a:srgbClr val="22222A"/>
                          </a:solidFill>
                          <a:latin typeface="Calibri"/>
                        </a:rPr>
                        <a:t>8.4%</a:t>
                      </a:r>
                    </a:p>
                  </a:txBody>
                  <a:tcPr marL="91440" marR="73152" marT="27432" marB="27432" anchor="ctr">
                    <a:solidFill>
                      <a:srgbClr val="F8F8FB"/>
                    </a:solidFill>
                  </a:tcPr>
                </a:tc>
                <a:tc>
                  <a:txBody>
                    <a:bodyPr wrap="square"/>
                    <a:lstStyle/>
                    <a:p>
                      <a:pPr algn="ctr"/>
                      <a:r>
                        <a:rPr sz="1200" b="0">
                          <a:solidFill>
                            <a:srgbClr val="22222A"/>
                          </a:solidFill>
                          <a:latin typeface="Calibri"/>
                        </a:rPr>
                        <a:t>20</a:t>
                      </a:r>
                    </a:p>
                  </a:txBody>
                  <a:tcPr marL="91440" marR="73152" marT="27432" marB="27432" anchor="ctr">
                    <a:solidFill>
                      <a:srgbClr val="F8F8FB"/>
                    </a:solidFill>
                  </a:tcPr>
                </a:tc>
                <a:tc>
                  <a:txBody>
                    <a:bodyPr wrap="square"/>
                    <a:lstStyle/>
                    <a:p>
                      <a:pPr algn="ctr"/>
                      <a:r>
                        <a:rPr sz="1200" b="0">
                          <a:solidFill>
                            <a:srgbClr val="22222A"/>
                          </a:solidFill>
                          <a:latin typeface="Calibri"/>
                        </a:rPr>
                        <a:t>$1.8M/yr</a:t>
                      </a:r>
                    </a:p>
                  </a:txBody>
                  <a:tcPr marL="91440" marR="73152" marT="27432" marB="27432" anchor="ctr">
                    <a:solidFill>
                      <a:srgbClr val="F8F8FB"/>
                    </a:solidFill>
                  </a:tcPr>
                </a:tc>
              </a:tr>
              <a:tr h="384048">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
                      </a:r>
                    </a:p>
                  </a:txBody>
                  <a:tcPr marL="91440" marR="73152" marT="27432" marB="27432" anchor="ctr">
                    <a:solidFill>
                      <a:srgbClr val="F4E9FF"/>
                    </a:solidFill>
                  </a:tcPr>
                </a:tc>
                <a:tc>
                  <a:txBody>
                    <a:bodyPr wrap="square"/>
                    <a:lstStyle/>
                    <a:p>
                      <a:pPr algn="ctr"/>
                      <a:r>
                        <a:rPr sz="1200" b="1">
                          <a:solidFill>
                            <a:srgbClr val="22222A"/>
                          </a:solidFill>
                          <a:latin typeface="Calibri"/>
                        </a:rPr>
                        <a:t>92</a:t>
                      </a:r>
                    </a:p>
                  </a:txBody>
                  <a:tcPr marL="91440" marR="73152" marT="27432" marB="27432" anchor="ctr">
                    <a:solidFill>
                      <a:srgbClr val="F4E9FF"/>
                    </a:solidFill>
                  </a:tcPr>
                </a:tc>
                <a:tc>
                  <a:txBody>
                    <a:bodyPr wrap="square"/>
                    <a:lstStyle/>
                    <a:p>
                      <a:pPr algn="ctr"/>
                      <a:r>
                        <a:rPr sz="1200" b="1">
                          <a:solidFill>
                            <a:srgbClr val="22222A"/>
                          </a:solidFill>
                          <a:latin typeface="Calibri"/>
                        </a:rPr>
                        <a:t>$7.9M/yr</a:t>
                      </a:r>
                    </a:p>
                  </a:txBody>
                  <a:tcPr marL="91440" marR="73152" marT="27432" marB="27432" anchor="ctr">
                    <a:solidFill>
                      <a:srgbClr val="F4E9FF"/>
                    </a:solidFill>
                  </a:tcPr>
                </a:tc>
              </a:tr>
            </a:tbl>
          </a:graphicData>
        </a:graphic>
      </p:graphicFrame>
      <p:sp>
        <p:nvSpPr>
          <p:cNvPr id="13" name="Rectangle 12"/>
          <p:cNvSpPr/>
          <p:nvPr/>
        </p:nvSpPr>
        <p:spPr>
          <a:xfrm>
            <a:off x="566928" y="5760720"/>
            <a:ext cx="50292" cy="56692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760720"/>
            <a:ext cx="10771632" cy="56692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the excess over baseline is addressable. The old figure counted the ~6.4% early attrition every employer carries. Two claims were retracted with it: see A12.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findings we rely 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comparison in this deck, the test behind it, and the result. Run with scipy.stats, threshold p &lt; 0.05. Survey comparisons average each employee across waves first, so nobody is counted five times. Attrition rates are annualised voluntary on active headcount.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19072"/>
          <a:ext cx="11064240" cy="4023360"/>
        </p:xfrm>
        <a:graphic>
          <a:graphicData uri="http://schemas.openxmlformats.org/drawingml/2006/table">
            <a:tbl>
              <a:tblPr firstRow="1" bandRow="1">
                <a:tableStyleId>{5C22544A-7EE6-4342-B048-85BDC9FD1C3A}</a:tableStyleId>
              </a:tblPr>
              <a:tblGrid>
                <a:gridCol w="384048"/>
                <a:gridCol w="3794760"/>
                <a:gridCol w="2240280"/>
                <a:gridCol w="2331720"/>
                <a:gridCol w="1234440"/>
                <a:gridCol w="1078992"/>
              </a:tblGrid>
              <a:tr h="251460">
                <a:tc>
                  <a:txBody>
                    <a:bodyPr wrap="square"/>
                    <a:lstStyle/>
                    <a:p>
                      <a:pPr algn="l"/>
                      <a:r>
                        <a:rPr sz="900" b="1">
                          <a:solidFill>
                            <a:srgbClr val="FFFFFF"/>
                          </a:solidFill>
                          <a:latin typeface="Calibri"/>
                        </a:rPr>
                        <a:t>#</a:t>
                      </a:r>
                    </a:p>
                  </a:txBody>
                  <a:tcPr marL="91440" marR="73152" marT="27432" marB="27432" anchor="ctr">
                    <a:solidFill>
                      <a:srgbClr val="460073"/>
                    </a:solidFill>
                  </a:tcPr>
                </a:tc>
                <a:tc>
                  <a:txBody>
                    <a:bodyPr wrap="square"/>
                    <a:lstStyle/>
                    <a:p>
                      <a:pPr algn="l"/>
                      <a:r>
                        <a:rPr sz="900" b="1">
                          <a:solidFill>
                            <a:srgbClr val="FFFFFF"/>
                          </a:solidFill>
                          <a:latin typeface="Calibri"/>
                        </a:rPr>
                        <a:t>Claim</a:t>
                      </a:r>
                    </a:p>
                  </a:txBody>
                  <a:tcPr marL="91440" marR="73152" marT="27432" marB="27432" anchor="ctr">
                    <a:solidFill>
                      <a:srgbClr val="460073"/>
                    </a:solidFill>
                  </a:tcPr>
                </a:tc>
                <a:tc>
                  <a:txBody>
                    <a:bodyPr wrap="square"/>
                    <a:lstStyle/>
                    <a:p>
                      <a:pPr algn="l"/>
                      <a:r>
                        <a:rPr sz="900" b="1">
                          <a:solidFill>
                            <a:srgbClr val="FFFFFF"/>
                          </a:solidFill>
                          <a:latin typeface="Calibri"/>
                        </a:rPr>
                        <a:t>Test</a:t>
                      </a:r>
                    </a:p>
                  </a:txBody>
                  <a:tcPr marL="91440" marR="73152" marT="27432" marB="27432" anchor="ctr">
                    <a:solidFill>
                      <a:srgbClr val="460073"/>
                    </a:solidFill>
                  </a:tcPr>
                </a:tc>
                <a:tc>
                  <a:txBody>
                    <a:bodyPr wrap="square"/>
                    <a:lstStyle/>
                    <a:p>
                      <a:pPr algn="ctr"/>
                      <a:r>
                        <a:rPr sz="900" b="1">
                          <a:solidFill>
                            <a:srgbClr val="FFFFFF"/>
                          </a:solidFill>
                          <a:latin typeface="Calibri"/>
                        </a:rPr>
                        <a:t>Result</a:t>
                      </a:r>
                    </a:p>
                  </a:txBody>
                  <a:tcPr marL="91440" marR="73152" marT="27432" marB="27432" anchor="ctr">
                    <a:solidFill>
                      <a:srgbClr val="460073"/>
                    </a:solidFill>
                  </a:tcPr>
                </a:tc>
                <a:tc>
                  <a:txBody>
                    <a:bodyPr wrap="square"/>
                    <a:lstStyle/>
                    <a:p>
                      <a:pPr algn="ctr"/>
                      <a:r>
                        <a:rPr sz="900" b="1">
                          <a:solidFill>
                            <a:srgbClr val="FFFFFF"/>
                          </a:solidFill>
                          <a:latin typeface="Calibri"/>
                        </a:rPr>
                        <a:t>p</a:t>
                      </a:r>
                    </a:p>
                  </a:txBody>
                  <a:tcPr marL="91440" marR="73152" marT="27432" marB="27432" anchor="ctr">
                    <a:solidFill>
                      <a:srgbClr val="460073"/>
                    </a:solidFill>
                  </a:tcPr>
                </a:tc>
                <a:tc>
                  <a:txBody>
                    <a:bodyPr wrap="square"/>
                    <a:lstStyle/>
                    <a:p>
                      <a:pPr algn="ctr"/>
                      <a:r>
                        <a:rPr sz="900" b="1">
                          <a:solidFill>
                            <a:srgbClr val="FFFFFF"/>
                          </a:solidFill>
                          <a:latin typeface="Calibri"/>
                        </a:rPr>
                        <a:t>n</a:t>
                      </a:r>
                    </a:p>
                  </a:txBody>
                  <a:tcPr marL="91440" marR="73152" marT="27432" marB="27432" anchor="ctr">
                    <a:solidFill>
                      <a:srgbClr val="460073"/>
                    </a:solidFill>
                  </a:tcPr>
                </a:tc>
              </a:tr>
              <a:tr h="251460">
                <a:tc>
                  <a:txBody>
                    <a:bodyPr wrap="square"/>
                    <a:lstStyle/>
                    <a:p>
                      <a:pPr algn="l"/>
                      <a:r>
                        <a:rPr sz="850" b="0">
                          <a:solidFill>
                            <a:srgbClr val="22222A"/>
                          </a:solidFill>
                          <a:latin typeface="Calibri"/>
                        </a:rPr>
                        <a:t>1</a:t>
                      </a:r>
                    </a:p>
                  </a:txBody>
                  <a:tcPr marL="91440" marR="73152" marT="27432" marB="27432" anchor="ctr">
                    <a:solidFill>
                      <a:srgbClr val="FFFFFF"/>
                    </a:solidFill>
                  </a:tcPr>
                </a:tc>
                <a:tc>
                  <a:txBody>
                    <a:bodyPr wrap="square"/>
                    <a:lstStyle/>
                    <a:p>
                      <a:pPr algn="l"/>
                      <a:r>
                        <a:rPr sz="850" b="0">
                          <a:solidFill>
                            <a:srgbClr val="22222A"/>
                          </a:solidFill>
                          <a:latin typeface="Calibri"/>
                        </a:rPr>
                        <a:t>Attrition differs by legacy entity</a:t>
                      </a:r>
                    </a:p>
                  </a:txBody>
                  <a:tcPr marL="91440" marR="73152" marT="27432" marB="27432" anchor="ctr">
                    <a:solidFill>
                      <a:srgbClr val="FFFFFF"/>
                    </a:solidFill>
                  </a:tcPr>
                </a:tc>
                <a:tc>
                  <a:txBody>
                    <a:bodyPr wrap="square"/>
                    <a:lstStyle/>
                    <a:p>
                      <a:pPr algn="l"/>
                      <a:r>
                        <a:rPr sz="850" b="0">
                          <a:solidFill>
                            <a:srgbClr val="22222A"/>
                          </a:solidFill>
                          <a:latin typeface="Calibri"/>
                        </a:rPr>
                        <a:t>Chi-square, 4 groups</a:t>
                      </a:r>
                    </a:p>
                  </a:txBody>
                  <a:tcPr marL="91440" marR="73152" marT="27432" marB="27432" anchor="ctr">
                    <a:solidFill>
                      <a:srgbClr val="FFFFFF"/>
                    </a:solidFill>
                  </a:tcPr>
                </a:tc>
                <a:tc>
                  <a:txBody>
                    <a:bodyPr wrap="square"/>
                    <a:lstStyle/>
                    <a:p>
                      <a:pPr algn="ctr"/>
                      <a:r>
                        <a:rPr sz="850" b="0">
                          <a:solidFill>
                            <a:srgbClr val="22222A"/>
                          </a:solidFill>
                          <a:latin typeface="Calibri"/>
                        </a:rPr>
                        <a:t>4.5 / 3.6 / 7.0 / 4.6 %/yr</a:t>
                      </a:r>
                    </a:p>
                  </a:txBody>
                  <a:tcPr marL="91440" marR="73152" marT="27432" marB="27432" anchor="ctr">
                    <a:solidFill>
                      <a:srgbClr val="FFFFFF"/>
                    </a:solidFill>
                  </a:tcPr>
                </a:tc>
                <a:tc>
                  <a:txBody>
                    <a:bodyPr wrap="square"/>
                    <a:lstStyle/>
                    <a:p>
                      <a:pPr algn="ctr"/>
                      <a:r>
                        <a:rPr sz="850" b="0">
                          <a:solidFill>
                            <a:srgbClr val="22222A"/>
                          </a:solidFill>
                          <a:latin typeface="Calibri"/>
                        </a:rPr>
                        <a:t>6.7×10⁻⁹</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2</a:t>
                      </a:r>
                    </a:p>
                  </a:txBody>
                  <a:tcPr marL="91440" marR="73152" marT="27432" marB="27432" anchor="ctr">
                    <a:solidFill>
                      <a:srgbClr val="F8F8FB"/>
                    </a:solidFill>
                  </a:tcPr>
                </a:tc>
                <a:tc>
                  <a:txBody>
                    <a:bodyPr wrap="square"/>
                    <a:lstStyle/>
                    <a:p>
                      <a:pPr algn="l"/>
                      <a:r>
                        <a:rPr sz="850" b="0">
                          <a:solidFill>
                            <a:srgbClr val="22222A"/>
                          </a:solidFill>
                          <a:latin typeface="Calibri"/>
                        </a:rPr>
                        <a:t>Entity_B vs Entity_A specifically</a:t>
                      </a:r>
                    </a:p>
                  </a:txBody>
                  <a:tcPr marL="91440" marR="73152" marT="27432" marB="27432" anchor="ctr">
                    <a:solidFill>
                      <a:srgbClr val="F8F8FB"/>
                    </a:solidFill>
                  </a:tcPr>
                </a:tc>
                <a:tc>
                  <a:txBody>
                    <a:bodyPr wrap="square"/>
                    <a:lstStyle/>
                    <a:p>
                      <a:pPr algn="l"/>
                      <a:r>
                        <a:rPr sz="850" b="0">
                          <a:solidFill>
                            <a:srgbClr val="22222A"/>
                          </a:solidFill>
                          <a:latin typeface="Calibri"/>
                        </a:rPr>
                        <a:t>Chi-square, pairwise</a:t>
                      </a:r>
                    </a:p>
                  </a:txBody>
                  <a:tcPr marL="91440" marR="73152" marT="27432" marB="27432" anchor="ctr">
                    <a:solidFill>
                      <a:srgbClr val="F8F8FB"/>
                    </a:solidFill>
                  </a:tcPr>
                </a:tc>
                <a:tc>
                  <a:txBody>
                    <a:bodyPr wrap="square"/>
                    <a:lstStyle/>
                    <a:p>
                      <a:pPr algn="ctr"/>
                      <a:r>
                        <a:rPr sz="850" b="0">
                          <a:solidFill>
                            <a:srgbClr val="22222A"/>
                          </a:solidFill>
                          <a:latin typeface="Calibri"/>
                        </a:rPr>
                        <a:t>7.0% vs 3.6%/yr</a:t>
                      </a:r>
                    </a:p>
                  </a:txBody>
                  <a:tcPr marL="91440" marR="73152" marT="27432" marB="27432" anchor="ctr">
                    <a:solidFill>
                      <a:srgbClr val="F8F8FB"/>
                    </a:solidFill>
                  </a:tcPr>
                </a:tc>
                <a:tc>
                  <a:txBody>
                    <a:bodyPr wrap="square"/>
                    <a:lstStyle/>
                    <a:p>
                      <a:pPr algn="ctr"/>
                      <a:r>
                        <a:rPr sz="850" b="0">
                          <a:solidFill>
                            <a:srgbClr val="22222A"/>
                          </a:solidFill>
                          <a:latin typeface="Calibri"/>
                        </a:rPr>
                        <a:t>8.0×10⁻⁹</a:t>
                      </a:r>
                    </a:p>
                  </a:txBody>
                  <a:tcPr marL="91440" marR="73152" marT="27432" marB="27432" anchor="ctr">
                    <a:solidFill>
                      <a:srgbClr val="F8F8FB"/>
                    </a:solidFill>
                  </a:tcPr>
                </a:tc>
                <a:tc>
                  <a:txBody>
                    <a:bodyPr wrap="square"/>
                    <a:lstStyle/>
                    <a:p>
                      <a:pPr algn="ctr"/>
                      <a:r>
                        <a:rPr sz="850" b="0">
                          <a:solidFill>
                            <a:srgbClr val="22222A"/>
                          </a:solidFill>
                          <a:latin typeface="Calibri"/>
                        </a:rPr>
                        <a:t>1,601 / 1,804</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3</a:t>
                      </a:r>
                    </a:p>
                  </a:txBody>
                  <a:tcPr marL="91440" marR="73152" marT="27432" marB="27432" anchor="ctr">
                    <a:solidFill>
                      <a:srgbClr val="FFFFFF"/>
                    </a:solidFill>
                  </a:tcPr>
                </a:tc>
                <a:tc>
                  <a:txBody>
                    <a:bodyPr wrap="square"/>
                    <a:lstStyle/>
                    <a:p>
                      <a:pPr algn="l"/>
                      <a:r>
                        <a:rPr sz="850" b="0">
                          <a:solidFill>
                            <a:srgbClr val="22222A"/>
                          </a:solidFill>
                          <a:latin typeface="Calibri"/>
                        </a:rPr>
                        <a:t>Senior leadership trust collapsed</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3.352 → 3.051 (−0.301)</a:t>
                      </a:r>
                    </a:p>
                  </a:txBody>
                  <a:tcPr marL="91440" marR="73152" marT="27432" marB="27432" anchor="ctr">
                    <a:solidFill>
                      <a:srgbClr val="FFFFFF"/>
                    </a:solidFill>
                  </a:tcPr>
                </a:tc>
                <a:tc>
                  <a:txBody>
                    <a:bodyPr wrap="square"/>
                    <a:lstStyle/>
                    <a:p>
                      <a:pPr algn="ctr"/>
                      <a:r>
                        <a:rPr sz="850" b="0">
                          <a:solidFill>
                            <a:srgbClr val="22222A"/>
                          </a:solidFill>
                          <a:latin typeface="Calibri"/>
                        </a:rPr>
                        <a:t>1.5×10⁻²⁵</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4</a:t>
                      </a:r>
                    </a:p>
                  </a:txBody>
                  <a:tcPr marL="91440" marR="73152" marT="27432" marB="27432" anchor="ctr">
                    <a:solidFill>
                      <a:srgbClr val="F8F8FB"/>
                    </a:solidFill>
                  </a:tcPr>
                </a:tc>
                <a:tc>
                  <a:txBody>
                    <a:bodyPr wrap="square"/>
                    <a:lstStyle/>
                    <a:p>
                      <a:pPr algn="l"/>
                      <a:r>
                        <a:rPr sz="850" b="0">
                          <a:solidFill>
                            <a:srgbClr val="22222A"/>
                          </a:solidFill>
                          <a:latin typeface="Calibri"/>
                        </a:rPr>
                        <a:t>Purpose &amp; meaning collapsed</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3.358 → 3.058 (−0.300)</a:t>
                      </a:r>
                    </a:p>
                  </a:txBody>
                  <a:tcPr marL="91440" marR="73152" marT="27432" marB="27432" anchor="ctr">
                    <a:solidFill>
                      <a:srgbClr val="F8F8FB"/>
                    </a:solidFill>
                  </a:tcPr>
                </a:tc>
                <a:tc>
                  <a:txBody>
                    <a:bodyPr wrap="square"/>
                    <a:lstStyle/>
                    <a:p>
                      <a:pPr algn="ctr"/>
                      <a:r>
                        <a:rPr sz="850" b="0">
                          <a:solidFill>
                            <a:srgbClr val="22222A"/>
                          </a:solidFill>
                          <a:latin typeface="Calibri"/>
                        </a:rPr>
                        <a:t>2.6×10⁻²⁵</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5</a:t>
                      </a:r>
                    </a:p>
                  </a:txBody>
                  <a:tcPr marL="91440" marR="73152" marT="27432" marB="27432" anchor="ctr">
                    <a:solidFill>
                      <a:srgbClr val="FFFFFF"/>
                    </a:solidFill>
                  </a:tcPr>
                </a:tc>
                <a:tc>
                  <a:txBody>
                    <a:bodyPr wrap="square"/>
                    <a:lstStyle/>
                    <a:p>
                      <a:pPr algn="l"/>
                      <a:r>
                        <a:rPr sz="850" b="0">
                          <a:solidFill>
                            <a:srgbClr val="22222A"/>
                          </a:solidFill>
                          <a:latin typeface="Calibri"/>
                        </a:rPr>
                        <a:t>…and holds among active staff only</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same direction</a:t>
                      </a:r>
                    </a:p>
                  </a:txBody>
                  <a:tcPr marL="91440" marR="73152" marT="27432" marB="27432" anchor="ctr">
                    <a:solidFill>
                      <a:srgbClr val="FFFFFF"/>
                    </a:solidFill>
                  </a:tcPr>
                </a:tc>
                <a:tc>
                  <a:txBody>
                    <a:bodyPr wrap="square"/>
                    <a:lstStyle/>
                    <a:p>
                      <a:pPr algn="ctr"/>
                      <a:r>
                        <a:rPr sz="850" b="0">
                          <a:solidFill>
                            <a:srgbClr val="22222A"/>
                          </a:solidFill>
                          <a:latin typeface="Calibri"/>
                        </a:rPr>
                        <a:t>4.6×10⁻²⁵</a:t>
                      </a:r>
                    </a:p>
                  </a:txBody>
                  <a:tcPr marL="91440" marR="73152" marT="27432" marB="27432" anchor="ctr">
                    <a:solidFill>
                      <a:srgbClr val="FFFFFF"/>
                    </a:solidFill>
                  </a:tcPr>
                </a:tc>
                <a:tc>
                  <a:txBody>
                    <a:bodyPr wrap="square"/>
                    <a:lstStyle/>
                    <a:p>
                      <a:pPr algn="ctr"/>
                      <a:r>
                        <a:rPr sz="850" b="0">
                          <a:solidFill>
                            <a:srgbClr val="22222A"/>
                          </a:solidFill>
                          <a:latin typeface="Calibri"/>
                        </a:rPr>
                        <a:t>active only</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6</a:t>
                      </a:r>
                    </a:p>
                  </a:txBody>
                  <a:tcPr marL="91440" marR="73152" marT="27432" marB="27432" anchor="ctr">
                    <a:solidFill>
                      <a:srgbClr val="F8F8FB"/>
                    </a:solidFill>
                  </a:tcPr>
                </a:tc>
                <a:tc>
                  <a:txBody>
                    <a:bodyPr wrap="square"/>
                    <a:lstStyle/>
                    <a:p>
                      <a:pPr algn="l"/>
                      <a:r>
                        <a:rPr sz="850" b="0">
                          <a:solidFill>
                            <a:srgbClr val="22222A"/>
                          </a:solidFill>
                          <a:latin typeface="Calibri"/>
                        </a:rPr>
                        <a:t>Manager effectiveness is NOT different</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3.344 vs 3.371</a:t>
                      </a:r>
                    </a:p>
                  </a:txBody>
                  <a:tcPr marL="91440" marR="73152" marT="27432" marB="27432" anchor="ctr">
                    <a:solidFill>
                      <a:srgbClr val="F8F8FB"/>
                    </a:solidFill>
                  </a:tcPr>
                </a:tc>
                <a:tc>
                  <a:txBody>
                    <a:bodyPr wrap="square"/>
                    <a:lstStyle/>
                    <a:p>
                      <a:pPr algn="ctr"/>
                      <a:r>
                        <a:rPr sz="850" b="0">
                          <a:solidFill>
                            <a:srgbClr val="22222A"/>
                          </a:solidFill>
                          <a:latin typeface="Calibri"/>
                        </a:rPr>
                        <a:t>0.35 — null</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7</a:t>
                      </a:r>
                    </a:p>
                  </a:txBody>
                  <a:tcPr marL="91440" marR="73152" marT="27432" marB="27432" anchor="ctr">
                    <a:solidFill>
                      <a:srgbClr val="FFFFFF"/>
                    </a:solidFill>
                  </a:tcPr>
                </a:tc>
                <a:tc>
                  <a:txBody>
                    <a:bodyPr wrap="square"/>
                    <a:lstStyle/>
                    <a:p>
                      <a:pPr algn="l"/>
                      <a:r>
                        <a:rPr sz="850" b="0">
                          <a:solidFill>
                            <a:srgbClr val="22222A"/>
                          </a:solidFill>
                          <a:latin typeface="Calibri"/>
                        </a:rPr>
                        <a:t>Psychological safety is NOT different</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3.351 vs 3.354</a:t>
                      </a:r>
                    </a:p>
                  </a:txBody>
                  <a:tcPr marL="91440" marR="73152" marT="27432" marB="27432" anchor="ctr">
                    <a:solidFill>
                      <a:srgbClr val="FFFFFF"/>
                    </a:solidFill>
                  </a:tcPr>
                </a:tc>
                <a:tc>
                  <a:txBody>
                    <a:bodyPr wrap="square"/>
                    <a:lstStyle/>
                    <a:p>
                      <a:pPr algn="ctr"/>
                      <a:r>
                        <a:rPr sz="850" b="0">
                          <a:solidFill>
                            <a:srgbClr val="22222A"/>
                          </a:solidFill>
                          <a:latin typeface="Calibri"/>
                        </a:rPr>
                        <a:t>0.91 — null</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8</a:t>
                      </a:r>
                    </a:p>
                  </a:txBody>
                  <a:tcPr marL="91440" marR="73152" marT="27432" marB="27432" anchor="ctr">
                    <a:solidFill>
                      <a:srgbClr val="F8F8FB"/>
                    </a:solidFill>
                  </a:tcPr>
                </a:tc>
                <a:tc>
                  <a:txBody>
                    <a:bodyPr wrap="square"/>
                    <a:lstStyle/>
                    <a:p>
                      <a:pPr algn="l"/>
                      <a:r>
                        <a:rPr sz="850" b="0">
                          <a:solidFill>
                            <a:srgbClr val="22222A"/>
                          </a:solidFill>
                          <a:latin typeface="Calibri"/>
                        </a:rPr>
                        <a:t>Entity_B response rate is lower</a:t>
                      </a:r>
                    </a:p>
                  </a:txBody>
                  <a:tcPr marL="91440" marR="73152" marT="27432" marB="27432" anchor="ctr">
                    <a:solidFill>
                      <a:srgbClr val="F8F8FB"/>
                    </a:solidFill>
                  </a:tcPr>
                </a:tc>
                <a:tc>
                  <a:txBody>
                    <a:bodyPr wrap="square"/>
                    <a:lstStyle/>
                    <a:p>
                      <a:pPr algn="l"/>
                      <a:r>
                        <a:rPr sz="850" b="0">
                          <a:solidFill>
                            <a:srgbClr val="22222A"/>
                          </a:solidFill>
                          <a:latin typeface="Calibri"/>
                        </a:rPr>
                        <a:t>One-way ANOVA</a:t>
                      </a:r>
                    </a:p>
                  </a:txBody>
                  <a:tcPr marL="91440" marR="73152" marT="27432" marB="27432" anchor="ctr">
                    <a:solidFill>
                      <a:srgbClr val="F8F8FB"/>
                    </a:solidFill>
                  </a:tcPr>
                </a:tc>
                <a:tc>
                  <a:txBody>
                    <a:bodyPr wrap="square"/>
                    <a:lstStyle/>
                    <a:p>
                      <a:pPr algn="ctr"/>
                      <a:r>
                        <a:rPr sz="850" b="0">
                          <a:solidFill>
                            <a:srgbClr val="22222A"/>
                          </a:solidFill>
                          <a:latin typeface="Calibri"/>
                        </a:rPr>
                        <a:t>83.6 / 83.8 / 62.6 / 68.6 %</a:t>
                      </a:r>
                    </a:p>
                  </a:txBody>
                  <a:tcPr marL="91440" marR="73152" marT="27432" marB="27432" anchor="ctr">
                    <a:solidFill>
                      <a:srgbClr val="F8F8FB"/>
                    </a:solidFill>
                  </a:tcPr>
                </a:tc>
                <a:tc>
                  <a:txBody>
                    <a:bodyPr wrap="square"/>
                    <a:lstStyle/>
                    <a:p>
                      <a:pPr algn="ctr"/>
                      <a:r>
                        <a:rPr sz="850" b="0">
                          <a:solidFill>
                            <a:srgbClr val="22222A"/>
                          </a:solidFill>
                          <a:latin typeface="Calibri"/>
                        </a:rPr>
                        <a:t>7.0×10⁻³⁰⁴</a:t>
                      </a:r>
                    </a:p>
                  </a:txBody>
                  <a:tcPr marL="91440" marR="73152" marT="27432" marB="27432" anchor="ctr">
                    <a:solidFill>
                      <a:srgbClr val="F8F8FB"/>
                    </a:solidFill>
                  </a:tcPr>
                </a:tc>
                <a:tc>
                  <a:txBody>
                    <a:bodyPr wrap="square"/>
                    <a:lstStyle/>
                    <a:p>
                      <a:pPr algn="ctr"/>
                      <a:r>
                        <a:rPr sz="850" b="0">
                          <a:solidFill>
                            <a:srgbClr val="22222A"/>
                          </a:solidFill>
                          <a:latin typeface="Calibri"/>
                        </a:rPr>
                        <a:t>13,096</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9</a:t>
                      </a:r>
                    </a:p>
                  </a:txBody>
                  <a:tcPr marL="91440" marR="73152" marT="27432" marB="27432" anchor="ctr">
                    <a:solidFill>
                      <a:srgbClr val="FFFFFF"/>
                    </a:solidFill>
                  </a:tcPr>
                </a:tc>
                <a:tc>
                  <a:txBody>
                    <a:bodyPr wrap="square"/>
                    <a:lstStyle/>
                    <a:p>
                      <a:pPr algn="l"/>
                      <a:r>
                        <a:rPr sz="850" b="0">
                          <a:solidFill>
                            <a:srgbClr val="22222A"/>
                          </a:solidFill>
                          <a:latin typeface="Calibri"/>
                        </a:rPr>
                        <a:t>Entity_B is paid above NovaCorp-Origin</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0.937 / 0.959 / 0.961 / 0.962</a:t>
                      </a:r>
                    </a:p>
                  </a:txBody>
                  <a:tcPr marL="91440" marR="73152" marT="27432" marB="27432" anchor="ctr">
                    <a:solidFill>
                      <a:srgbClr val="FFFFFF"/>
                    </a:solidFill>
                  </a:tcPr>
                </a:tc>
                <a:tc>
                  <a:txBody>
                    <a:bodyPr wrap="square"/>
                    <a:lstStyle/>
                    <a:p>
                      <a:pPr algn="ctr"/>
                      <a:r>
                        <a:rPr sz="850" b="0">
                          <a:solidFill>
                            <a:srgbClr val="22222A"/>
                          </a:solidFill>
                          <a:latin typeface="Calibri"/>
                        </a:rPr>
                        <a:t>2.2×10⁻⁷¹</a:t>
                      </a:r>
                    </a:p>
                  </a:txBody>
                  <a:tcPr marL="91440" marR="73152" marT="27432" marB="27432" anchor="ctr">
                    <a:solidFill>
                      <a:srgbClr val="FFFFFF"/>
                    </a:solidFill>
                  </a:tcPr>
                </a:tc>
                <a:tc>
                  <a:txBody>
                    <a:bodyPr wrap="square"/>
                    <a:lstStyle/>
                    <a:p>
                      <a:pPr algn="ctr"/>
                      <a:r>
                        <a:rPr sz="850" b="0">
                          <a:solidFill>
                            <a:srgbClr val="22222A"/>
                          </a:solidFill>
                          <a:latin typeface="Calibri"/>
                        </a:rPr>
                        <a:t>13,403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10</a:t>
                      </a:r>
                    </a:p>
                  </a:txBody>
                  <a:tcPr marL="91440" marR="73152" marT="27432" marB="27432" anchor="ctr">
                    <a:solidFill>
                      <a:srgbClr val="F8F8FB"/>
                    </a:solidFill>
                  </a:tcPr>
                </a:tc>
                <a:tc>
                  <a:txBody>
                    <a:bodyPr wrap="square"/>
                    <a:lstStyle/>
                    <a:p>
                      <a:pPr algn="l"/>
                      <a:r>
                        <a:rPr sz="850" b="0">
                          <a:solidFill>
                            <a:srgbClr val="22222A"/>
                          </a:solidFill>
                          <a:latin typeface="Calibri"/>
                        </a:rPr>
                        <a:t>Entity_B loses Senior Managers (L3)</a:t>
                      </a:r>
                    </a:p>
                  </a:txBody>
                  <a:tcPr marL="91440" marR="73152" marT="27432" marB="27432" anchor="ctr">
                    <a:solidFill>
                      <a:srgbClr val="F8F8FB"/>
                    </a:solidFill>
                  </a:tcPr>
                </a:tc>
                <a:tc>
                  <a:txBody>
                    <a:bodyPr wrap="square"/>
                    <a:lstStyle/>
                    <a:p>
                      <a:pPr algn="l"/>
                      <a:r>
                        <a:rPr sz="850" b="0">
                          <a:solidFill>
                            <a:srgbClr val="22222A"/>
                          </a:solidFill>
                          <a:latin typeface="Calibri"/>
                        </a:rPr>
                        <a:t>Chi-square</a:t>
                      </a:r>
                    </a:p>
                  </a:txBody>
                  <a:tcPr marL="91440" marR="73152" marT="27432" marB="27432" anchor="ctr">
                    <a:solidFill>
                      <a:srgbClr val="F8F8FB"/>
                    </a:solidFill>
                  </a:tcPr>
                </a:tc>
                <a:tc>
                  <a:txBody>
                    <a:bodyPr wrap="square"/>
                    <a:lstStyle/>
                    <a:p>
                      <a:pPr algn="ctr"/>
                      <a:r>
                        <a:rPr sz="850" b="0">
                          <a:solidFill>
                            <a:srgbClr val="22222A"/>
                          </a:solidFill>
                          <a:latin typeface="Calibri"/>
                        </a:rPr>
                        <a:t>2.9% vs 9.8%/yr</a:t>
                      </a:r>
                    </a:p>
                  </a:txBody>
                  <a:tcPr marL="91440" marR="73152" marT="27432" marB="27432" anchor="ctr">
                    <a:solidFill>
                      <a:srgbClr val="F8F8FB"/>
                    </a:solidFill>
                  </a:tcPr>
                </a:tc>
                <a:tc>
                  <a:txBody>
                    <a:bodyPr wrap="square"/>
                    <a:lstStyle/>
                    <a:p>
                      <a:pPr algn="ctr"/>
                      <a:r>
                        <a:rPr sz="850" b="0">
                          <a:solidFill>
                            <a:srgbClr val="22222A"/>
                          </a:solidFill>
                          <a:latin typeface="Calibri"/>
                        </a:rPr>
                        <a:t>0.0047</a:t>
                      </a:r>
                    </a:p>
                  </a:txBody>
                  <a:tcPr marL="91440" marR="73152" marT="27432" marB="27432" anchor="ctr">
                    <a:solidFill>
                      <a:srgbClr val="F8F8FB"/>
                    </a:solidFill>
                  </a:tcPr>
                </a:tc>
                <a:tc>
                  <a:txBody>
                    <a:bodyPr wrap="square"/>
                    <a:lstStyle/>
                    <a:p>
                      <a:pPr algn="ctr"/>
                      <a:r>
                        <a:rPr sz="850" b="0">
                          <a:solidFill>
                            <a:srgbClr val="22222A"/>
                          </a:solidFill>
                          <a:latin typeface="Calibri"/>
                        </a:rPr>
                        <a:t>140 / 123</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11</a:t>
                      </a:r>
                    </a:p>
                  </a:txBody>
                  <a:tcPr marL="91440" marR="73152" marT="27432" marB="27432" anchor="ctr">
                    <a:solidFill>
                      <a:srgbClr val="FFFFFF"/>
                    </a:solidFill>
                  </a:tcPr>
                </a:tc>
                <a:tc>
                  <a:txBody>
                    <a:bodyPr wrap="square"/>
                    <a:lstStyle/>
                    <a:p>
                      <a:pPr algn="l"/>
                      <a:r>
                        <a:rPr sz="850" b="0">
                          <a:solidFill>
                            <a:srgbClr val="22222A"/>
                          </a:solidFill>
                          <a:latin typeface="Calibri"/>
                        </a:rPr>
                        <a:t>HIPO staff leave at 1.6×</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7.3% vs 4.5%/yr</a:t>
                      </a:r>
                    </a:p>
                  </a:txBody>
                  <a:tcPr marL="91440" marR="73152" marT="27432" marB="27432" anchor="ctr">
                    <a:solidFill>
                      <a:srgbClr val="FFFFFF"/>
                    </a:solidFill>
                  </a:tcPr>
                </a:tc>
                <a:tc>
                  <a:txBody>
                    <a:bodyPr wrap="square"/>
                    <a:lstStyle/>
                    <a:p>
                      <a:pPr algn="ctr"/>
                      <a:r>
                        <a:rPr sz="850" b="0">
                          <a:solidFill>
                            <a:srgbClr val="22222A"/>
                          </a:solidFill>
                          <a:latin typeface="Calibri"/>
                        </a:rPr>
                        <a:t>1.2×10⁻⁷</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12</a:t>
                      </a:r>
                    </a:p>
                  </a:txBody>
                  <a:tcPr marL="91440" marR="73152" marT="27432" marB="27432" anchor="ctr">
                    <a:solidFill>
                      <a:srgbClr val="F8F8FB"/>
                    </a:solidFill>
                  </a:tcPr>
                </a:tc>
                <a:tc>
                  <a:txBody>
                    <a:bodyPr wrap="square"/>
                    <a:lstStyle/>
                    <a:p>
                      <a:pPr algn="l"/>
                      <a:r>
                        <a:rPr sz="850" b="0">
                          <a:solidFill>
                            <a:srgbClr val="22222A"/>
                          </a:solidFill>
                          <a:latin typeface="Calibri"/>
                        </a:rPr>
                        <a:t>Attrition NOT concentrated under bad managers</a:t>
                      </a:r>
                    </a:p>
                  </a:txBody>
                  <a:tcPr marL="91440" marR="73152" marT="27432" marB="27432" anchor="ctr">
                    <a:solidFill>
                      <a:srgbClr val="F8F8FB"/>
                    </a:solidFill>
                  </a:tcPr>
                </a:tc>
                <a:tc>
                  <a:txBody>
                    <a:bodyPr wrap="square"/>
                    <a:lstStyle/>
                    <a:p>
                      <a:pPr algn="l"/>
                      <a:r>
                        <a:rPr sz="850" b="0">
                          <a:solidFill>
                            <a:srgbClr val="22222A"/>
                          </a:solidFill>
                          <a:latin typeface="Calibri"/>
                        </a:rPr>
                        <a:t>Chi-square goodness-of-fit</a:t>
                      </a:r>
                    </a:p>
                  </a:txBody>
                  <a:tcPr marL="91440" marR="73152" marT="27432" marB="27432" anchor="ctr">
                    <a:solidFill>
                      <a:srgbClr val="F8F8FB"/>
                    </a:solidFill>
                  </a:tcPr>
                </a:tc>
                <a:tc>
                  <a:txBody>
                    <a:bodyPr wrap="square"/>
                    <a:lstStyle/>
                    <a:p>
                      <a:pPr algn="ctr"/>
                      <a:r>
                        <a:rPr sz="850" b="0">
                          <a:solidFill>
                            <a:srgbClr val="22222A"/>
                          </a:solidFill>
                          <a:latin typeface="Calibri"/>
                        </a:rPr>
                        <a:t>worst 10% hold 18.4% of exits</a:t>
                      </a:r>
                    </a:p>
                  </a:txBody>
                  <a:tcPr marL="91440" marR="73152" marT="27432" marB="27432" anchor="ctr">
                    <a:solidFill>
                      <a:srgbClr val="F8F8FB"/>
                    </a:solidFill>
                  </a:tcPr>
                </a:tc>
                <a:tc>
                  <a:txBody>
                    <a:bodyPr wrap="square"/>
                    <a:lstStyle/>
                    <a:p>
                      <a:pPr algn="ctr"/>
                      <a:r>
                        <a:rPr sz="850" b="0">
                          <a:solidFill>
                            <a:srgbClr val="22222A"/>
                          </a:solidFill>
                          <a:latin typeface="Calibri"/>
                        </a:rPr>
                        <a:t>0.9957 — null</a:t>
                      </a:r>
                    </a:p>
                  </a:txBody>
                  <a:tcPr marL="91440" marR="73152" marT="27432" marB="27432" anchor="ctr">
                    <a:solidFill>
                      <a:srgbClr val="F8F8FB"/>
                    </a:solidFill>
                  </a:tcPr>
                </a:tc>
                <a:tc>
                  <a:txBody>
                    <a:bodyPr wrap="square"/>
                    <a:lstStyle/>
                    <a:p>
                      <a:pPr algn="ctr"/>
                      <a:r>
                        <a:rPr sz="850" b="0">
                          <a:solidFill>
                            <a:srgbClr val="22222A"/>
                          </a:solidFill>
                          <a:latin typeface="Calibri"/>
                        </a:rPr>
                        <a:t>1,196 mgrs</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13</a:t>
                      </a:r>
                    </a:p>
                  </a:txBody>
                  <a:tcPr marL="91440" marR="73152" marT="27432" marB="27432" anchor="ctr">
                    <a:solidFill>
                      <a:srgbClr val="FFFFFF"/>
                    </a:solidFill>
                  </a:tcPr>
                </a:tc>
                <a:tc>
                  <a:txBody>
                    <a:bodyPr wrap="square"/>
                    <a:lstStyle/>
                    <a:p>
                      <a:pPr algn="l"/>
                      <a:r>
                        <a:rPr sz="850" b="0">
                          <a:solidFill>
                            <a:srgbClr val="22222A"/>
                          </a:solidFill>
                          <a:latin typeface="Calibri"/>
                        </a:rPr>
                        <a:t>Regrettable flag ≠ value-based definition</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97 of 312 overlap</a:t>
                      </a:r>
                    </a:p>
                  </a:txBody>
                  <a:tcPr marL="91440" marR="73152" marT="27432" marB="27432" anchor="ctr">
                    <a:solidFill>
                      <a:srgbClr val="FFFFFF"/>
                    </a:solidFill>
                  </a:tcPr>
                </a:tc>
                <a:tc>
                  <a:txBody>
                    <a:bodyPr wrap="square"/>
                    <a:lstStyle/>
                    <a:p>
                      <a:pPr algn="ctr"/>
                      <a:r>
                        <a:rPr sz="850" b="0">
                          <a:solidFill>
                            <a:srgbClr val="22222A"/>
                          </a:solidFill>
                          <a:latin typeface="Calibri"/>
                        </a:rPr>
                        <a:t>&lt;10⁻⁶</a:t>
                      </a:r>
                    </a:p>
                  </a:txBody>
                  <a:tcPr marL="91440" marR="73152" marT="27432" marB="27432" anchor="ctr">
                    <a:solidFill>
                      <a:srgbClr val="FFFFFF"/>
                    </a:solidFill>
                  </a:tcPr>
                </a:tc>
                <a:tc>
                  <a:txBody>
                    <a:bodyPr wrap="square"/>
                    <a:lstStyle/>
                    <a:p>
                      <a:pPr algn="ctr"/>
                      <a:r>
                        <a:rPr sz="850" b="0">
                          <a:solidFill>
                            <a:srgbClr val="22222A"/>
                          </a:solidFill>
                          <a:latin typeface="Calibri"/>
                        </a:rPr>
                        <a:t>1,400</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14</a:t>
                      </a:r>
                    </a:p>
                  </a:txBody>
                  <a:tcPr marL="91440" marR="73152" marT="27432" marB="27432" anchor="ctr">
                    <a:solidFill>
                      <a:srgbClr val="F8F8FB"/>
                    </a:solidFill>
                  </a:tcPr>
                </a:tc>
                <a:tc>
                  <a:txBody>
                    <a:bodyPr wrap="square"/>
                    <a:lstStyle/>
                    <a:p>
                      <a:pPr algn="l"/>
                      <a:r>
                        <a:rPr sz="850" b="0">
                          <a:solidFill>
                            <a:srgbClr val="22222A"/>
                          </a:solidFill>
                          <a:latin typeface="Calibri"/>
                        </a:rPr>
                        <a:t>Entity_B new joiners leave early more</a:t>
                      </a:r>
                    </a:p>
                  </a:txBody>
                  <a:tcPr marL="91440" marR="73152" marT="27432" marB="27432" anchor="ctr">
                    <a:solidFill>
                      <a:srgbClr val="F8F8FB"/>
                    </a:solidFill>
                  </a:tcPr>
                </a:tc>
                <a:tc>
                  <a:txBody>
                    <a:bodyPr wrap="square"/>
                    <a:lstStyle/>
                    <a:p>
                      <a:pPr algn="l"/>
                      <a:r>
                        <a:rPr sz="850" b="0">
                          <a:solidFill>
                            <a:srgbClr val="22222A"/>
                          </a:solidFill>
                          <a:latin typeface="Calibri"/>
                        </a:rPr>
                        <a:t>Two-proportion z</a:t>
                      </a:r>
                    </a:p>
                  </a:txBody>
                  <a:tcPr marL="91440" marR="73152" marT="27432" marB="27432" anchor="ctr">
                    <a:solidFill>
                      <a:srgbClr val="F8F8FB"/>
                    </a:solidFill>
                  </a:tcPr>
                </a:tc>
                <a:tc>
                  <a:txBody>
                    <a:bodyPr wrap="square"/>
                    <a:lstStyle/>
                    <a:p>
                      <a:pPr algn="ctr"/>
                      <a:r>
                        <a:rPr sz="850" b="0">
                          <a:solidFill>
                            <a:srgbClr val="22222A"/>
                          </a:solidFill>
                          <a:latin typeface="Calibri"/>
                        </a:rPr>
                        <a:t>10.2% vs 6.4%</a:t>
                      </a:r>
                    </a:p>
                  </a:txBody>
                  <a:tcPr marL="91440" marR="73152" marT="27432" marB="27432" anchor="ctr">
                    <a:solidFill>
                      <a:srgbClr val="F8F8FB"/>
                    </a:solidFill>
                  </a:tcPr>
                </a:tc>
                <a:tc>
                  <a:txBody>
                    <a:bodyPr wrap="square"/>
                    <a:lstStyle/>
                    <a:p>
                      <a:pPr algn="ctr"/>
                      <a:r>
                        <a:rPr sz="850" b="0">
                          <a:solidFill>
                            <a:srgbClr val="22222A"/>
                          </a:solidFill>
                          <a:latin typeface="Calibri"/>
                        </a:rPr>
                        <a:t>0.012 (z=2.50)</a:t>
                      </a:r>
                    </a:p>
                  </a:txBody>
                  <a:tcPr marL="91440" marR="73152" marT="27432" marB="27432" anchor="ctr">
                    <a:solidFill>
                      <a:srgbClr val="F8F8FB"/>
                    </a:solidFill>
                  </a:tcPr>
                </a:tc>
                <a:tc>
                  <a:txBody>
                    <a:bodyPr wrap="square"/>
                    <a:lstStyle/>
                    <a:p>
                      <a:pPr algn="ctr"/>
                      <a:r>
                        <a:rPr sz="850" b="0">
                          <a:solidFill>
                            <a:srgbClr val="22222A"/>
                          </a:solidFill>
                          <a:latin typeface="Calibri"/>
                        </a:rPr>
                        <a:t>1,884 / 455</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15</a:t>
                      </a:r>
                    </a:p>
                  </a:txBody>
                  <a:tcPr marL="91440" marR="73152" marT="27432" marB="27432" anchor="ctr">
                    <a:solidFill>
                      <a:srgbClr val="FFFFFF"/>
                    </a:solidFill>
                  </a:tcPr>
                </a:tc>
                <a:tc>
                  <a:txBody>
                    <a:bodyPr wrap="square"/>
                    <a:lstStyle/>
                    <a:p>
                      <a:pPr algn="l"/>
                      <a:r>
                        <a:rPr sz="850" b="0">
                          <a:solidFill>
                            <a:srgbClr val="22222A"/>
                          </a:solidFill>
                          <a:latin typeface="Calibri"/>
                        </a:rPr>
                        <a:t>Composite engagement barely differs</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3.377 / 3.366 / 3.280 / 3.346</a:t>
                      </a:r>
                    </a:p>
                  </a:txBody>
                  <a:tcPr marL="91440" marR="73152" marT="27432" marB="27432" anchor="ctr">
                    <a:solidFill>
                      <a:srgbClr val="FFFFFF"/>
                    </a:solidFill>
                  </a:tcPr>
                </a:tc>
                <a:tc>
                  <a:txBody>
                    <a:bodyPr wrap="square"/>
                    <a:lstStyle/>
                    <a:p>
                      <a:pPr algn="ctr"/>
                      <a:r>
                        <a:rPr sz="850" b="0">
                          <a:solidFill>
                            <a:srgbClr val="22222A"/>
                          </a:solidFill>
                          <a:latin typeface="Calibri"/>
                        </a:rPr>
                        <a:t>2.5×10⁻⁹ — trivial</a:t>
                      </a:r>
                    </a:p>
                  </a:txBody>
                  <a:tcPr marL="91440" marR="73152" marT="27432" marB="27432" anchor="ctr">
                    <a:solidFill>
                      <a:srgbClr val="FFFFFF"/>
                    </a:solidFill>
                  </a:tcPr>
                </a:tc>
                <a:tc>
                  <a:txBody>
                    <a:bodyPr wrap="square"/>
                    <a:lstStyle/>
                    <a:p>
                      <a:pPr algn="ctr"/>
                      <a:r>
                        <a:rPr sz="850" b="0">
                          <a:solidFill>
                            <a:srgbClr val="22222A"/>
                          </a:solidFill>
                          <a:latin typeface="Calibri"/>
                        </a:rPr>
                        <a:t>13,096</a:t>
                      </a:r>
                    </a:p>
                  </a:txBody>
                  <a:tcPr marL="91440" marR="73152" marT="27432" marB="27432" anchor="ctr">
                    <a:solidFill>
                      <a:srgbClr val="FFFFFF"/>
                    </a:solidFill>
                  </a:tcPr>
                </a:tc>
              </a:tr>
            </a:tbl>
          </a:graphicData>
        </a:graphic>
      </p:graphicFrame>
      <p:sp>
        <p:nvSpPr>
          <p:cNvPr id="8" name="Rectangle 7"/>
          <p:cNvSpPr/>
          <p:nvPr/>
        </p:nvSpPr>
        <p:spPr>
          <a:xfrm>
            <a:off x="566928" y="6053328"/>
            <a:ext cx="50292" cy="38404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53328"/>
            <a:ext cx="10771632" cy="384048"/>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Row 15 is deliberately included. A significant p-value on a 0.085-point gap is the clearest illustration of why significance is not importance.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the nulls that matter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Findings that came back null. Each one rules out an expensive intervention, which makes them as load-bearing as the positives.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37360"/>
          <a:ext cx="11064240" cy="3968496"/>
        </p:xfrm>
        <a:graphic>
          <a:graphicData uri="http://schemas.openxmlformats.org/drawingml/2006/table">
            <a:tbl>
              <a:tblPr firstRow="1" bandRow="1">
                <a:tableStyleId>{5C22544A-7EE6-4342-B048-85BDC9FD1C3A}</a:tableStyleId>
              </a:tblPr>
              <a:tblGrid>
                <a:gridCol w="3017520"/>
                <a:gridCol w="1554480"/>
                <a:gridCol w="2194560"/>
                <a:gridCol w="914400"/>
                <a:gridCol w="3383280"/>
              </a:tblGrid>
              <a:tr h="566928">
                <a:tc>
                  <a:txBody>
                    <a:bodyPr wrap="square"/>
                    <a:lstStyle/>
                    <a:p>
                      <a:pPr algn="l"/>
                      <a:r>
                        <a:rPr sz="1050" b="1">
                          <a:solidFill>
                            <a:srgbClr val="FFFFFF"/>
                          </a:solidFill>
                          <a:latin typeface="Calibri"/>
                        </a:rPr>
                        <a:t>Claim tested</a:t>
                      </a:r>
                    </a:p>
                  </a:txBody>
                  <a:tcPr marL="91440" marR="73152" marT="27432" marB="27432" anchor="ctr">
                    <a:solidFill>
                      <a:srgbClr val="460073"/>
                    </a:solidFill>
                  </a:tcPr>
                </a:tc>
                <a:tc>
                  <a:txBody>
                    <a:bodyPr wrap="square"/>
                    <a:lstStyle/>
                    <a:p>
                      <a:pPr algn="l"/>
                      <a:r>
                        <a:rPr sz="1050" b="1">
                          <a:solidFill>
                            <a:srgbClr val="FFFFFF"/>
                          </a:solidFill>
                          <a:latin typeface="Calibri"/>
                        </a:rPr>
                        <a:t>Test</a:t>
                      </a:r>
                    </a:p>
                  </a:txBody>
                  <a:tcPr marL="91440" marR="73152" marT="27432" marB="27432" anchor="ctr">
                    <a:solidFill>
                      <a:srgbClr val="460073"/>
                    </a:solidFill>
                  </a:tcPr>
                </a:tc>
                <a:tc>
                  <a:txBody>
                    <a:bodyPr wrap="square"/>
                    <a:lstStyle/>
                    <a:p>
                      <a:pPr algn="ctr"/>
                      <a:r>
                        <a:rPr sz="1050" b="1">
                          <a:solidFill>
                            <a:srgbClr val="FFFFFF"/>
                          </a:solidFill>
                          <a:latin typeface="Calibri"/>
                        </a:rPr>
                        <a:t>Result</a:t>
                      </a:r>
                    </a:p>
                  </a:txBody>
                  <a:tcPr marL="91440" marR="73152" marT="27432" marB="27432" anchor="ctr">
                    <a:solidFill>
                      <a:srgbClr val="460073"/>
                    </a:solidFill>
                  </a:tcPr>
                </a:tc>
                <a:tc>
                  <a:txBody>
                    <a:bodyPr wrap="square"/>
                    <a:lstStyle/>
                    <a:p>
                      <a:pPr algn="ctr"/>
                      <a:r>
                        <a:rPr sz="1050" b="1">
                          <a:solidFill>
                            <a:srgbClr val="FFFFFF"/>
                          </a:solidFill>
                          <a:latin typeface="Calibri"/>
                        </a:rPr>
                        <a:t>p</a:t>
                      </a:r>
                    </a:p>
                  </a:txBody>
                  <a:tcPr marL="91440" marR="73152" marT="27432" marB="27432" anchor="ctr">
                    <a:solidFill>
                      <a:srgbClr val="460073"/>
                    </a:solidFill>
                  </a:tcPr>
                </a:tc>
                <a:tc>
                  <a:txBody>
                    <a:bodyPr wrap="square"/>
                    <a:lstStyle/>
                    <a:p>
                      <a:pPr algn="l"/>
                      <a:r>
                        <a:rPr sz="1050" b="1">
                          <a:solidFill>
                            <a:srgbClr val="FFFFFF"/>
                          </a:solidFill>
                          <a:latin typeface="Calibri"/>
                        </a:rPr>
                        <a:t>Why the null matters</a:t>
                      </a:r>
                    </a:p>
                  </a:txBody>
                  <a:tcPr marL="91440" marR="73152" marT="27432" marB="27432" anchor="ctr">
                    <a:solidFill>
                      <a:srgbClr val="460073"/>
                    </a:solidFill>
                  </a:tcPr>
                </a:tc>
              </a:tr>
              <a:tr h="566928">
                <a:tc>
                  <a:txBody>
                    <a:bodyPr wrap="square"/>
                    <a:lstStyle/>
                    <a:p>
                      <a:pPr algn="l"/>
                      <a:r>
                        <a:rPr sz="1000" b="0">
                          <a:solidFill>
                            <a:srgbClr val="22222A"/>
                          </a:solidFill>
                          <a:latin typeface="Calibri"/>
                        </a:rPr>
                        <a:t>Manager effectiveness differs 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3.344 vs 3.371</a:t>
                      </a:r>
                    </a:p>
                  </a:txBody>
                  <a:tcPr marL="91440" marR="73152" marT="27432" marB="27432" anchor="ctr">
                    <a:solidFill>
                      <a:srgbClr val="FFFFFF"/>
                    </a:solidFill>
                  </a:tcPr>
                </a:tc>
                <a:tc>
                  <a:txBody>
                    <a:bodyPr wrap="square"/>
                    <a:lstStyle/>
                    <a:p>
                      <a:pPr algn="ctr"/>
                      <a:r>
                        <a:rPr sz="1000" b="0">
                          <a:solidFill>
                            <a:srgbClr val="22222A"/>
                          </a:solidFill>
                          <a:latin typeface="Calibri"/>
                        </a:rPr>
                        <a:t>0.35</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manager training programme, the most expensive obvious response</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Psychological safety differs in Entity_B</a:t>
                      </a:r>
                    </a:p>
                  </a:txBody>
                  <a:tcPr marL="91440" marR="73152" marT="27432" marB="27432" anchor="ctr">
                    <a:solidFill>
                      <a:srgbClr val="F8F8FB"/>
                    </a:solidFill>
                  </a:tcPr>
                </a:tc>
                <a:tc>
                  <a:txBody>
                    <a:bodyPr wrap="square"/>
                    <a:lstStyle/>
                    <a:p>
                      <a:pPr algn="l"/>
                      <a:r>
                        <a:rPr sz="1000" b="0">
                          <a:solidFill>
                            <a:srgbClr val="22222A"/>
                          </a:solidFill>
                          <a:latin typeface="Calibri"/>
                        </a:rPr>
                        <a:t>Welch's t</a:t>
                      </a:r>
                    </a:p>
                  </a:txBody>
                  <a:tcPr marL="91440" marR="73152" marT="27432" marB="27432" anchor="ctr">
                    <a:solidFill>
                      <a:srgbClr val="F8F8FB"/>
                    </a:solidFill>
                  </a:tcPr>
                </a:tc>
                <a:tc>
                  <a:txBody>
                    <a:bodyPr wrap="square"/>
                    <a:lstStyle/>
                    <a:p>
                      <a:pPr algn="ctr"/>
                      <a:r>
                        <a:rPr sz="1000" b="0">
                          <a:solidFill>
                            <a:srgbClr val="22222A"/>
                          </a:solidFill>
                          <a:latin typeface="Calibri"/>
                        </a:rPr>
                        <a:t>3.351 vs 3.354</a:t>
                      </a:r>
                    </a:p>
                  </a:txBody>
                  <a:tcPr marL="91440" marR="73152" marT="27432" marB="27432" anchor="ctr">
                    <a:solidFill>
                      <a:srgbClr val="F8F8FB"/>
                    </a:solidFill>
                  </a:tcPr>
                </a:tc>
                <a:tc>
                  <a:txBody>
                    <a:bodyPr wrap="square"/>
                    <a:lstStyle/>
                    <a:p>
                      <a:pPr algn="ctr"/>
                      <a:r>
                        <a:rPr sz="1000" b="0">
                          <a:solidFill>
                            <a:srgbClr val="22222A"/>
                          </a:solidFill>
                          <a:latin typeface="Calibri"/>
                        </a:rPr>
                        <a:t>0.91</a:t>
                      </a:r>
                    </a:p>
                  </a:txBody>
                  <a:tcPr marL="91440" marR="73152" marT="27432" marB="27432" anchor="ctr">
                    <a:solidFill>
                      <a:srgbClr val="F8F8FB"/>
                    </a:solidFill>
                  </a:tcPr>
                </a:tc>
                <a:tc>
                  <a:txBody>
                    <a:bodyPr wrap="square"/>
                    <a:lstStyle/>
                    <a:p>
                      <a:pPr algn="l"/>
                      <a:r>
                        <a:rPr sz="1000" b="0">
                          <a:solidFill>
                            <a:srgbClr val="22222A"/>
                          </a:solidFill>
                          <a:latin typeface="Calibri"/>
                        </a:rPr>
                        <a:t>Rules out a team-climate intervention</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Entity_B is underpaid</a:t>
                      </a:r>
                    </a:p>
                  </a:txBody>
                  <a:tcPr marL="91440" marR="73152" marT="27432" marB="27432" anchor="ctr">
                    <a:solidFill>
                      <a:srgbClr val="FFFFFF"/>
                    </a:solidFill>
                  </a:tcPr>
                </a:tc>
                <a:tc>
                  <a:txBody>
                    <a:bodyPr wrap="square"/>
                    <a:lstStyle/>
                    <a:p>
                      <a:pPr algn="l"/>
                      <a:r>
                        <a:rPr sz="1000" b="0">
                          <a:solidFill>
                            <a:srgbClr val="22222A"/>
                          </a:solidFill>
                          <a:latin typeface="Calibri"/>
                        </a:rPr>
                        <a:t>One-way ANOVA</a:t>
                      </a:r>
                    </a:p>
                  </a:txBody>
                  <a:tcPr marL="91440" marR="73152" marT="27432" marB="27432" anchor="ctr">
                    <a:solidFill>
                      <a:srgbClr val="FFFFFF"/>
                    </a:solidFill>
                  </a:tcPr>
                </a:tc>
                <a:tc>
                  <a:txBody>
                    <a:bodyPr wrap="square"/>
                    <a:lstStyle/>
                    <a:p>
                      <a:pPr algn="ctr"/>
                      <a:r>
                        <a:rPr sz="1000" b="0">
                          <a:solidFill>
                            <a:srgbClr val="22222A"/>
                          </a:solidFill>
                          <a:latin typeface="Calibri"/>
                        </a:rPr>
                        <a:t>0.961 vs 0.937 — paid above</a:t>
                      </a:r>
                    </a:p>
                  </a:txBody>
                  <a:tcPr marL="91440" marR="73152" marT="27432" marB="27432" anchor="ctr">
                    <a:solidFill>
                      <a:srgbClr val="FFFFFF"/>
                    </a:solidFill>
                  </a:tcPr>
                </a:tc>
                <a:tc>
                  <a:txBody>
                    <a:bodyPr wrap="square"/>
                    <a:lstStyle/>
                    <a:p>
                      <a:pPr algn="ctr"/>
                      <a:r>
                        <a:rPr sz="1000" b="0">
                          <a:solidFill>
                            <a:srgbClr val="22222A"/>
                          </a:solidFill>
                          <a:latin typeface="Calibri"/>
                        </a:rPr>
                        <a:t>2.2×10⁻⁷¹</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retention pay round. They are paid better and leave anyway</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Attrition concentrates under bad managers</a:t>
                      </a:r>
                    </a:p>
                  </a:txBody>
                  <a:tcPr marL="91440" marR="73152" marT="27432" marB="27432" anchor="ctr">
                    <a:solidFill>
                      <a:srgbClr val="F8F8FB"/>
                    </a:solidFill>
                  </a:tcPr>
                </a:tc>
                <a:tc>
                  <a:txBody>
                    <a:bodyPr wrap="square"/>
                    <a:lstStyle/>
                    <a:p>
                      <a:pPr algn="l"/>
                      <a:r>
                        <a:rPr sz="1000" b="0">
                          <a:solidFill>
                            <a:srgbClr val="22222A"/>
                          </a:solidFill>
                          <a:latin typeface="Calibri"/>
                        </a:rPr>
                        <a:t>Chi-square GoF</a:t>
                      </a:r>
                    </a:p>
                  </a:txBody>
                  <a:tcPr marL="91440" marR="73152" marT="27432" marB="27432" anchor="ctr">
                    <a:solidFill>
                      <a:srgbClr val="F8F8FB"/>
                    </a:solidFill>
                  </a:tcPr>
                </a:tc>
                <a:tc>
                  <a:txBody>
                    <a:bodyPr wrap="square"/>
                    <a:lstStyle/>
                    <a:p>
                      <a:pPr algn="ctr"/>
                      <a:r>
                        <a:rPr sz="1000" b="0">
                          <a:solidFill>
                            <a:srgbClr val="22222A"/>
                          </a:solidFill>
                          <a:latin typeface="Calibri"/>
                        </a:rPr>
                        <a:t>worst 10% hold 18.4%</a:t>
                      </a:r>
                    </a:p>
                  </a:txBody>
                  <a:tcPr marL="91440" marR="73152" marT="27432" marB="27432" anchor="ctr">
                    <a:solidFill>
                      <a:srgbClr val="F8F8FB"/>
                    </a:solidFill>
                  </a:tcPr>
                </a:tc>
                <a:tc>
                  <a:txBody>
                    <a:bodyPr wrap="square"/>
                    <a:lstStyle/>
                    <a:p>
                      <a:pPr algn="ctr"/>
                      <a:r>
                        <a:rPr sz="1000" b="0">
                          <a:solidFill>
                            <a:srgbClr val="22222A"/>
                          </a:solidFill>
                          <a:latin typeface="Calibri"/>
                        </a:rPr>
                        <a:t>0.9957</a:t>
                      </a:r>
                    </a:p>
                  </a:txBody>
                  <a:tcPr marL="91440" marR="73152" marT="27432" marB="27432" anchor="ctr">
                    <a:solidFill>
                      <a:srgbClr val="F8F8FB"/>
                    </a:solidFill>
                  </a:tcPr>
                </a:tc>
                <a:tc>
                  <a:txBody>
                    <a:bodyPr wrap="square"/>
                    <a:lstStyle/>
                    <a:p>
                      <a:pPr algn="l"/>
                      <a:r>
                        <a:rPr sz="1000" b="0">
                          <a:solidFill>
                            <a:srgbClr val="22222A"/>
                          </a:solidFill>
                          <a:latin typeface="Calibri"/>
                        </a:rPr>
                        <a:t>Rules out performance-managing a manager tail</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Purpose separates leavers within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2.929 vs 3.070</a:t>
                      </a:r>
                    </a:p>
                  </a:txBody>
                  <a:tcPr marL="91440" marR="73152" marT="27432" marB="27432" anchor="ctr">
                    <a:solidFill>
                      <a:srgbClr val="FFFFFF"/>
                    </a:solidFill>
                  </a:tcPr>
                </a:tc>
                <a:tc>
                  <a:txBody>
                    <a:bodyPr wrap="square"/>
                    <a:lstStyle/>
                    <a:p>
                      <a:pPr algn="ctr"/>
                      <a:r>
                        <a:rPr sz="1000" b="0">
                          <a:solidFill>
                            <a:srgbClr val="22222A"/>
                          </a:solidFill>
                          <a:latin typeface="Calibri"/>
                        </a:rPr>
                        <a:t>0.084</a:t>
                      </a:r>
                    </a:p>
                  </a:txBody>
                  <a:tcPr marL="91440" marR="73152" marT="27432" marB="27432" anchor="ctr">
                    <a:solidFill>
                      <a:srgbClr val="FFFFFF"/>
                    </a:solidFill>
                  </a:tcPr>
                </a:tc>
                <a:tc>
                  <a:txBody>
                    <a:bodyPr wrap="square"/>
                    <a:lstStyle/>
                    <a:p>
                      <a:pPr algn="l"/>
                      <a:r>
                        <a:rPr sz="1000" b="0">
                          <a:solidFill>
                            <a:srgbClr val="22222A"/>
                          </a:solidFill>
                          <a:latin typeface="Calibri"/>
                        </a:rPr>
                        <a:t>Rules out individual targeting on purpose scores</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Entity_A vs Entity_C attrition</a:t>
                      </a:r>
                    </a:p>
                  </a:txBody>
                  <a:tcPr marL="91440" marR="73152" marT="27432" marB="27432" anchor="ctr">
                    <a:solidFill>
                      <a:srgbClr val="F8F8FB"/>
                    </a:solidFill>
                  </a:tcPr>
                </a:tc>
                <a:tc>
                  <a:txBody>
                    <a:bodyPr wrap="square"/>
                    <a:lstStyle/>
                    <a:p>
                      <a:pPr algn="l"/>
                      <a:r>
                        <a:rPr sz="1000" b="0">
                          <a:solidFill>
                            <a:srgbClr val="22222A"/>
                          </a:solidFill>
                          <a:latin typeface="Calibri"/>
                        </a:rPr>
                        <a:t>Chi-square</a:t>
                      </a:r>
                    </a:p>
                  </a:txBody>
                  <a:tcPr marL="91440" marR="73152" marT="27432" marB="27432" anchor="ctr">
                    <a:solidFill>
                      <a:srgbClr val="F8F8FB"/>
                    </a:solidFill>
                  </a:tcPr>
                </a:tc>
                <a:tc>
                  <a:txBody>
                    <a:bodyPr wrap="square"/>
                    <a:lstStyle/>
                    <a:p>
                      <a:pPr algn="ctr"/>
                      <a:r>
                        <a:rPr sz="1000" b="0">
                          <a:solidFill>
                            <a:srgbClr val="22222A"/>
                          </a:solidFill>
                          <a:latin typeface="Calibri"/>
                        </a:rPr>
                        <a:t>3.6% vs 4.6%/yr</a:t>
                      </a:r>
                    </a:p>
                  </a:txBody>
                  <a:tcPr marL="91440" marR="73152" marT="27432" marB="27432" anchor="ctr">
                    <a:solidFill>
                      <a:srgbClr val="F8F8FB"/>
                    </a:solidFill>
                  </a:tcPr>
                </a:tc>
                <a:tc>
                  <a:txBody>
                    <a:bodyPr wrap="square"/>
                    <a:lstStyle/>
                    <a:p>
                      <a:pPr algn="ctr"/>
                      <a:r>
                        <a:rPr sz="1000" b="0">
                          <a:solidFill>
                            <a:srgbClr val="22222A"/>
                          </a:solidFill>
                          <a:latin typeface="Calibri"/>
                        </a:rPr>
                        <a:t>0.101</a:t>
                      </a:r>
                    </a:p>
                  </a:txBody>
                  <a:tcPr marL="91440" marR="73152" marT="27432" marB="27432" anchor="ctr">
                    <a:solidFill>
                      <a:srgbClr val="F8F8FB"/>
                    </a:solidFill>
                  </a:tcPr>
                </a:tc>
                <a:tc>
                  <a:txBody>
                    <a:bodyPr wrap="square"/>
                    <a:lstStyle/>
                    <a:p>
                      <a:pPr algn="l"/>
                      <a:r>
                        <a:rPr sz="1000" b="0">
                          <a:solidFill>
                            <a:srgbClr val="22222A"/>
                          </a:solidFill>
                          <a:latin typeface="Calibri"/>
                        </a:rPr>
                        <a:t>Entity_C is not a second Entity_B — yet</a:t>
                      </a:r>
                    </a:p>
                  </a:txBody>
                  <a:tcPr marL="91440" marR="73152" marT="27432" marB="27432" anchor="ctr">
                    <a:solidFill>
                      <a:srgbClr val="F8F8FB"/>
                    </a:solidFill>
                  </a:tcPr>
                </a:tc>
              </a:tr>
            </a:tbl>
          </a:graphicData>
        </a:graphic>
      </p:graphicFrame>
      <p:sp>
        <p:nvSpPr>
          <p:cNvPr id="8" name="Rectangle 7"/>
          <p:cNvSpPr/>
          <p:nvPr/>
        </p:nvSpPr>
        <p:spPr>
          <a:xfrm>
            <a:off x="566928" y="5532120"/>
            <a:ext cx="50292" cy="65836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Three of the six nulls each rule out a seven-figure programme. Slide 10's “notice what's not on this list” rests entirely on this page.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A9</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Glossary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 statistics background assumed. Every term used in this deck, in plain English.</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A9</a:t>
            </a:r>
          </a:p>
        </p:txBody>
      </p:sp>
      <p:sp>
        <p:nvSpPr>
          <p:cNvPr id="7" name="TextBox 6"/>
          <p:cNvSpPr txBox="1"/>
          <p:nvPr/>
        </p:nvSpPr>
        <p:spPr>
          <a:xfrm>
            <a:off x="566928"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p-value</a:t>
            </a:r>
          </a:p>
          <a:p>
            <a:pPr algn="l">
              <a:lnSpc>
                <a:spcPct val="112000"/>
              </a:lnSpc>
              <a:spcAft>
                <a:spcPts val="800"/>
              </a:spcAft>
            </a:pPr>
            <a:r>
              <a:rPr sz="950" i="0" b="0">
                <a:solidFill>
                  <a:srgbClr val="22222A"/>
                </a:solidFill>
                <a:latin typeface="Calibri"/>
              </a:rPr>
              <a:t>If there were no real difference between two groups, how surprising would a gap this big be from luck alone? Below 0.05 by convention. It is not the size of an effect.</a:t>
            </a:r>
          </a:p>
          <a:p>
            <a:pPr algn="l">
              <a:lnSpc>
                <a:spcPct val="100000"/>
              </a:lnSpc>
              <a:spcAft>
                <a:spcPts val="100"/>
              </a:spcAft>
            </a:pPr>
            <a:r>
              <a:rPr sz="1150" i="0" b="1">
                <a:solidFill>
                  <a:srgbClr val="460073"/>
                </a:solidFill>
                <a:latin typeface="Calibri"/>
              </a:rPr>
              <a:t>Statistically significant</a:t>
            </a:r>
          </a:p>
          <a:p>
            <a:pPr algn="l">
              <a:lnSpc>
                <a:spcPct val="112000"/>
              </a:lnSpc>
              <a:spcAft>
                <a:spcPts val="800"/>
              </a:spcAft>
            </a:pPr>
            <a:r>
              <a:rPr sz="950" i="0" b="0">
                <a:solidFill>
                  <a:srgbClr val="22222A"/>
                </a:solidFill>
                <a:latin typeface="Calibri"/>
              </a:rPr>
              <a:t>Shorthand for “unlikely to be a coincidence”. It does not mean big or important.</a:t>
            </a:r>
          </a:p>
          <a:p>
            <a:pPr algn="l">
              <a:lnSpc>
                <a:spcPct val="100000"/>
              </a:lnSpc>
              <a:spcAft>
                <a:spcPts val="100"/>
              </a:spcAft>
            </a:pPr>
            <a:r>
              <a:rPr sz="1150" i="0" b="1">
                <a:solidFill>
                  <a:srgbClr val="460073"/>
                </a:solidFill>
                <a:latin typeface="Calibri"/>
              </a:rPr>
              <a:t>Chi-square test</a:t>
            </a:r>
          </a:p>
          <a:p>
            <a:pPr algn="l">
              <a:lnSpc>
                <a:spcPct val="112000"/>
              </a:lnSpc>
              <a:spcAft>
                <a:spcPts val="800"/>
              </a:spcAft>
            </a:pPr>
            <a:r>
              <a:rPr sz="950" i="0" b="0">
                <a:solidFill>
                  <a:srgbClr val="22222A"/>
                </a:solidFill>
                <a:latin typeface="Calibri"/>
              </a:rPr>
              <a:t>Used when comparing rates or categories between groups.</a:t>
            </a:r>
          </a:p>
          <a:p>
            <a:pPr algn="l">
              <a:lnSpc>
                <a:spcPct val="100000"/>
              </a:lnSpc>
              <a:spcAft>
                <a:spcPts val="100"/>
              </a:spcAft>
            </a:pPr>
            <a:r>
              <a:rPr sz="1150" i="0" b="1">
                <a:solidFill>
                  <a:srgbClr val="460073"/>
                </a:solidFill>
                <a:latin typeface="Calibri"/>
              </a:rPr>
              <a:t>Welch's t-test</a:t>
            </a:r>
          </a:p>
          <a:p>
            <a:pPr algn="l">
              <a:lnSpc>
                <a:spcPct val="112000"/>
              </a:lnSpc>
              <a:spcAft>
                <a:spcPts val="800"/>
              </a:spcAft>
            </a:pPr>
            <a:r>
              <a:rPr sz="950" i="0" b="0">
                <a:solidFill>
                  <a:srgbClr val="22222A"/>
                </a:solidFill>
                <a:latin typeface="Calibri"/>
              </a:rPr>
              <a:t>Used when comparing the average of a number between two groups.</a:t>
            </a:r>
          </a:p>
          <a:p>
            <a:pPr algn="l">
              <a:lnSpc>
                <a:spcPct val="100000"/>
              </a:lnSpc>
              <a:spcAft>
                <a:spcPts val="100"/>
              </a:spcAft>
            </a:pPr>
            <a:r>
              <a:rPr sz="1150" i="0" b="1">
                <a:solidFill>
                  <a:srgbClr val="460073"/>
                </a:solidFill>
                <a:latin typeface="Calibri"/>
              </a:rPr>
              <a:t>Left truncation</a:t>
            </a:r>
          </a:p>
          <a:p>
            <a:pPr algn="l">
              <a:lnSpc>
                <a:spcPct val="112000"/>
              </a:lnSpc>
              <a:spcAft>
                <a:spcPts val="800"/>
              </a:spcAft>
            </a:pPr>
            <a:r>
              <a:rPr sz="950" i="0" b="0">
                <a:solidFill>
                  <a:srgbClr val="22222A"/>
                </a:solidFill>
                <a:latin typeface="Calibri"/>
              </a:rPr>
              <a:t>When people only become visible partway through their tenure. Ignoring it makes newer cohorts look like they leave faster. See A6 §1.1.</a:t>
            </a:r>
          </a:p>
          <a:p>
            <a:pPr algn="l">
              <a:lnSpc>
                <a:spcPct val="100000"/>
              </a:lnSpc>
              <a:spcAft>
                <a:spcPts val="100"/>
              </a:spcAft>
            </a:pPr>
            <a:r>
              <a:rPr sz="1150" i="0" b="1">
                <a:solidFill>
                  <a:srgbClr val="460073"/>
                </a:solidFill>
                <a:latin typeface="Calibri"/>
              </a:rPr>
              <a:t>Pseudo-replication</a:t>
            </a:r>
          </a:p>
          <a:p>
            <a:pPr algn="l">
              <a:lnSpc>
                <a:spcPct val="112000"/>
              </a:lnSpc>
              <a:spcAft>
                <a:spcPts val="800"/>
              </a:spcAft>
            </a:pPr>
            <a:r>
              <a:rPr sz="950" i="0" b="0">
                <a:solidFill>
                  <a:srgbClr val="22222A"/>
                </a:solidFill>
                <a:latin typeface="Calibri"/>
              </a:rPr>
              <a:t>Counting the same person once per survey wave, which makes results look more certain than they are. Avoided here.</a:t>
            </a:r>
          </a:p>
          <a:p>
            <a:pPr algn="l">
              <a:lnSpc>
                <a:spcPct val="100000"/>
              </a:lnSpc>
              <a:spcAft>
                <a:spcPts val="100"/>
              </a:spcAft>
            </a:pPr>
            <a:r>
              <a:rPr sz="1150" i="0" b="1">
                <a:solidFill>
                  <a:srgbClr val="460073"/>
                </a:solidFill>
                <a:latin typeface="Calibri"/>
              </a:rPr>
              <a:t>Four-fifths rule</a:t>
            </a:r>
          </a:p>
          <a:p>
            <a:pPr algn="l">
              <a:lnSpc>
                <a:spcPct val="112000"/>
              </a:lnSpc>
              <a:spcAft>
                <a:spcPts val="800"/>
              </a:spcAft>
            </a:pPr>
            <a:r>
              <a:rPr sz="950" i="0" b="0">
                <a:solidFill>
                  <a:srgbClr val="22222A"/>
                </a:solidFill>
                <a:latin typeface="Calibri"/>
              </a:rPr>
              <a:t>The standard EEOC adverse-impact screen. Below 0.80 warrants investigation.</a:t>
            </a:r>
          </a:p>
          <a:p>
            <a:pPr algn="l">
              <a:lnSpc>
                <a:spcPct val="100000"/>
              </a:lnSpc>
              <a:spcAft>
                <a:spcPts val="100"/>
              </a:spcAft>
            </a:pPr>
            <a:r>
              <a:rPr sz="1150" i="0" b="1">
                <a:solidFill>
                  <a:srgbClr val="460073"/>
                </a:solidFill>
                <a:latin typeface="Calibri"/>
              </a:rPr>
              <a:t>Precision / recall</a:t>
            </a:r>
          </a:p>
          <a:p>
            <a:pPr algn="l">
              <a:lnSpc>
                <a:spcPct val="112000"/>
              </a:lnSpc>
              <a:spcAft>
                <a:spcPts val="800"/>
              </a:spcAft>
            </a:pPr>
            <a:r>
              <a:rPr sz="950" i="0" b="0">
                <a:solidFill>
                  <a:srgbClr val="22222A"/>
                </a:solidFill>
                <a:latin typeface="Calibri"/>
              </a:rPr>
              <a:t>Of everyone a flag identifies, precision is the share who actually leave. Recall is the share of leavers it catches.</a:t>
            </a:r>
          </a:p>
        </p:txBody>
      </p:sp>
      <p:sp>
        <p:nvSpPr>
          <p:cNvPr id="8" name="TextBox 7"/>
          <p:cNvSpPr txBox="1"/>
          <p:nvPr/>
        </p:nvSpPr>
        <p:spPr>
          <a:xfrm>
            <a:off x="6400800"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Compa-ratio</a:t>
            </a:r>
          </a:p>
          <a:p>
            <a:pPr algn="l">
              <a:lnSpc>
                <a:spcPct val="112000"/>
              </a:lnSpc>
              <a:spcAft>
                <a:spcPts val="800"/>
              </a:spcAft>
            </a:pPr>
            <a:r>
              <a:rPr sz="950" i="0" b="0">
                <a:solidFill>
                  <a:srgbClr val="22222A"/>
                </a:solidFill>
                <a:latin typeface="Calibri"/>
              </a:rPr>
              <a:t>Salary divided by the midpoint of the pay range for that role and level. 1.00 = paid exactly at midpoint.</a:t>
            </a:r>
          </a:p>
          <a:p>
            <a:pPr algn="l">
              <a:lnSpc>
                <a:spcPct val="100000"/>
              </a:lnSpc>
              <a:spcAft>
                <a:spcPts val="100"/>
              </a:spcAft>
            </a:pPr>
            <a:r>
              <a:rPr sz="1150" i="0" b="1">
                <a:solidFill>
                  <a:srgbClr val="460073"/>
                </a:solidFill>
                <a:latin typeface="Calibri"/>
              </a:rPr>
              <a:t>HIPO</a:t>
            </a:r>
          </a:p>
          <a:p>
            <a:pPr algn="l">
              <a:lnSpc>
                <a:spcPct val="112000"/>
              </a:lnSpc>
              <a:spcAft>
                <a:spcPts val="800"/>
              </a:spcAft>
            </a:pPr>
            <a:r>
              <a:rPr sz="950" i="0" b="0">
                <a:solidFill>
                  <a:srgbClr val="22222A"/>
                </a:solidFill>
                <a:latin typeface="Calibri"/>
              </a:rPr>
              <a:t>“High potential.” A talent-review tag marking a likely future leader. Separate from a performance rating.</a:t>
            </a:r>
          </a:p>
          <a:p>
            <a:pPr algn="l">
              <a:lnSpc>
                <a:spcPct val="100000"/>
              </a:lnSpc>
              <a:spcAft>
                <a:spcPts val="100"/>
              </a:spcAft>
            </a:pPr>
            <a:r>
              <a:rPr sz="1150" i="0" b="1">
                <a:solidFill>
                  <a:srgbClr val="460073"/>
                </a:solidFill>
                <a:latin typeface="Calibri"/>
              </a:rPr>
              <a:t>Push vs pull</a:t>
            </a:r>
          </a:p>
          <a:p>
            <a:pPr algn="l">
              <a:lnSpc>
                <a:spcPct val="112000"/>
              </a:lnSpc>
              <a:spcAft>
                <a:spcPts val="800"/>
              </a:spcAft>
            </a:pPr>
            <a:r>
              <a:rPr sz="950" i="0" b="0">
                <a:solidFill>
                  <a:srgbClr val="22222A"/>
                </a:solidFill>
                <a:latin typeface="Calibri"/>
              </a:rPr>
              <a:t>Push = the organisation drove or managed the exit. Pull = an outside opportunity drew them away. Push includes genuinely involuntary exits and does not mean disengagement-driven.</a:t>
            </a:r>
          </a:p>
          <a:p>
            <a:pPr algn="l">
              <a:lnSpc>
                <a:spcPct val="100000"/>
              </a:lnSpc>
              <a:spcAft>
                <a:spcPts val="100"/>
              </a:spcAft>
            </a:pPr>
            <a:r>
              <a:rPr sz="1150" i="0" b="1">
                <a:solidFill>
                  <a:srgbClr val="460073"/>
                </a:solidFill>
                <a:latin typeface="Calibri"/>
              </a:rPr>
              <a:t>Regrettable attrition</a:t>
            </a:r>
          </a:p>
          <a:p>
            <a:pPr algn="l">
              <a:lnSpc>
                <a:spcPct val="112000"/>
              </a:lnSpc>
              <a:spcAft>
                <a:spcPts val="800"/>
              </a:spcAft>
            </a:pPr>
            <a:r>
              <a:rPr sz="950" i="0" b="0">
                <a:solidFill>
                  <a:srgbClr val="22222A"/>
                </a:solidFill>
                <a:latin typeface="Calibri"/>
              </a:rPr>
              <a:t>HR's label for a departure the company didn't want. Here it is a retrospective judgement recorded after the exit, not a measurement. That is the subject of slides 3 and 4.</a:t>
            </a:r>
          </a:p>
          <a:p>
            <a:pPr algn="l">
              <a:lnSpc>
                <a:spcPct val="100000"/>
              </a:lnSpc>
              <a:spcAft>
                <a:spcPts val="100"/>
              </a:spcAft>
            </a:pPr>
            <a:r>
              <a:rPr sz="1150" i="0" b="1">
                <a:solidFill>
                  <a:srgbClr val="460073"/>
                </a:solidFill>
                <a:latin typeface="Calibri"/>
              </a:rPr>
              <a:t>Composite index</a:t>
            </a:r>
          </a:p>
          <a:p>
            <a:pPr algn="l">
              <a:lnSpc>
                <a:spcPct val="112000"/>
              </a:lnSpc>
              <a:spcAft>
                <a:spcPts val="800"/>
              </a:spcAft>
            </a:pPr>
            <a:r>
              <a:rPr sz="950" i="0" b="0">
                <a:solidFill>
                  <a:srgbClr val="22222A"/>
                </a:solidFill>
                <a:latin typeface="Calibri"/>
              </a:rPr>
              <a:t>One number made by averaging several scores. It can hide a serious problem in one component by averaging it against healthy ones, which is what happened to Entity_B.</a:t>
            </a:r>
          </a:p>
          <a:p>
            <a:pPr algn="l">
              <a:lnSpc>
                <a:spcPct val="100000"/>
              </a:lnSpc>
              <a:spcAft>
                <a:spcPts val="100"/>
              </a:spcAft>
            </a:pPr>
            <a:r>
              <a:rPr sz="1150" i="0" b="1">
                <a:solidFill>
                  <a:srgbClr val="460073"/>
                </a:solidFill>
                <a:latin typeface="Calibri"/>
              </a:rPr>
              <a:t>Backfill rate</a:t>
            </a:r>
          </a:p>
          <a:p>
            <a:pPr algn="l">
              <a:lnSpc>
                <a:spcPct val="112000"/>
              </a:lnSpc>
              <a:spcAft>
                <a:spcPts val="800"/>
              </a:spcAft>
            </a:pPr>
            <a:r>
              <a:rPr sz="950" i="0" b="0">
                <a:solidFill>
                  <a:srgbClr val="22222A"/>
                </a:solidFill>
                <a:latin typeface="Calibri"/>
              </a:rPr>
              <a:t>The share of vacated roles actually refilled, 85% per the brief. Unfilled roles incur no replacement cost.</a:t>
            </a:r>
          </a:p>
          <a:p>
            <a:pPr algn="l">
              <a:lnSpc>
                <a:spcPct val="100000"/>
              </a:lnSpc>
              <a:spcAft>
                <a:spcPts val="100"/>
              </a:spcAft>
            </a:pPr>
            <a:r>
              <a:rPr sz="1150" i="0" b="1">
                <a:solidFill>
                  <a:srgbClr val="460073"/>
                </a:solidFill>
                <a:latin typeface="Calibri"/>
              </a:rPr>
              <a:t>FAR</a:t>
            </a:r>
          </a:p>
          <a:p>
            <a:pPr algn="l">
              <a:lnSpc>
                <a:spcPct val="112000"/>
              </a:lnSpc>
              <a:spcAft>
                <a:spcPts val="800"/>
              </a:spcAft>
            </a:pPr>
            <a:r>
              <a:rPr sz="950" i="0" b="0">
                <a:solidFill>
                  <a:srgbClr val="22222A"/>
                </a:solidFill>
                <a:latin typeface="Calibri"/>
              </a:rPr>
              <a:t>Financial Accountability Regime. Australian legislation effective March 2024 imposing personal accountability on senior financial executives. Named in NovaCorp's Annual Report as a driver of Risk &amp; Compliance attrition.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A10</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Annual Report reconciliation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We cross-checked against NovaCorp's published FY2025 Annual Report to confirm we describe the same workforce. Headcounts matched exactly. The attrition metric did not match its label.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Seven independent exact matches on the attrition column is not coincidence. The published metric is total attrition, including the 267 involuntary exits.</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A10</a:t>
            </a:r>
          </a:p>
        </p:txBody>
      </p:sp>
      <p:graphicFrame>
        <p:nvGraphicFramePr>
          <p:cNvPr id="8" name="Table 7"/>
          <p:cNvGraphicFramePr>
            <a:graphicFrameLocks noGrp="1"/>
          </p:cNvGraphicFramePr>
          <p:nvPr/>
        </p:nvGraphicFramePr>
        <p:xfrm>
          <a:off x="566928" y="1874519"/>
          <a:ext cx="11064240" cy="3456432"/>
        </p:xfrm>
        <a:graphic>
          <a:graphicData uri="http://schemas.openxmlformats.org/drawingml/2006/table">
            <a:tbl>
              <a:tblPr firstRow="1" bandRow="1">
                <a:tableStyleId>{5C22544A-7EE6-4342-B048-85BDC9FD1C3A}</a:tableStyleId>
              </a:tblPr>
              <a:tblGrid>
                <a:gridCol w="2743200"/>
                <a:gridCol w="2194560"/>
                <a:gridCol w="2011680"/>
                <a:gridCol w="1920240"/>
                <a:gridCol w="2194560"/>
              </a:tblGrid>
              <a:tr h="384048">
                <a:tc>
                  <a:txBody>
                    <a:bodyPr wrap="square"/>
                    <a:lstStyle/>
                    <a:p>
                      <a:pPr algn="l"/>
                      <a:r>
                        <a:rPr sz="1150" b="1">
                          <a:solidFill>
                            <a:srgbClr val="FFFFFF"/>
                          </a:solidFill>
                          <a:latin typeface="Calibri"/>
                        </a:rPr>
                        <a:t>Department</a:t>
                      </a:r>
                    </a:p>
                  </a:txBody>
                  <a:tcPr marL="91440" marR="73152" marT="27432" marB="27432" anchor="ctr">
                    <a:solidFill>
                      <a:srgbClr val="460073"/>
                    </a:solidFill>
                  </a:tcPr>
                </a:tc>
                <a:tc>
                  <a:txBody>
                    <a:bodyPr wrap="square"/>
                    <a:lstStyle/>
                    <a:p>
                      <a:pPr algn="ctr"/>
                      <a:r>
                        <a:rPr sz="1150" b="1">
                          <a:solidFill>
                            <a:srgbClr val="FFFFFF"/>
                          </a:solidFill>
                          <a:latin typeface="Calibri"/>
                        </a:rPr>
                        <a:t>AR “voluntary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total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voluntary only</a:t>
                      </a:r>
                    </a:p>
                  </a:txBody>
                  <a:tcPr marL="91440" marR="73152" marT="27432" marB="27432" anchor="ctr">
                    <a:solidFill>
                      <a:srgbClr val="460073"/>
                    </a:solidFill>
                  </a:tcPr>
                </a:tc>
                <a:tc>
                  <a:txBody>
                    <a:bodyPr wrap="square"/>
                    <a:lstStyle/>
                    <a:p>
                      <a:pPr algn="ctr"/>
                      <a:r>
                        <a:rPr sz="1150" b="1">
                          <a:solidFill>
                            <a:srgbClr val="FFFFFF"/>
                          </a:solidFill>
                          <a:latin typeface="Calibri"/>
                        </a:rPr>
                        <a:t>Annualised voluntary on active</a:t>
                      </a:r>
                    </a:p>
                  </a:txBody>
                  <a:tcPr marL="91440" marR="73152" marT="27432" marB="27432" anchor="ctr">
                    <a:solidFill>
                      <a:srgbClr val="460073"/>
                    </a:solidFill>
                  </a:tcPr>
                </a:tc>
              </a:tr>
              <a:tr h="384048">
                <a:tc>
                  <a:txBody>
                    <a:bodyPr wrap="square"/>
                    <a:lstStyle/>
                    <a:p>
                      <a:pPr algn="l"/>
                      <a:r>
                        <a:rPr sz="11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7.7%</a:t>
                      </a:r>
                    </a:p>
                  </a:txBody>
                  <a:tcPr marL="91440" marR="73152" marT="27432" marB="27432" anchor="ctr">
                    <a:solidFill>
                      <a:srgbClr val="FFFFFF"/>
                    </a:solidFill>
                  </a:tcPr>
                </a:tc>
                <a:tc>
                  <a:txBody>
                    <a:bodyPr wrap="square"/>
                    <a:lstStyle/>
                    <a:p>
                      <a:pPr algn="ctr"/>
                      <a:r>
                        <a:rPr sz="1100" b="0">
                          <a:solidFill>
                            <a:srgbClr val="22222A"/>
                          </a:solidFill>
                          <a:latin typeface="Calibri"/>
                        </a:rPr>
                        <a:t>4.2%</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Technology</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4.7%</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Risk &amp; Compliance</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9.6%</a:t>
                      </a:r>
                    </a:p>
                  </a:txBody>
                  <a:tcPr marL="91440" marR="73152" marT="27432" marB="27432" anchor="ctr">
                    <a:solidFill>
                      <a:srgbClr val="FFFFFF"/>
                    </a:solidFill>
                  </a:tcPr>
                </a:tc>
                <a:tc>
                  <a:txBody>
                    <a:bodyPr wrap="square"/>
                    <a:lstStyle/>
                    <a:p>
                      <a:pPr algn="ctr"/>
                      <a:r>
                        <a:rPr sz="1100" b="0">
                          <a:solidFill>
                            <a:srgbClr val="22222A"/>
                          </a:solidFill>
                          <a:latin typeface="Calibri"/>
                        </a:rPr>
                        <a:t>5.5%</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Insurance</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8.0%</a:t>
                      </a:r>
                    </a:p>
                  </a:txBody>
                  <a:tcPr marL="91440" marR="73152" marT="27432" marB="27432" anchor="ctr">
                    <a:solidFill>
                      <a:srgbClr val="F8F8FB"/>
                    </a:solidFill>
                  </a:tcPr>
                </a:tc>
                <a:tc>
                  <a:txBody>
                    <a:bodyPr wrap="square"/>
                    <a:lstStyle/>
                    <a:p>
                      <a:pPr algn="ctr"/>
                      <a:r>
                        <a:rPr sz="1100" b="0">
                          <a:solidFill>
                            <a:srgbClr val="22222A"/>
                          </a:solidFill>
                          <a:latin typeface="Calibri"/>
                        </a:rPr>
                        <a:t>4.5%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7.9%</a:t>
                      </a:r>
                    </a:p>
                  </a:txBody>
                  <a:tcPr marL="91440" marR="73152" marT="27432" marB="27432" anchor="ctr">
                    <a:solidFill>
                      <a:srgbClr val="FFFFFF"/>
                    </a:solidFill>
                  </a:tcPr>
                </a:tc>
                <a:tc>
                  <a:txBody>
                    <a:bodyPr wrap="square"/>
                    <a:lstStyle/>
                    <a:p>
                      <a:pPr algn="ctr"/>
                      <a:r>
                        <a:rPr sz="1100" b="0">
                          <a:solidFill>
                            <a:srgbClr val="22222A"/>
                          </a:solidFill>
                          <a:latin typeface="Calibri"/>
                        </a:rPr>
                        <a:t>4.4%</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Corporate Operations</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9.7%</a:t>
                      </a:r>
                    </a:p>
                  </a:txBody>
                  <a:tcPr marL="91440" marR="73152" marT="27432" marB="27432" anchor="ctr">
                    <a:solidFill>
                      <a:srgbClr val="F8F8FB"/>
                    </a:solidFill>
                  </a:tcPr>
                </a:tc>
                <a:tc>
                  <a:txBody>
                    <a:bodyPr wrap="square"/>
                    <a:lstStyle/>
                    <a:p>
                      <a:pPr algn="ctr"/>
                      <a:r>
                        <a:rPr sz="1100" b="0">
                          <a:solidFill>
                            <a:srgbClr val="22222A"/>
                          </a:solidFill>
                          <a:latin typeface="Calibri"/>
                        </a:rPr>
                        <a:t>5.5%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7.4%</a:t>
                      </a:r>
                    </a:p>
                  </a:txBody>
                  <a:tcPr marL="91440" marR="73152" marT="27432" marB="27432" anchor="ctr">
                    <a:solidFill>
                      <a:srgbClr val="FFFFFF"/>
                    </a:solidFill>
                  </a:tcPr>
                </a:tc>
                <a:tc>
                  <a:txBody>
                    <a:bodyPr wrap="square"/>
                    <a:lstStyle/>
                    <a:p>
                      <a:pPr algn="ctr"/>
                      <a:r>
                        <a:rPr sz="1100" b="0">
                          <a:solidFill>
                            <a:srgbClr val="22222A"/>
                          </a:solidFill>
                          <a:latin typeface="Calibri"/>
                        </a:rPr>
                        <a:t>4.0%</a:t>
                      </a:r>
                    </a:p>
                  </a:txBody>
                  <a:tcPr marL="91440" marR="73152" marT="27432" marB="27432" anchor="ctr">
                    <a:solidFill>
                      <a:srgbClr val="FFFFFF"/>
                    </a:solidFill>
                  </a:tcPr>
                </a:tc>
              </a:tr>
              <a:tr h="384048">
                <a:tc>
                  <a:txBody>
                    <a:bodyPr wrap="square"/>
                    <a:lstStyle/>
                    <a:p>
                      <a:pPr algn="l"/>
                      <a:r>
                        <a:rPr sz="1100" b="1">
                          <a:solidFill>
                            <a:srgbClr val="22222A"/>
                          </a:solidFill>
                          <a:latin typeface="Calibri"/>
                        </a:rPr>
                        <a:t>Group</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8.5%</a:t>
                      </a:r>
                    </a:p>
                  </a:txBody>
                  <a:tcPr marL="91440" marR="73152" marT="27432" marB="27432" anchor="ctr">
                    <a:solidFill>
                      <a:srgbClr val="F4E9FF"/>
                    </a:solidFill>
                  </a:tcPr>
                </a:tc>
                <a:tc>
                  <a:txBody>
                    <a:bodyPr wrap="square"/>
                    <a:lstStyle/>
                    <a:p>
                      <a:pPr algn="ctr"/>
                      <a:r>
                        <a:rPr sz="1100" b="1">
                          <a:solidFill>
                            <a:srgbClr val="22222A"/>
                          </a:solidFill>
                          <a:latin typeface="Calibri"/>
                        </a:rPr>
                        <a:t>4.7%</a:t>
                      </a:r>
                    </a:p>
                  </a:txBody>
                  <a:tcPr marL="91440" marR="73152" marT="27432" marB="27432" anchor="ctr">
                    <a:solidFill>
                      <a:srgbClr val="F4E9FF"/>
                    </a:solidFill>
                  </a:tcPr>
                </a:tc>
              </a:tr>
            </a:tbl>
          </a:graphicData>
        </a:graphic>
      </p:graphicFrame>
      <p:sp>
        <p:nvSpPr>
          <p:cNvPr id="9" name="Rectangle 8"/>
          <p:cNvSpPr/>
          <p:nvPr/>
        </p:nvSpPr>
        <p:spPr>
          <a:xfrm>
            <a:off x="566928" y="5394960"/>
            <a:ext cx="50292" cy="7772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10771632" cy="77724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Active employees, departures and all seven department headcounts matched the Annual Report exactly, which is what makes the attrition column meaningful. We restate the metric and flag the definition gap. We do not use it as an accusation.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Reproducibility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figure in this deck regenerates from the four supplied CSVs. No seeds, no sampling, no external benchmarks.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A11</a:t>
            </a:r>
          </a:p>
        </p:txBody>
      </p:sp>
      <p:graphicFrame>
        <p:nvGraphicFramePr>
          <p:cNvPr id="7" name="Table 6"/>
          <p:cNvGraphicFramePr>
            <a:graphicFrameLocks noGrp="1"/>
          </p:cNvGraphicFramePr>
          <p:nvPr/>
        </p:nvGraphicFramePr>
        <p:xfrm>
          <a:off x="566928" y="1691640"/>
          <a:ext cx="11064240" cy="4023360"/>
        </p:xfrm>
        <a:graphic>
          <a:graphicData uri="http://schemas.openxmlformats.org/drawingml/2006/table">
            <a:tbl>
              <a:tblPr firstRow="1" bandRow="1">
                <a:tableStyleId>{5C22544A-7EE6-4342-B048-85BDC9FD1C3A}</a:tableStyleId>
              </a:tblPr>
              <a:tblGrid>
                <a:gridCol w="3840480"/>
                <a:gridCol w="7223760"/>
              </a:tblGrid>
              <a:tr h="402336">
                <a:tc>
                  <a:txBody>
                    <a:bodyPr wrap="square"/>
                    <a:lstStyle/>
                    <a:p>
                      <a:pPr algn="l"/>
                      <a:r>
                        <a:rPr sz="1150" b="1">
                          <a:solidFill>
                            <a:srgbClr val="FFFFFF"/>
                          </a:solidFill>
                          <a:latin typeface="Calibri"/>
                        </a:rPr>
                        <a:t>Script</a:t>
                      </a:r>
                    </a:p>
                  </a:txBody>
                  <a:tcPr marL="91440" marR="73152" marT="27432" marB="27432" anchor="ctr">
                    <a:solidFill>
                      <a:srgbClr val="460073"/>
                    </a:solidFill>
                  </a:tcPr>
                </a:tc>
                <a:tc>
                  <a:txBody>
                    <a:bodyPr wrap="square"/>
                    <a:lstStyle/>
                    <a:p>
                      <a:pPr algn="l"/>
                      <a:r>
                        <a:rPr sz="1150" b="1">
                          <a:solidFill>
                            <a:srgbClr val="FFFFFF"/>
                          </a:solidFill>
                          <a:latin typeface="Calibri"/>
                        </a:rPr>
                        <a:t>Produces</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ethics_finance/cost_model.py</a:t>
                      </a:r>
                    </a:p>
                  </a:txBody>
                  <a:tcPr marL="91440" marR="73152" marT="27432" marB="27432" anchor="ctr">
                    <a:solidFill>
                      <a:srgbClr val="FFFFFF"/>
                    </a:solidFill>
                  </a:tcPr>
                </a:tc>
                <a:tc>
                  <a:txBody>
                    <a:bodyPr wrap="square"/>
                    <a:lstStyle/>
                    <a:p>
                      <a:pPr algn="l"/>
                      <a:r>
                        <a:rPr sz="1050" b="0">
                          <a:solidFill>
                            <a:srgbClr val="22222A"/>
                          </a:solidFill>
                          <a:latin typeface="Calibri"/>
                        </a:rPr>
                        <a:t>Every dollar figure in the deck, the Annual Report reconciliation, the sensitivity grid and the entity attrition table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ethics_finance/ethics_audit.py</a:t>
                      </a:r>
                    </a:p>
                  </a:txBody>
                  <a:tcPr marL="91440" marR="73152" marT="27432" marB="27432" anchor="ctr">
                    <a:solidFill>
                      <a:srgbClr val="F8F8FB"/>
                    </a:solidFill>
                  </a:tcPr>
                </a:tc>
                <a:tc>
                  <a:txBody>
                    <a:bodyPr wrap="square"/>
                    <a:lstStyle/>
                    <a:p>
                      <a:pPr algn="l"/>
                      <a:r>
                        <a:rPr sz="1050" b="0">
                          <a:solidFill>
                            <a:srgbClr val="22222A"/>
                          </a:solidFill>
                          <a:latin typeface="Calibri"/>
                        </a:rPr>
                        <a:t>Flag consistency, all four-fifths tests, flag precision and recall</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ethics_finance/make_figures.py</a:t>
                      </a:r>
                    </a:p>
                  </a:txBody>
                  <a:tcPr marL="91440" marR="73152" marT="27432" marB="27432" anchor="ctr">
                    <a:solidFill>
                      <a:srgbClr val="FFFFFF"/>
                    </a:solidFill>
                  </a:tcPr>
                </a:tc>
                <a:tc>
                  <a:txBody>
                    <a:bodyPr wrap="square"/>
                    <a:lstStyle/>
                    <a:p>
                      <a:pPr algn="l"/>
                      <a:r>
                        <a:rPr sz="1050" b="0">
                          <a:solidFill>
                            <a:srgbClr val="22222A"/>
                          </a:solidFill>
                          <a:latin typeface="Calibri"/>
                        </a:rPr>
                        <a:t>The six E-charts, including E6 on slide 5</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explore_part1.py</a:t>
                      </a:r>
                    </a:p>
                  </a:txBody>
                  <a:tcPr marL="91440" marR="73152" marT="27432" marB="27432" anchor="ctr">
                    <a:solidFill>
                      <a:srgbClr val="F8F8FB"/>
                    </a:solidFill>
                  </a:tcPr>
                </a:tc>
                <a:tc>
                  <a:txBody>
                    <a:bodyPr wrap="square"/>
                    <a:lstStyle/>
                    <a:p>
                      <a:pPr algn="l"/>
                      <a:r>
                        <a:rPr sz="1050" b="0">
                          <a:solidFill>
                            <a:srgbClr val="22222A"/>
                          </a:solidFill>
                          <a:latin typeface="Calibri"/>
                        </a:rPr>
                        <a:t>Part 1's 21 charts, including slide 6's entity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explore_pt2/explore_part2.py</a:t>
                      </a:r>
                    </a:p>
                  </a:txBody>
                  <a:tcPr marL="91440" marR="73152" marT="27432" marB="27432" anchor="ctr">
                    <a:solidFill>
                      <a:srgbClr val="FFFFFF"/>
                    </a:solidFill>
                  </a:tcPr>
                </a:tc>
                <a:tc>
                  <a:txBody>
                    <a:bodyPr wrap="square"/>
                    <a:lstStyle/>
                    <a:p>
                      <a:pPr algn="l"/>
                      <a:r>
                        <a:rPr sz="1050" b="0">
                          <a:solidFill>
                            <a:srgbClr val="22222A"/>
                          </a:solidFill>
                          <a:latin typeface="Calibri"/>
                        </a:rPr>
                        <a:t>Part 2's 15 charts and 18 findings, including slides 7 and 8</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recommendation/cost_fix2.py</a:t>
                      </a:r>
                    </a:p>
                  </a:txBody>
                  <a:tcPr marL="91440" marR="73152" marT="27432" marB="27432" anchor="ctr">
                    <a:solidFill>
                      <a:srgbClr val="F8F8FB"/>
                    </a:solidFill>
                  </a:tcPr>
                </a:tc>
                <a:tc>
                  <a:txBody>
                    <a:bodyPr wrap="square"/>
                    <a:lstStyle/>
                    <a:p>
                      <a:pPr algn="l"/>
                      <a:r>
                        <a:rPr sz="1050" b="0">
                          <a:solidFill>
                            <a:srgbClr val="22222A"/>
                          </a:solidFill>
                          <a:latin typeface="Calibri"/>
                        </a:rPr>
                        <a:t>Independent cross-check of the corrected early-tenure lever</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recommendation/reconcile_deck_numbers.py</a:t>
                      </a:r>
                    </a:p>
                  </a:txBody>
                  <a:tcPr marL="91440" marR="73152" marT="27432" marB="27432" anchor="ctr">
                    <a:solidFill>
                      <a:srgbClr val="FFFFFF"/>
                    </a:solidFill>
                  </a:tcPr>
                </a:tc>
                <a:tc>
                  <a:txBody>
                    <a:bodyPr wrap="square"/>
                    <a:lstStyle/>
                    <a:p>
                      <a:pPr algn="l"/>
                      <a:r>
                        <a:rPr sz="1050" b="0">
                          <a:solidFill>
                            <a:srgbClr val="22222A"/>
                          </a:solidFill>
                          <a:latin typeface="Calibri"/>
                        </a:rPr>
                        <a:t>The denominator audit and population table behind A2 and A14</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recommendation/make_deck_figures.py</a:t>
                      </a:r>
                    </a:p>
                  </a:txBody>
                  <a:tcPr marL="91440" marR="73152" marT="27432" marB="27432" anchor="ctr">
                    <a:solidFill>
                      <a:srgbClr val="F8F8FB"/>
                    </a:solidFill>
                  </a:tcPr>
                </a:tc>
                <a:tc>
                  <a:txBody>
                    <a:bodyPr wrap="square"/>
                    <a:lstStyle/>
                    <a:p>
                      <a:pPr algn="l"/>
                      <a:r>
                        <a:rPr sz="1050" b="0">
                          <a:solidFill>
                            <a:srgbClr val="22222A"/>
                          </a:solidFill>
                          <a:latin typeface="Calibri"/>
                        </a:rPr>
                        <a:t>Slide 9's entity recovery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recommendation/build_deck.py</a:t>
                      </a:r>
                    </a:p>
                  </a:txBody>
                  <a:tcPr marL="91440" marR="73152" marT="27432" marB="27432" anchor="ctr">
                    <a:solidFill>
                      <a:srgbClr val="FFFFFF"/>
                    </a:solidFill>
                  </a:tcPr>
                </a:tc>
                <a:tc>
                  <a:txBody>
                    <a:bodyPr wrap="square"/>
                    <a:lstStyle/>
                    <a:p>
                      <a:pPr algn="l"/>
                      <a:r>
                        <a:rPr sz="1050" b="0">
                          <a:solidFill>
                            <a:srgbClr val="22222A"/>
                          </a:solidFill>
                          <a:latin typeface="Calibri"/>
                        </a:rPr>
                        <a:t>This deck</a:t>
                      </a:r>
                    </a:p>
                  </a:txBody>
                  <a:tcPr marL="91440" marR="73152" marT="27432" marB="27432" anchor="ctr">
                    <a:solidFill>
                      <a:srgbClr val="FFFFFF"/>
                    </a:solidFill>
                  </a:tcPr>
                </a:tc>
              </a:tr>
            </a:tbl>
          </a:graphicData>
        </a:graphic>
      </p:graphicFrame>
      <p:sp>
        <p:nvSpPr>
          <p:cNvPr id="8" name="Rectangle 7"/>
          <p:cNvSpPr/>
          <p:nvPr/>
        </p:nvSpPr>
        <p:spPr>
          <a:xfrm>
            <a:off x="566928" y="5532120"/>
            <a:ext cx="50292" cy="65836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Dependencies are pinned in requirements.txt. From a clean clone: create the venv, install, then run each script from its own directory. Two independent implementations agree on the early-tenure lever; four agree on the entity rates.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we cut, and why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Decided deliberately, not by running out of room. All remain in the repo and are defensible if raised.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A12</a:t>
            </a:r>
          </a:p>
        </p:txBody>
      </p:sp>
      <p:graphicFrame>
        <p:nvGraphicFramePr>
          <p:cNvPr id="7" name="Table 6"/>
          <p:cNvGraphicFramePr>
            <a:graphicFrameLocks noGrp="1"/>
          </p:cNvGraphicFramePr>
          <p:nvPr/>
        </p:nvGraphicFramePr>
        <p:xfrm>
          <a:off x="566928" y="1645920"/>
          <a:ext cx="11064240" cy="4096512"/>
        </p:xfrm>
        <a:graphic>
          <a:graphicData uri="http://schemas.openxmlformats.org/drawingml/2006/table">
            <a:tbl>
              <a:tblPr firstRow="1" bandRow="1">
                <a:tableStyleId>{5C22544A-7EE6-4342-B048-85BDC9FD1C3A}</a:tableStyleId>
              </a:tblPr>
              <a:tblGrid>
                <a:gridCol w="4023360"/>
                <a:gridCol w="7040880"/>
              </a:tblGrid>
              <a:tr h="512064">
                <a:tc>
                  <a:txBody>
                    <a:bodyPr wrap="square"/>
                    <a:lstStyle/>
                    <a:p>
                      <a:pPr algn="l"/>
                      <a:r>
                        <a:rPr sz="1050" b="1">
                          <a:solidFill>
                            <a:srgbClr val="FFFFFF"/>
                          </a:solidFill>
                          <a:latin typeface="Calibri"/>
                        </a:rPr>
                        <a:t>Finding</a:t>
                      </a:r>
                    </a:p>
                  </a:txBody>
                  <a:tcPr marL="91440" marR="73152" marT="27432" marB="27432" anchor="ctr">
                    <a:solidFill>
                      <a:srgbClr val="460073"/>
                    </a:solidFill>
                  </a:tcPr>
                </a:tc>
                <a:tc>
                  <a:txBody>
                    <a:bodyPr wrap="square"/>
                    <a:lstStyle/>
                    <a:p>
                      <a:pPr algn="l"/>
                      <a:r>
                        <a:rPr sz="1050" b="1">
                          <a:solidFill>
                            <a:srgbClr val="FFFFFF"/>
                          </a:solidFill>
                          <a:latin typeface="Calibri"/>
                        </a:rPr>
                        <a:t>Why it is not in the deck</a:t>
                      </a:r>
                    </a:p>
                  </a:txBody>
                  <a:tcPr marL="91440" marR="73152" marT="27432" marB="27432" anchor="ctr">
                    <a:solidFill>
                      <a:srgbClr val="460073"/>
                    </a:solidFill>
                  </a:tcPr>
                </a:tc>
              </a:tr>
              <a:tr h="512064">
                <a:tc>
                  <a:txBody>
                    <a:bodyPr wrap="square"/>
                    <a:lstStyle/>
                    <a:p>
                      <a:pPr algn="l"/>
                      <a:r>
                        <a:rPr sz="950" b="0">
                          <a:solidFill>
                            <a:srgbClr val="22222A"/>
                          </a:solidFill>
                          <a:latin typeface="Calibri"/>
                        </a:rPr>
                        <a:t>Recognition gap — under-recognised high performers leave at 9.6% vs 8.1%</a:t>
                      </a:r>
                    </a:p>
                  </a:txBody>
                  <a:tcPr marL="91440" marR="73152" marT="27432" marB="27432" anchor="ctr">
                    <a:solidFill>
                      <a:srgbClr val="FFFFFF"/>
                    </a:solidFill>
                  </a:tcPr>
                </a:tc>
                <a:tc>
                  <a:txBody>
                    <a:bodyPr wrap="square"/>
                    <a:lstStyle/>
                    <a:p>
                      <a:pPr algn="l"/>
                      <a:r>
                        <a:rPr sz="950" b="0">
                          <a:solidFill>
                            <a:srgbClr val="22222A"/>
                          </a:solidFill>
                          <a:latin typeface="Calibri"/>
                        </a:rPr>
                        <a:t>A 1.2× lift is weak next to Entity_B's 1.9×. Doesn't survive a “how big is that really?” question.</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Pay equity by level and gender</a:t>
                      </a:r>
                    </a:p>
                  </a:txBody>
                  <a:tcPr marL="91440" marR="73152" marT="27432" marB="27432" anchor="ctr">
                    <a:solidFill>
                      <a:srgbClr val="F8F8FB"/>
                    </a:solidFill>
                  </a:tcPr>
                </a:tc>
                <a:tc>
                  <a:txBody>
                    <a:bodyPr wrap="square"/>
                    <a:lstStyle/>
                    <a:p>
                      <a:pPr algn="l"/>
                      <a:r>
                        <a:rPr sz="950" b="0">
                          <a:solidFill>
                            <a:srgbClr val="22222A"/>
                          </a:solidFill>
                          <a:latin typeface="Calibri"/>
                        </a:rPr>
                        <a:t>Gaps are ≤1.0pt where samples are large, and only appear at L5–L7 where n &lt; 80. Leading with pay also contradicts slide 7, where Entity_B is paid above NovaCorp-Origin and leaves anyway.</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“Frozen middle” — attrition flat across L1–L4</a:t>
                      </a:r>
                    </a:p>
                  </a:txBody>
                  <a:tcPr marL="91440" marR="73152" marT="27432" marB="27432" anchor="ctr">
                    <a:solidFill>
                      <a:srgbClr val="FFFFFF"/>
                    </a:solidFill>
                  </a:tcPr>
                </a:tc>
                <a:tc>
                  <a:txBody>
                    <a:bodyPr wrap="square"/>
                    <a:lstStyle/>
                    <a:p>
                      <a:pPr algn="l"/>
                      <a:r>
                        <a:rPr sz="950" b="0">
                          <a:solidFill>
                            <a:srgbClr val="22222A"/>
                          </a:solidFill>
                          <a:latin typeface="Calibri"/>
                        </a:rPr>
                        <a:t>A null result. Useful for ruling out a middle-management framing, but no recommendation attaches to it.</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Manager Pareto and psychological safety by team</a:t>
                      </a:r>
                    </a:p>
                  </a:txBody>
                  <a:tcPr marL="91440" marR="73152" marT="27432" marB="27432" anchor="ctr">
                    <a:solidFill>
                      <a:srgbClr val="F8F8FB"/>
                    </a:solidFill>
                  </a:tcPr>
                </a:tc>
                <a:tc>
                  <a:txBody>
                    <a:bodyPr wrap="square"/>
                    <a:lstStyle/>
                    <a:p>
                      <a:pPr algn="l"/>
                      <a:r>
                        <a:rPr sz="950" b="0">
                          <a:solidFill>
                            <a:srgbClr val="22222A"/>
                          </a:solidFill>
                          <a:latin typeface="Calibri"/>
                        </a:rPr>
                        <a:t>The manager finding is now a negative. It appears on slide 10 as something we rule out, so it does not need its own slide.</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“68% of exits are push, therefore preventable”</a:t>
                      </a:r>
                    </a:p>
                  </a:txBody>
                  <a:tcPr marL="91440" marR="73152" marT="27432" marB="27432" anchor="ctr">
                    <a:solidFill>
                      <a:srgbClr val="FFFFFF"/>
                    </a:solidFill>
                  </a:tcPr>
                </a:tc>
                <a:tc>
                  <a:txBody>
                    <a:bodyPr wrap="square"/>
                    <a:lstStyle/>
                    <a:p>
                      <a:pPr algn="l"/>
                      <a:r>
                        <a:rPr sz="950" b="0">
                          <a:solidFill>
                            <a:srgbClr val="22222A"/>
                          </a:solidFill>
                          <a:latin typeface="Calibri"/>
                        </a:rPr>
                        <a:t>Cut on correctness, not space. Push includes 267 involuntary exits; the brief defines it as involuntary-or-managed, not disengagement-driven. See A6 §1.5.</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“Employees go silent before they quit”</a:t>
                      </a:r>
                    </a:p>
                  </a:txBody>
                  <a:tcPr marL="91440" marR="73152" marT="27432" marB="27432" anchor="ctr">
                    <a:solidFill>
                      <a:srgbClr val="F8F8FB"/>
                    </a:solidFill>
                  </a:tcPr>
                </a:tc>
                <a:tc>
                  <a:txBody>
                    <a:bodyPr wrap="square"/>
                    <a:lstStyle/>
                    <a:p>
                      <a:pPr algn="l"/>
                      <a:r>
                        <a:rPr sz="950" b="0">
                          <a:solidFill>
                            <a:srgbClr val="22222A"/>
                          </a:solidFill>
                          <a:latin typeface="Calibri"/>
                        </a:rPr>
                        <a:t>Cut on correctness. There is no pre-exit decay. Leavers respond at 70.6% in wave 1 and 70.3% in wave 5, and the gap to stayers narrows. Reframed on slide 8 as a stable signal available from arrival.</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“91% of early exits are acquisition-sourced” and “agency is one of our best sources”</a:t>
                      </a:r>
                    </a:p>
                  </a:txBody>
                  <a:tcPr marL="91440" marR="73152" marT="27432" marB="27432" anchor="ctr">
                    <a:solidFill>
                      <a:srgbClr val="FFFFFF"/>
                    </a:solidFill>
                  </a:tcPr>
                </a:tc>
                <a:tc>
                  <a:txBody>
                    <a:bodyPr wrap="square"/>
                    <a:lstStyle/>
                    <a:p>
                      <a:pPr algn="l"/>
                      <a:r>
                        <a:rPr sz="950" b="0">
                          <a:solidFill>
                            <a:srgbClr val="22222A"/>
                          </a:solidFill>
                          <a:latin typeface="Calibri"/>
                        </a:rPr>
                        <a:t>Both retracted. Artifacts of the left-truncation problem in A6 §1.1. On a like-for-like population agency is the second-worst source, not the second-best. See A7.</a:t>
                      </a:r>
                    </a:p>
                  </a:txBody>
                  <a:tcPr marL="91440" marR="73152" marT="27432" marB="27432"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Risk &amp; Compliance, and the department view</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NovaCorp's Annual Report singles out Risk &amp; Compliance. We looked, and it is real — but it is not where we would act first.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A13</a:t>
            </a:r>
          </a:p>
        </p:txBody>
      </p:sp>
      <p:graphicFrame>
        <p:nvGraphicFramePr>
          <p:cNvPr id="7" name="Table 6"/>
          <p:cNvGraphicFramePr>
            <a:graphicFrameLocks noGrp="1"/>
          </p:cNvGraphicFramePr>
          <p:nvPr/>
        </p:nvGraphicFramePr>
        <p:xfrm>
          <a:off x="566928" y="1572768"/>
          <a:ext cx="5943600" cy="2706624"/>
        </p:xfrm>
        <a:graphic>
          <a:graphicData uri="http://schemas.openxmlformats.org/drawingml/2006/table">
            <a:tbl>
              <a:tblPr firstRow="1" bandRow="1">
                <a:tableStyleId>{5C22544A-7EE6-4342-B048-85BDC9FD1C3A}</a:tableStyleId>
              </a:tblPr>
              <a:tblGrid>
                <a:gridCol w="1965960"/>
                <a:gridCol w="1051560"/>
                <a:gridCol w="868680"/>
                <a:gridCol w="822960"/>
                <a:gridCol w="1234440"/>
              </a:tblGrid>
              <a:tr h="338328">
                <a:tc>
                  <a:txBody>
                    <a:bodyPr wrap="square"/>
                    <a:lstStyle/>
                    <a:p>
                      <a:pPr algn="l"/>
                      <a:r>
                        <a:rPr sz="950" b="1">
                          <a:solidFill>
                            <a:srgbClr val="FFFFFF"/>
                          </a:solidFill>
                          <a:latin typeface="Calibri"/>
                        </a:rPr>
                        <a:t>Department</a:t>
                      </a:r>
                    </a:p>
                  </a:txBody>
                  <a:tcPr marL="91440" marR="73152" marT="27432" marB="27432" anchor="ctr">
                    <a:solidFill>
                      <a:srgbClr val="460073"/>
                    </a:solidFill>
                  </a:tcPr>
                </a:tc>
                <a:tc>
                  <a:txBody>
                    <a:bodyPr wrap="square"/>
                    <a:lstStyle/>
                    <a:p>
                      <a:pPr algn="ctr"/>
                      <a:r>
                        <a:rPr sz="950" b="1">
                          <a:solidFill>
                            <a:srgbClr val="FFFFFF"/>
                          </a:solidFill>
                          <a:latin typeface="Calibri"/>
                        </a:rPr>
                        <a:t>High-value exits</a:t>
                      </a:r>
                    </a:p>
                  </a:txBody>
                  <a:tcPr marL="91440" marR="73152" marT="27432" marB="27432" anchor="ctr">
                    <a:solidFill>
                      <a:srgbClr val="460073"/>
                    </a:solidFill>
                  </a:tcPr>
                </a:tc>
                <a:tc>
                  <a:txBody>
                    <a:bodyPr wrap="square"/>
                    <a:lstStyle/>
                    <a:p>
                      <a:pPr algn="ctr"/>
                      <a:r>
                        <a:rPr sz="950" b="1">
                          <a:solidFill>
                            <a:srgbClr val="FFFFFF"/>
                          </a:solidFill>
                          <a:latin typeface="Calibri"/>
                        </a:rPr>
                        <a:t>Cost/yr</a:t>
                      </a:r>
                    </a:p>
                  </a:txBody>
                  <a:tcPr marL="91440" marR="73152" marT="27432" marB="27432" anchor="ctr">
                    <a:solidFill>
                      <a:srgbClr val="460073"/>
                    </a:solidFill>
                  </a:tcPr>
                </a:tc>
                <a:tc>
                  <a:txBody>
                    <a:bodyPr wrap="square"/>
                    <a:lstStyle/>
                    <a:p>
                      <a:pPr algn="ctr"/>
                      <a:r>
                        <a:rPr sz="950" b="1">
                          <a:solidFill>
                            <a:srgbClr val="FFFFFF"/>
                          </a:solidFill>
                          <a:latin typeface="Calibri"/>
                        </a:rPr>
                        <a:t>Roster</a:t>
                      </a:r>
                    </a:p>
                  </a:txBody>
                  <a:tcPr marL="91440" marR="73152" marT="27432" marB="27432" anchor="ctr">
                    <a:solidFill>
                      <a:srgbClr val="460073"/>
                    </a:solidFill>
                  </a:tcPr>
                </a:tc>
                <a:tc>
                  <a:txBody>
                    <a:bodyPr wrap="square"/>
                    <a:lstStyle/>
                    <a:p>
                      <a:pPr algn="ctr"/>
                      <a:r>
                        <a:rPr sz="950" b="1">
                          <a:solidFill>
                            <a:srgbClr val="FFFFFF"/>
                          </a:solidFill>
                          <a:latin typeface="Calibri"/>
                        </a:rPr>
                        <a:t>High-value loss rate</a:t>
                      </a:r>
                    </a:p>
                  </a:txBody>
                  <a:tcPr marL="91440" marR="73152" marT="27432" marB="27432" anchor="ctr">
                    <a:solidFill>
                      <a:srgbClr val="460073"/>
                    </a:solidFill>
                  </a:tcPr>
                </a:tc>
              </a:tr>
              <a:tr h="338328">
                <a:tc>
                  <a:txBody>
                    <a:bodyPr wrap="square"/>
                    <a:lstStyle/>
                    <a:p>
                      <a:pPr algn="l"/>
                      <a:r>
                        <a:rPr sz="1000" b="1">
                          <a:solidFill>
                            <a:srgbClr val="22222A"/>
                          </a:solidFill>
                          <a:latin typeface="Calibri"/>
                        </a:rPr>
                        <a:t>Corporate Operations</a:t>
                      </a:r>
                    </a:p>
                  </a:txBody>
                  <a:tcPr marL="91440" marR="73152" marT="27432" marB="27432" anchor="ctr">
                    <a:solidFill>
                      <a:srgbClr val="F4E9FF"/>
                    </a:solidFill>
                  </a:tcPr>
                </a:tc>
                <a:tc>
                  <a:txBody>
                    <a:bodyPr wrap="square"/>
                    <a:lstStyle/>
                    <a:p>
                      <a:pPr algn="ctr"/>
                      <a:r>
                        <a:rPr sz="1000" b="1">
                          <a:solidFill>
                            <a:srgbClr val="22222A"/>
                          </a:solidFill>
                          <a:latin typeface="Calibri"/>
                        </a:rPr>
                        <a:t>82</a:t>
                      </a:r>
                    </a:p>
                  </a:txBody>
                  <a:tcPr marL="91440" marR="73152" marT="27432" marB="27432" anchor="ctr">
                    <a:solidFill>
                      <a:srgbClr val="F4E9FF"/>
                    </a:solidFill>
                  </a:tcPr>
                </a:tc>
                <a:tc>
                  <a:txBody>
                    <a:bodyPr wrap="square"/>
                    <a:lstStyle/>
                    <a:p>
                      <a:pPr algn="ctr"/>
                      <a:r>
                        <a:rPr sz="1000" b="1">
                          <a:solidFill>
                            <a:srgbClr val="22222A"/>
                          </a:solidFill>
                          <a:latin typeface="Calibri"/>
                        </a:rPr>
                        <a:t>$7.7M</a:t>
                      </a:r>
                    </a:p>
                  </a:txBody>
                  <a:tcPr marL="91440" marR="73152" marT="27432" marB="27432" anchor="ctr">
                    <a:solidFill>
                      <a:srgbClr val="F4E9FF"/>
                    </a:solidFill>
                  </a:tcPr>
                </a:tc>
                <a:tc>
                  <a:txBody>
                    <a:bodyPr wrap="square"/>
                    <a:lstStyle/>
                    <a:p>
                      <a:pPr algn="ctr"/>
                      <a:r>
                        <a:rPr sz="1000" b="1">
                          <a:solidFill>
                            <a:srgbClr val="22222A"/>
                          </a:solidFill>
                          <a:latin typeface="Calibri"/>
                        </a:rPr>
                        <a:t>1,509</a:t>
                      </a:r>
                    </a:p>
                  </a:txBody>
                  <a:tcPr marL="91440" marR="73152" marT="27432" marB="27432" anchor="ctr">
                    <a:solidFill>
                      <a:srgbClr val="F4E9FF"/>
                    </a:solidFill>
                  </a:tcPr>
                </a:tc>
                <a:tc>
                  <a:txBody>
                    <a:bodyPr wrap="square"/>
                    <a:lstStyle/>
                    <a:p>
                      <a:pPr algn="ctr"/>
                      <a:r>
                        <a:rPr sz="1000" b="1">
                          <a:solidFill>
                            <a:srgbClr val="22222A"/>
                          </a:solidFill>
                          <a:latin typeface="Calibri"/>
                        </a:rPr>
                        <a:t>5.4%</a:t>
                      </a:r>
                    </a:p>
                  </a:txBody>
                  <a:tcPr marL="91440" marR="73152" marT="27432" marB="27432" anchor="ctr">
                    <a:solidFill>
                      <a:srgbClr val="F4E9FF"/>
                    </a:solidFill>
                  </a:tcPr>
                </a:tc>
              </a:tr>
              <a:tr h="338328">
                <a:tc>
                  <a:txBody>
                    <a:bodyPr wrap="square"/>
                    <a:lstStyle/>
                    <a:p>
                      <a:pPr algn="l"/>
                      <a:r>
                        <a:rPr sz="1000" b="1">
                          <a:solidFill>
                            <a:srgbClr val="22222A"/>
                          </a:solidFill>
                          <a:latin typeface="Calibri"/>
                        </a:rPr>
                        <a:t>Risk &amp; Compliance</a:t>
                      </a:r>
                    </a:p>
                  </a:txBody>
                  <a:tcPr marL="91440" marR="73152" marT="27432" marB="27432" anchor="ctr">
                    <a:solidFill>
                      <a:srgbClr val="F4E9FF"/>
                    </a:solidFill>
                  </a:tcPr>
                </a:tc>
                <a:tc>
                  <a:txBody>
                    <a:bodyPr wrap="square"/>
                    <a:lstStyle/>
                    <a:p>
                      <a:pPr algn="ctr"/>
                      <a:r>
                        <a:rPr sz="1000" b="1">
                          <a:solidFill>
                            <a:srgbClr val="22222A"/>
                          </a:solidFill>
                          <a:latin typeface="Calibri"/>
                        </a:rPr>
                        <a:t>83</a:t>
                      </a:r>
                    </a:p>
                  </a:txBody>
                  <a:tcPr marL="91440" marR="73152" marT="27432" marB="27432" anchor="ctr">
                    <a:solidFill>
                      <a:srgbClr val="F4E9FF"/>
                    </a:solidFill>
                  </a:tcPr>
                </a:tc>
                <a:tc>
                  <a:txBody>
                    <a:bodyPr wrap="square"/>
                    <a:lstStyle/>
                    <a:p>
                      <a:pPr algn="ctr"/>
                      <a:r>
                        <a:rPr sz="1000" b="1">
                          <a:solidFill>
                            <a:srgbClr val="22222A"/>
                          </a:solidFill>
                          <a:latin typeface="Calibri"/>
                        </a:rPr>
                        <a:t>$8.0M</a:t>
                      </a:r>
                    </a:p>
                  </a:txBody>
                  <a:tcPr marL="91440" marR="73152" marT="27432" marB="27432" anchor="ctr">
                    <a:solidFill>
                      <a:srgbClr val="F4E9FF"/>
                    </a:solidFill>
                  </a:tcPr>
                </a:tc>
                <a:tc>
                  <a:txBody>
                    <a:bodyPr wrap="square"/>
                    <a:lstStyle/>
                    <a:p>
                      <a:pPr algn="ctr"/>
                      <a:r>
                        <a:rPr sz="1000" b="1">
                          <a:solidFill>
                            <a:srgbClr val="22222A"/>
                          </a:solidFill>
                          <a:latin typeface="Calibri"/>
                        </a:rPr>
                        <a:t>2,022</a:t>
                      </a:r>
                    </a:p>
                  </a:txBody>
                  <a:tcPr marL="91440" marR="73152" marT="27432" marB="27432" anchor="ctr">
                    <a:solidFill>
                      <a:srgbClr val="F4E9FF"/>
                    </a:solidFill>
                  </a:tcPr>
                </a:tc>
                <a:tc>
                  <a:txBody>
                    <a:bodyPr wrap="square"/>
                    <a:lstStyle/>
                    <a:p>
                      <a:pPr algn="ctr"/>
                      <a:r>
                        <a:rPr sz="1000" b="1">
                          <a:solidFill>
                            <a:srgbClr val="22222A"/>
                          </a:solidFill>
                          <a:latin typeface="Calibri"/>
                        </a:rPr>
                        <a:t>4.1%</a:t>
                      </a:r>
                    </a:p>
                  </a:txBody>
                  <a:tcPr marL="91440" marR="73152" marT="27432" marB="27432" anchor="ctr">
                    <a:solidFill>
                      <a:srgbClr val="F4E9FF"/>
                    </a:solidFill>
                  </a:tcPr>
                </a:tc>
              </a:tr>
              <a:tr h="338328">
                <a:tc>
                  <a:txBody>
                    <a:bodyPr wrap="square"/>
                    <a:lstStyle/>
                    <a:p>
                      <a:pPr algn="l"/>
                      <a:r>
                        <a:rPr sz="10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000" b="0">
                          <a:solidFill>
                            <a:srgbClr val="22222A"/>
                          </a:solidFill>
                          <a:latin typeface="Calibri"/>
                        </a:rPr>
                        <a:t>59</a:t>
                      </a:r>
                    </a:p>
                  </a:txBody>
                  <a:tcPr marL="91440" marR="73152" marT="27432" marB="27432" anchor="ctr">
                    <a:solidFill>
                      <a:srgbClr val="FFFFFF"/>
                    </a:solidFill>
                  </a:tcPr>
                </a:tc>
                <a:tc>
                  <a:txBody>
                    <a:bodyPr wrap="square"/>
                    <a:lstStyle/>
                    <a:p>
                      <a:pPr algn="ctr"/>
                      <a:r>
                        <a:rPr sz="1000" b="0">
                          <a:solidFill>
                            <a:srgbClr val="22222A"/>
                          </a:solidFill>
                          <a:latin typeface="Calibri"/>
                        </a:rPr>
                        <a:t>$5.5M</a:t>
                      </a:r>
                    </a:p>
                  </a:txBody>
                  <a:tcPr marL="91440" marR="73152" marT="27432" marB="27432" anchor="ctr">
                    <a:solidFill>
                      <a:srgbClr val="FFFFFF"/>
                    </a:solidFill>
                  </a:tcPr>
                </a:tc>
                <a:tc>
                  <a:txBody>
                    <a:bodyPr wrap="square"/>
                    <a:lstStyle/>
                    <a:p>
                      <a:pPr algn="ctr"/>
                      <a:r>
                        <a:rPr sz="1000" b="0">
                          <a:solidFill>
                            <a:srgbClr val="22222A"/>
                          </a:solidFill>
                          <a:latin typeface="Calibri"/>
                        </a:rPr>
                        <a:t>1,549</a:t>
                      </a:r>
                    </a:p>
                  </a:txBody>
                  <a:tcPr marL="91440" marR="73152" marT="27432" marB="27432" anchor="ctr">
                    <a:solidFill>
                      <a:srgbClr val="FFFFFF"/>
                    </a:solidFill>
                  </a:tcPr>
                </a:tc>
                <a:tc>
                  <a:txBody>
                    <a:bodyPr wrap="square"/>
                    <a:lstStyle/>
                    <a:p>
                      <a:pPr algn="ctr"/>
                      <a:r>
                        <a:rPr sz="1000" b="0">
                          <a:solidFill>
                            <a:srgbClr val="22222A"/>
                          </a:solidFill>
                          <a:latin typeface="Calibri"/>
                        </a:rPr>
                        <a:t>3.8%</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Insurance</a:t>
                      </a:r>
                    </a:p>
                  </a:txBody>
                  <a:tcPr marL="91440" marR="73152" marT="27432" marB="27432" anchor="ctr">
                    <a:solidFill>
                      <a:srgbClr val="F8F8FB"/>
                    </a:solidFill>
                  </a:tcPr>
                </a:tc>
                <a:tc>
                  <a:txBody>
                    <a:bodyPr wrap="square"/>
                    <a:lstStyle/>
                    <a:p>
                      <a:pPr algn="ctr"/>
                      <a:r>
                        <a:rPr sz="1000" b="0">
                          <a:solidFill>
                            <a:srgbClr val="22222A"/>
                          </a:solidFill>
                          <a:latin typeface="Calibri"/>
                        </a:rPr>
                        <a:t>67</a:t>
                      </a:r>
                    </a:p>
                  </a:txBody>
                  <a:tcPr marL="91440" marR="73152" marT="27432" marB="27432" anchor="ctr">
                    <a:solidFill>
                      <a:srgbClr val="F8F8FB"/>
                    </a:solidFill>
                  </a:tcPr>
                </a:tc>
                <a:tc>
                  <a:txBody>
                    <a:bodyPr wrap="square"/>
                    <a:lstStyle/>
                    <a:p>
                      <a:pPr algn="ctr"/>
                      <a:r>
                        <a:rPr sz="1000" b="0">
                          <a:solidFill>
                            <a:srgbClr val="22222A"/>
                          </a:solidFill>
                          <a:latin typeface="Calibri"/>
                        </a:rPr>
                        <a:t>$6.1M</a:t>
                      </a:r>
                    </a:p>
                  </a:txBody>
                  <a:tcPr marL="91440" marR="73152" marT="27432" marB="27432" anchor="ctr">
                    <a:solidFill>
                      <a:srgbClr val="F8F8FB"/>
                    </a:solidFill>
                  </a:tcPr>
                </a:tc>
                <a:tc>
                  <a:txBody>
                    <a:bodyPr wrap="square"/>
                    <a:lstStyle/>
                    <a:p>
                      <a:pPr algn="ctr"/>
                      <a:r>
                        <a:rPr sz="1000" b="0">
                          <a:solidFill>
                            <a:srgbClr val="22222A"/>
                          </a:solidFill>
                          <a:latin typeface="Calibri"/>
                        </a:rPr>
                        <a:t>1,781</a:t>
                      </a:r>
                    </a:p>
                  </a:txBody>
                  <a:tcPr marL="91440" marR="73152" marT="27432" marB="27432" anchor="ctr">
                    <a:solidFill>
                      <a:srgbClr val="F8F8FB"/>
                    </a:solidFill>
                  </a:tcPr>
                </a:tc>
                <a:tc>
                  <a:txBody>
                    <a:bodyPr wrap="square"/>
                    <a:lstStyle/>
                    <a:p>
                      <a:pPr algn="ctr"/>
                      <a:r>
                        <a:rPr sz="1000" b="0">
                          <a:solidFill>
                            <a:srgbClr val="22222A"/>
                          </a:solidFill>
                          <a:latin typeface="Calibri"/>
                        </a:rPr>
                        <a:t>3.8%</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000" b="0">
                          <a:solidFill>
                            <a:srgbClr val="22222A"/>
                          </a:solidFill>
                          <a:latin typeface="Calibri"/>
                        </a:rPr>
                        <a:t>107</a:t>
                      </a:r>
                    </a:p>
                  </a:txBody>
                  <a:tcPr marL="91440" marR="73152" marT="27432" marB="27432" anchor="ctr">
                    <a:solidFill>
                      <a:srgbClr val="FFFFFF"/>
                    </a:solidFill>
                  </a:tcPr>
                </a:tc>
                <a:tc>
                  <a:txBody>
                    <a:bodyPr wrap="square"/>
                    <a:lstStyle/>
                    <a:p>
                      <a:pPr algn="ctr"/>
                      <a:r>
                        <a:rPr sz="1000" b="0">
                          <a:solidFill>
                            <a:srgbClr val="22222A"/>
                          </a:solidFill>
                          <a:latin typeface="Calibri"/>
                        </a:rPr>
                        <a:t>$9.3M</a:t>
                      </a:r>
                    </a:p>
                  </a:txBody>
                  <a:tcPr marL="91440" marR="73152" marT="27432" marB="27432" anchor="ctr">
                    <a:solidFill>
                      <a:srgbClr val="FFFFFF"/>
                    </a:solidFill>
                  </a:tcPr>
                </a:tc>
                <a:tc>
                  <a:txBody>
                    <a:bodyPr wrap="square"/>
                    <a:lstStyle/>
                    <a:p>
                      <a:pPr algn="ctr"/>
                      <a:r>
                        <a:rPr sz="1000" b="0">
                          <a:solidFill>
                            <a:srgbClr val="22222A"/>
                          </a:solidFill>
                          <a:latin typeface="Calibri"/>
                        </a:rPr>
                        <a:t>3,280</a:t>
                      </a:r>
                    </a:p>
                  </a:txBody>
                  <a:tcPr marL="91440" marR="73152" marT="27432" marB="27432" anchor="ctr">
                    <a:solidFill>
                      <a:srgbClr val="FFFFFF"/>
                    </a:solidFill>
                  </a:tcPr>
                </a:tc>
                <a:tc>
                  <a:txBody>
                    <a:bodyPr wrap="square"/>
                    <a:lstStyle/>
                    <a:p>
                      <a:pPr algn="ctr"/>
                      <a:r>
                        <a:rPr sz="1000" b="0">
                          <a:solidFill>
                            <a:srgbClr val="22222A"/>
                          </a:solidFill>
                          <a:latin typeface="Calibri"/>
                        </a:rPr>
                        <a:t>3.3%</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Technology</a:t>
                      </a:r>
                    </a:p>
                  </a:txBody>
                  <a:tcPr marL="91440" marR="73152" marT="27432" marB="27432" anchor="ctr">
                    <a:solidFill>
                      <a:srgbClr val="F8F8FB"/>
                    </a:solidFill>
                  </a:tcPr>
                </a:tc>
                <a:tc>
                  <a:txBody>
                    <a:bodyPr wrap="square"/>
                    <a:lstStyle/>
                    <a:p>
                      <a:pPr algn="ctr"/>
                      <a:r>
                        <a:rPr sz="1000" b="0">
                          <a:solidFill>
                            <a:srgbClr val="22222A"/>
                          </a:solidFill>
                          <a:latin typeface="Calibri"/>
                        </a:rPr>
                        <a:t>96</a:t>
                      </a:r>
                    </a:p>
                  </a:txBody>
                  <a:tcPr marL="91440" marR="73152" marT="27432" marB="27432" anchor="ctr">
                    <a:solidFill>
                      <a:srgbClr val="F8F8FB"/>
                    </a:solidFill>
                  </a:tcPr>
                </a:tc>
                <a:tc>
                  <a:txBody>
                    <a:bodyPr wrap="square"/>
                    <a:lstStyle/>
                    <a:p>
                      <a:pPr algn="ctr"/>
                      <a:r>
                        <a:rPr sz="1000" b="0">
                          <a:solidFill>
                            <a:srgbClr val="22222A"/>
                          </a:solidFill>
                          <a:latin typeface="Calibri"/>
                        </a:rPr>
                        <a:t>$8.0M</a:t>
                      </a:r>
                    </a:p>
                  </a:txBody>
                  <a:tcPr marL="91440" marR="73152" marT="27432" marB="27432" anchor="ctr">
                    <a:solidFill>
                      <a:srgbClr val="F8F8FB"/>
                    </a:solidFill>
                  </a:tcPr>
                </a:tc>
                <a:tc>
                  <a:txBody>
                    <a:bodyPr wrap="square"/>
                    <a:lstStyle/>
                    <a:p>
                      <a:pPr algn="ctr"/>
                      <a:r>
                        <a:rPr sz="1000" b="0">
                          <a:solidFill>
                            <a:srgbClr val="22222A"/>
                          </a:solidFill>
                          <a:latin typeface="Calibri"/>
                        </a:rPr>
                        <a:t>3,032</a:t>
                      </a:r>
                    </a:p>
                  </a:txBody>
                  <a:tcPr marL="91440" marR="73152" marT="27432" marB="27432" anchor="ctr">
                    <a:solidFill>
                      <a:srgbClr val="F8F8FB"/>
                    </a:solidFill>
                  </a:tcPr>
                </a:tc>
                <a:tc>
                  <a:txBody>
                    <a:bodyPr wrap="square"/>
                    <a:lstStyle/>
                    <a:p>
                      <a:pPr algn="ctr"/>
                      <a:r>
                        <a:rPr sz="1000" b="0">
                          <a:solidFill>
                            <a:srgbClr val="22222A"/>
                          </a:solidFill>
                          <a:latin typeface="Calibri"/>
                        </a:rPr>
                        <a:t>3.2%</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000" b="0">
                          <a:solidFill>
                            <a:srgbClr val="22222A"/>
                          </a:solidFill>
                          <a:latin typeface="Calibri"/>
                        </a:rPr>
                        <a:t>5</a:t>
                      </a:r>
                    </a:p>
                  </a:txBody>
                  <a:tcPr marL="91440" marR="73152" marT="27432" marB="27432" anchor="ctr">
                    <a:solidFill>
                      <a:srgbClr val="FFFFFF"/>
                    </a:solidFill>
                  </a:tcPr>
                </a:tc>
                <a:tc>
                  <a:txBody>
                    <a:bodyPr wrap="square"/>
                    <a:lstStyle/>
                    <a:p>
                      <a:pPr algn="ctr"/>
                      <a:r>
                        <a:rPr sz="1000" b="0">
                          <a:solidFill>
                            <a:srgbClr val="22222A"/>
                          </a:solidFill>
                          <a:latin typeface="Calibri"/>
                        </a:rPr>
                        <a:t>$0.5M</a:t>
                      </a:r>
                    </a:p>
                  </a:txBody>
                  <a:tcPr marL="91440" marR="73152" marT="27432" marB="27432" anchor="ctr">
                    <a:solidFill>
                      <a:srgbClr val="FFFFFF"/>
                    </a:solidFill>
                  </a:tcPr>
                </a:tc>
                <a:tc>
                  <a:txBody>
                    <a:bodyPr wrap="square"/>
                    <a:lstStyle/>
                    <a:p>
                      <a:pPr algn="ctr"/>
                      <a:r>
                        <a:rPr sz="1000" b="0">
                          <a:solidFill>
                            <a:srgbClr val="22222A"/>
                          </a:solidFill>
                          <a:latin typeface="Calibri"/>
                        </a:rPr>
                        <a:t>230</a:t>
                      </a:r>
                    </a:p>
                  </a:txBody>
                  <a:tcPr marL="91440" marR="73152" marT="27432" marB="27432" anchor="ctr">
                    <a:solidFill>
                      <a:srgbClr val="FFFFFF"/>
                    </a:solidFill>
                  </a:tcPr>
                </a:tc>
                <a:tc>
                  <a:txBody>
                    <a:bodyPr wrap="square"/>
                    <a:lstStyle/>
                    <a:p>
                      <a:pPr algn="ctr"/>
                      <a:r>
                        <a:rPr sz="1000" b="0">
                          <a:solidFill>
                            <a:srgbClr val="22222A"/>
                          </a:solidFill>
                          <a:latin typeface="Calibri"/>
                        </a:rPr>
                        <a:t>2.2%</a:t>
                      </a:r>
                    </a:p>
                  </a:txBody>
                  <a:tcPr marL="91440" marR="73152" marT="27432" marB="27432" anchor="ctr">
                    <a:solidFill>
                      <a:srgbClr val="FFFFFF"/>
                    </a:solidFill>
                  </a:tcPr>
                </a:tc>
              </a:tr>
            </a:tbl>
          </a:graphicData>
        </a:graphic>
      </p:graphicFrame>
      <p:sp>
        <p:nvSpPr>
          <p:cNvPr id="8" name="TextBox 7"/>
          <p:cNvSpPr txBox="1"/>
          <p:nvPr/>
        </p:nvSpPr>
        <p:spPr>
          <a:xfrm>
            <a:off x="6858000" y="1572768"/>
            <a:ext cx="4800600" cy="4206240"/>
          </a:xfrm>
          <a:prstGeom prst="rect">
            <a:avLst/>
          </a:prstGeom>
          <a:noFill/>
        </p:spPr>
        <p:txBody>
          <a:bodyPr wrap="square" anchor="t" lIns="0" rIns="0" tIns="0" bIns="0">
            <a:spAutoFit/>
          </a:bodyPr>
          <a:lstStyle/>
          <a:p>
            <a:pPr algn="l">
              <a:lnSpc>
                <a:spcPct val="118000"/>
              </a:lnSpc>
              <a:spcAft>
                <a:spcPts val="1100"/>
              </a:spcAft>
            </a:pPr>
            <a:r>
              <a:rPr sz="1050" i="0" b="1">
                <a:solidFill>
                  <a:srgbClr val="460073"/>
                </a:solidFill>
                <a:latin typeface="Calibri"/>
              </a:rPr>
              <a:t>The Annual Report is right to be concerned.</a:t>
            </a:r>
            <a:r>
              <a:rPr sz="1050" i="0" b="0">
                <a:solidFill>
                  <a:srgbClr val="22222A"/>
                </a:solidFill>
                <a:latin typeface="Calibri"/>
              </a:rPr>
              <a:t> R&amp;C loses high-value people at a materially higher </a:t>
            </a:r>
            <a:r>
              <a:rPr sz="1050" i="0" b="1">
                <a:solidFill>
                  <a:srgbClr val="460073"/>
                </a:solidFill>
                <a:latin typeface="Calibri"/>
              </a:rPr>
              <a:t>rate</a:t>
            </a:r>
            <a:r>
              <a:rPr sz="1050" i="0" b="0">
                <a:solidFill>
                  <a:srgbClr val="22222A"/>
                </a:solidFill>
                <a:latin typeface="Calibri"/>
              </a:rPr>
              <a:t> than the large divisions. Technology carries 50% more headcount and loses the same dollars.</a:t>
            </a:r>
          </a:p>
          <a:p>
            <a:pPr algn="l">
              <a:lnSpc>
                <a:spcPct val="118000"/>
              </a:lnSpc>
              <a:spcAft>
                <a:spcPts val="1100"/>
              </a:spcAft>
            </a:pPr>
            <a:r>
              <a:rPr sz="1050" i="0" b="1">
                <a:solidFill>
                  <a:srgbClr val="460073"/>
                </a:solidFill>
                <a:latin typeface="Calibri"/>
              </a:rPr>
              <a:t>Corporate Operations is worse still, at 5.4%</a:t>
            </a:r>
            <a:r>
              <a:rPr sz="1050" i="0" b="0">
                <a:solidFill>
                  <a:srgbClr val="22222A"/>
                </a:solidFill>
                <a:latin typeface="Calibri"/>
              </a:rPr>
              <a:t>, and appears nowhere in the Annual Report's commentary. We raise it as a finding requiring follow-up, not a recommendation, because we have not established a mechanism.</a:t>
            </a:r>
          </a:p>
          <a:p>
            <a:pPr algn="l">
              <a:lnSpc>
                <a:spcPct val="118000"/>
              </a:lnSpc>
              <a:spcAft>
                <a:spcPts val="1100"/>
              </a:spcAft>
            </a:pPr>
            <a:r>
              <a:rPr sz="1050" i="0" b="1">
                <a:solidFill>
                  <a:srgbClr val="460073"/>
                </a:solidFill>
                <a:latin typeface="Calibri"/>
              </a:rPr>
              <a:t>Why we didn't lead with R&amp;C.</a:t>
            </a:r>
            <a:r>
              <a:rPr sz="1050" i="0" b="0">
                <a:solidFill>
                  <a:srgbClr val="22222A"/>
                </a:solidFill>
                <a:latin typeface="Calibri"/>
              </a:rPr>
              <a:t> FAR imposes personal liability on senior regulatory staff from March 2024. That is a </a:t>
            </a:r>
            <a:r>
              <a:rPr sz="1050" i="0" b="1">
                <a:solidFill>
                  <a:srgbClr val="460073"/>
                </a:solidFill>
                <a:latin typeface="Calibri"/>
              </a:rPr>
              <a:t>pull</a:t>
            </a:r>
            <a:r>
              <a:rPr sz="1050" i="0" b="0">
                <a:solidFill>
                  <a:srgbClr val="22222A"/>
                </a:solidFill>
                <a:latin typeface="Calibri"/>
              </a:rPr>
              <a:t> problem in a tight external market, and the classic response is compensation benchmarking, which the Annual Report already commits to. We would be recommending what NovaCorp has already decided to do.</a:t>
            </a:r>
          </a:p>
        </p:txBody>
      </p:sp>
      <p:sp>
        <p:nvSpPr>
          <p:cNvPr id="9" name="Rectangle 8"/>
          <p:cNvSpPr/>
          <p:nvPr/>
        </p:nvSpPr>
        <p:spPr>
          <a:xfrm>
            <a:off x="566928" y="4480560"/>
            <a:ext cx="50292" cy="123444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480560"/>
            <a:ext cx="5742432" cy="123444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Entity_A is the proven precedent. It ran the same integration and now sits at 3.6%/yr, below NovaCorp-Origin's own rate. There is no equivalent proof that a compensation response fixes FAR-driven regulatory attrition.</a:t>
            </a:r>
          </a:p>
        </p:txBody>
      </p:sp>
      <p:sp>
        <p:nvSpPr>
          <p:cNvPr id="11" name="Rectangle 10"/>
          <p:cNvSpPr/>
          <p:nvPr/>
        </p:nvSpPr>
        <p:spPr>
          <a:xfrm>
            <a:off x="566928" y="587044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870448"/>
            <a:ext cx="10771632" cy="45720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Both cuts are in the data and both are correct. We chose the one with an identified cause, a proven fix and a guided budget already attached.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Where every number comes from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Each figure quoted on a slide, traced to the script that produces it. Run the script, get the number. Two independent implementations agree on the early-tenure lever; four agree on the entity attrition rates.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A14</a:t>
            </a:r>
          </a:p>
        </p:txBody>
      </p:sp>
      <p:graphicFrame>
        <p:nvGraphicFramePr>
          <p:cNvPr id="7" name="Table 6"/>
          <p:cNvGraphicFramePr>
            <a:graphicFrameLocks noGrp="1"/>
          </p:cNvGraphicFramePr>
          <p:nvPr/>
        </p:nvGraphicFramePr>
        <p:xfrm>
          <a:off x="566928" y="1691640"/>
          <a:ext cx="11064240" cy="4274820"/>
        </p:xfrm>
        <a:graphic>
          <a:graphicData uri="http://schemas.openxmlformats.org/drawingml/2006/table">
            <a:tbl>
              <a:tblPr firstRow="1" bandRow="1">
                <a:tableStyleId>{5C22544A-7EE6-4342-B048-85BDC9FD1C3A}</a:tableStyleId>
              </a:tblPr>
              <a:tblGrid>
                <a:gridCol w="777240"/>
                <a:gridCol w="4114800"/>
                <a:gridCol w="3520440"/>
                <a:gridCol w="2651760"/>
              </a:tblGrid>
              <a:tr h="251460">
                <a:tc>
                  <a:txBody>
                    <a:bodyPr wrap="square"/>
                    <a:lstStyle/>
                    <a:p>
                      <a:pPr algn="l"/>
                      <a:r>
                        <a:rPr sz="950" b="1">
                          <a:solidFill>
                            <a:srgbClr val="FFFFFF"/>
                          </a:solidFill>
                          <a:latin typeface="Calibri"/>
                        </a:rPr>
                        <a:t>Slide</a:t>
                      </a:r>
                    </a:p>
                  </a:txBody>
                  <a:tcPr marL="91440" marR="73152" marT="27432" marB="27432" anchor="ctr">
                    <a:solidFill>
                      <a:srgbClr val="460073"/>
                    </a:solidFill>
                  </a:tcPr>
                </a:tc>
                <a:tc>
                  <a:txBody>
                    <a:bodyPr wrap="square"/>
                    <a:lstStyle/>
                    <a:p>
                      <a:pPr algn="l"/>
                      <a:r>
                        <a:rPr sz="950" b="1">
                          <a:solidFill>
                            <a:srgbClr val="FFFFFF"/>
                          </a:solidFill>
                          <a:latin typeface="Calibri"/>
                        </a:rPr>
                        <a:t>Figure</a:t>
                      </a:r>
                    </a:p>
                  </a:txBody>
                  <a:tcPr marL="91440" marR="73152" marT="27432" marB="27432" anchor="ctr">
                    <a:solidFill>
                      <a:srgbClr val="460073"/>
                    </a:solidFill>
                  </a:tcPr>
                </a:tc>
                <a:tc>
                  <a:txBody>
                    <a:bodyPr wrap="square"/>
                    <a:lstStyle/>
                    <a:p>
                      <a:pPr algn="ctr"/>
                      <a:r>
                        <a:rPr sz="950" b="1">
                          <a:solidFill>
                            <a:srgbClr val="FFFFFF"/>
                          </a:solidFill>
                          <a:latin typeface="Calibri"/>
                        </a:rPr>
                        <a:t>Value</a:t>
                      </a:r>
                    </a:p>
                  </a:txBody>
                  <a:tcPr marL="91440" marR="73152" marT="27432" marB="27432" anchor="ctr">
                    <a:solidFill>
                      <a:srgbClr val="460073"/>
                    </a:solidFill>
                  </a:tcPr>
                </a:tc>
                <a:tc>
                  <a:txBody>
                    <a:bodyPr wrap="square"/>
                    <a:lstStyle/>
                    <a:p>
                      <a:pPr algn="l"/>
                      <a:r>
                        <a:rPr sz="950" b="1">
                          <a:solidFill>
                            <a:srgbClr val="FFFFFF"/>
                          </a:solidFill>
                          <a:latin typeface="Calibri"/>
                        </a:rPr>
                        <a:t>Source</a:t>
                      </a:r>
                    </a:p>
                  </a:txBody>
                  <a:tcPr marL="91440" marR="73152" marT="27432" marB="27432" anchor="ctr">
                    <a:solidFill>
                      <a:srgbClr val="460073"/>
                    </a:solidFill>
                  </a:tcPr>
                </a:tc>
              </a:tr>
              <a:tr h="251460">
                <a:tc>
                  <a:txBody>
                    <a:bodyPr wrap="square"/>
                    <a:lstStyle/>
                    <a:p>
                      <a:pPr algn="l"/>
                      <a:r>
                        <a:rPr sz="900" b="0">
                          <a:solidFill>
                            <a:srgbClr val="22222A"/>
                          </a:solidFill>
                          <a:latin typeface="Calibri"/>
                        </a:rPr>
                        <a:t>3</a:t>
                      </a:r>
                    </a:p>
                  </a:txBody>
                  <a:tcPr marL="91440" marR="73152" marT="27432" marB="27432" anchor="ctr">
                    <a:solidFill>
                      <a:srgbClr val="FFFFFF"/>
                    </a:solidFill>
                  </a:tcPr>
                </a:tc>
                <a:tc>
                  <a:txBody>
                    <a:bodyPr wrap="square"/>
                    <a:lstStyle/>
                    <a:p>
                      <a:pPr algn="l"/>
                      <a:r>
                        <a:rPr sz="900" b="0">
                          <a:solidFill>
                            <a:srgbClr val="22222A"/>
                          </a:solidFill>
                          <a:latin typeface="Calibri"/>
                        </a:rPr>
                        <a:t>Regrettable as counted / value-based</a:t>
                      </a:r>
                    </a:p>
                  </a:txBody>
                  <a:tcPr marL="91440" marR="73152" marT="27432" marB="27432" anchor="ctr">
                    <a:solidFill>
                      <a:srgbClr val="FFFFFF"/>
                    </a:solidFill>
                  </a:tcPr>
                </a:tc>
                <a:tc>
                  <a:txBody>
                    <a:bodyPr wrap="square"/>
                    <a:lstStyle/>
                    <a:p>
                      <a:pPr algn="ctr"/>
                      <a:r>
                        <a:rPr sz="900" b="0">
                          <a:solidFill>
                            <a:srgbClr val="22222A"/>
                          </a:solidFill>
                          <a:latin typeface="Calibri"/>
                        </a:rPr>
                        <a:t>$14.3M → $45.1M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3</a:t>
                      </a:r>
                    </a:p>
                  </a:txBody>
                  <a:tcPr marL="91440" marR="73152" marT="27432" marB="27432" anchor="ctr">
                    <a:solidFill>
                      <a:srgbClr val="F8F8FB"/>
                    </a:solidFill>
                  </a:tcPr>
                </a:tc>
                <a:tc>
                  <a:txBody>
                    <a:bodyPr wrap="square"/>
                    <a:lstStyle/>
                    <a:p>
                      <a:pPr algn="l"/>
                      <a:r>
                        <a:rPr sz="900" b="0">
                          <a:solidFill>
                            <a:srgbClr val="22222A"/>
                          </a:solidFill>
                          <a:latin typeface="Calibri"/>
                        </a:rPr>
                        <a:t>High performers never counted</a:t>
                      </a:r>
                    </a:p>
                  </a:txBody>
                  <a:tcPr marL="91440" marR="73152" marT="27432" marB="27432" anchor="ctr">
                    <a:solidFill>
                      <a:srgbClr val="F8F8FB"/>
                    </a:solidFill>
                  </a:tcPr>
                </a:tc>
                <a:tc>
                  <a:txBody>
                    <a:bodyPr wrap="square"/>
                    <a:lstStyle/>
                    <a:p>
                      <a:pPr algn="ctr"/>
                      <a:r>
                        <a:rPr sz="900" b="0">
                          <a:solidFill>
                            <a:srgbClr val="22222A"/>
                          </a:solidFill>
                          <a:latin typeface="Calibri"/>
                        </a:rPr>
                        <a:t>371</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§1</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5</a:t>
                      </a:r>
                    </a:p>
                  </a:txBody>
                  <a:tcPr marL="91440" marR="73152" marT="27432" marB="27432" anchor="ctr">
                    <a:solidFill>
                      <a:srgbClr val="FFFFFF"/>
                    </a:solidFill>
                  </a:tcPr>
                </a:tc>
                <a:tc>
                  <a:txBody>
                    <a:bodyPr wrap="square"/>
                    <a:lstStyle/>
                    <a:p>
                      <a:pPr algn="l"/>
                      <a:r>
                        <a:rPr sz="900" b="0">
                          <a:solidFill>
                            <a:srgbClr val="22222A"/>
                          </a:solidFill>
                          <a:latin typeface="Calibri"/>
                        </a:rPr>
                        <a:t>Three buckets restated</a:t>
                      </a:r>
                    </a:p>
                  </a:txBody>
                  <a:tcPr marL="91440" marR="73152" marT="27432" marB="27432" anchor="ctr">
                    <a:solidFill>
                      <a:srgbClr val="FFFFFF"/>
                    </a:solidFill>
                  </a:tcPr>
                </a:tc>
                <a:tc>
                  <a:txBody>
                    <a:bodyPr wrap="square"/>
                    <a:lstStyle/>
                    <a:p>
                      <a:pPr algn="ctr"/>
                      <a:r>
                        <a:rPr sz="900" b="0">
                          <a:solidFill>
                            <a:srgbClr val="22222A"/>
                          </a:solidFill>
                          <a:latin typeface="Calibri"/>
                        </a:rPr>
                        <a:t>$45.1M · $17.8M · $2.3M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5</a:t>
                      </a:r>
                    </a:p>
                  </a:txBody>
                  <a:tcPr marL="91440" marR="73152" marT="27432" marB="27432" anchor="ctr">
                    <a:solidFill>
                      <a:srgbClr val="F8F8FB"/>
                    </a:solidFill>
                  </a:tcPr>
                </a:tc>
                <a:tc>
                  <a:txBody>
                    <a:bodyPr wrap="square"/>
                    <a:lstStyle/>
                    <a:p>
                      <a:pPr algn="l"/>
                      <a:r>
                        <a:rPr sz="900" b="0">
                          <a:solidFill>
                            <a:srgbClr val="22222A"/>
                          </a:solidFill>
                          <a:latin typeface="Calibri"/>
                        </a:rPr>
                        <a:t>Restated total against Finance's $42M</a:t>
                      </a:r>
                    </a:p>
                  </a:txBody>
                  <a:tcPr marL="91440" marR="73152" marT="27432" marB="27432" anchor="ctr">
                    <a:solidFill>
                      <a:srgbClr val="F8F8FB"/>
                    </a:solidFill>
                  </a:tcPr>
                </a:tc>
                <a:tc>
                  <a:txBody>
                    <a:bodyPr wrap="square"/>
                    <a:lstStyle/>
                    <a:p>
                      <a:pPr algn="ctr"/>
                      <a:r>
                        <a:rPr sz="900" b="0">
                          <a:solidFill>
                            <a:srgbClr val="22222A"/>
                          </a:solidFill>
                          <a:latin typeface="Calibri"/>
                        </a:rPr>
                        <a:t>$65.2M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6</a:t>
                      </a:r>
                    </a:p>
                  </a:txBody>
                  <a:tcPr marL="91440" marR="73152" marT="27432" marB="27432" anchor="ctr">
                    <a:solidFill>
                      <a:srgbClr val="FFFFFF"/>
                    </a:solidFill>
                  </a:tcPr>
                </a:tc>
                <a:tc>
                  <a:txBody>
                    <a:bodyPr wrap="square"/>
                    <a:lstStyle/>
                    <a:p>
                      <a:pPr algn="l"/>
                      <a:r>
                        <a:rPr sz="900" b="0">
                          <a:solidFill>
                            <a:srgbClr val="22222A"/>
                          </a:solidFill>
                          <a:latin typeface="Calibri"/>
                        </a:rPr>
                        <a:t>Attrition by legacy entity</a:t>
                      </a:r>
                    </a:p>
                  </a:txBody>
                  <a:tcPr marL="91440" marR="73152" marT="27432" marB="27432" anchor="ctr">
                    <a:solidFill>
                      <a:srgbClr val="FFFFFF"/>
                    </a:solidFill>
                  </a:tcPr>
                </a:tc>
                <a:tc>
                  <a:txBody>
                    <a:bodyPr wrap="square"/>
                    <a:lstStyle/>
                    <a:p>
                      <a:pPr algn="ctr"/>
                      <a:r>
                        <a:rPr sz="900" b="0">
                          <a:solidFill>
                            <a:srgbClr val="22222A"/>
                          </a:solidFill>
                          <a:latin typeface="Calibri"/>
                        </a:rPr>
                        <a:t>4.5 / 3.6 / 7.0 / 4.6 %/yr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§6</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6</a:t>
                      </a:r>
                    </a:p>
                  </a:txBody>
                  <a:tcPr marL="91440" marR="73152" marT="27432" marB="27432" anchor="ctr">
                    <a:solidFill>
                      <a:srgbClr val="F8F8FB"/>
                    </a:solidFill>
                  </a:tcPr>
                </a:tc>
                <a:tc>
                  <a:txBody>
                    <a:bodyPr wrap="square"/>
                    <a:lstStyle/>
                    <a:p>
                      <a:pPr algn="l"/>
                      <a:r>
                        <a:rPr sz="900" b="0">
                          <a:solidFill>
                            <a:srgbClr val="22222A"/>
                          </a:solidFill>
                          <a:latin typeface="Calibri"/>
                        </a:rPr>
                        <a:t>Entity_B concentration</a:t>
                      </a:r>
                    </a:p>
                  </a:txBody>
                  <a:tcPr marL="91440" marR="73152" marT="27432" marB="27432" anchor="ctr">
                    <a:solidFill>
                      <a:srgbClr val="F8F8FB"/>
                    </a:solidFill>
                  </a:tcPr>
                </a:tc>
                <a:tc>
                  <a:txBody>
                    <a:bodyPr wrap="square"/>
                    <a:lstStyle/>
                    <a:p>
                      <a:pPr algn="ctr"/>
                      <a:r>
                        <a:rPr sz="900" b="0">
                          <a:solidFill>
                            <a:srgbClr val="22222A"/>
                          </a:solidFill>
                          <a:latin typeface="Calibri"/>
                        </a:rPr>
                        <a:t>$8.4M in 1,601 active</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7</a:t>
                      </a:r>
                    </a:p>
                  </a:txBody>
                  <a:tcPr marL="91440" marR="73152" marT="27432" marB="27432" anchor="ctr">
                    <a:solidFill>
                      <a:srgbClr val="FFFFFF"/>
                    </a:solidFill>
                  </a:tcPr>
                </a:tc>
                <a:tc>
                  <a:txBody>
                    <a:bodyPr wrap="square"/>
                    <a:lstStyle/>
                    <a:p>
                      <a:pPr algn="l"/>
                      <a:r>
                        <a:rPr sz="900" b="0">
                          <a:solidFill>
                            <a:srgbClr val="22222A"/>
                          </a:solidFill>
                          <a:latin typeface="Calibri"/>
                        </a:rPr>
                        <a:t>Trust and purpose gaps</a:t>
                      </a:r>
                    </a:p>
                  </a:txBody>
                  <a:tcPr marL="91440" marR="73152" marT="27432" marB="27432" anchor="ctr">
                    <a:solidFill>
                      <a:srgbClr val="FFFFFF"/>
                    </a:solidFill>
                  </a:tcPr>
                </a:tc>
                <a:tc>
                  <a:txBody>
                    <a:bodyPr wrap="square"/>
                    <a:lstStyle/>
                    <a:p>
                      <a:pPr algn="ctr"/>
                      <a:r>
                        <a:rPr sz="900" b="0">
                          <a:solidFill>
                            <a:srgbClr val="22222A"/>
                          </a:solidFill>
                          <a:latin typeface="Calibri"/>
                        </a:rPr>
                        <a:t>−0.301 and −0.300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§7g</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7</a:t>
                      </a:r>
                    </a:p>
                  </a:txBody>
                  <a:tcPr marL="91440" marR="73152" marT="27432" marB="27432" anchor="ctr">
                    <a:solidFill>
                      <a:srgbClr val="F8F8FB"/>
                    </a:solidFill>
                  </a:tcPr>
                </a:tc>
                <a:tc>
                  <a:txBody>
                    <a:bodyPr wrap="square"/>
                    <a:lstStyle/>
                    <a:p>
                      <a:pPr algn="l"/>
                      <a:r>
                        <a:rPr sz="900" b="0">
                          <a:solidFill>
                            <a:srgbClr val="22222A"/>
                          </a:solidFill>
                          <a:latin typeface="Calibri"/>
                        </a:rPr>
                        <a:t>Compa-ratio</a:t>
                      </a:r>
                    </a:p>
                  </a:txBody>
                  <a:tcPr marL="91440" marR="73152" marT="27432" marB="27432" anchor="ctr">
                    <a:solidFill>
                      <a:srgbClr val="F8F8FB"/>
                    </a:solidFill>
                  </a:tcPr>
                </a:tc>
                <a:tc>
                  <a:txBody>
                    <a:bodyPr wrap="square"/>
                    <a:lstStyle/>
                    <a:p>
                      <a:pPr algn="ctr"/>
                      <a:r>
                        <a:rPr sz="900" b="0">
                          <a:solidFill>
                            <a:srgbClr val="22222A"/>
                          </a:solidFill>
                          <a:latin typeface="Calibri"/>
                        </a:rPr>
                        <a:t>0.961 vs 0.937</a:t>
                      </a:r>
                    </a:p>
                  </a:txBody>
                  <a:tcPr marL="91440" marR="73152" marT="27432" marB="27432" anchor="ctr">
                    <a:solidFill>
                      <a:srgbClr val="F8F8FB"/>
                    </a:solidFill>
                  </a:tcPr>
                </a:tc>
                <a:tc>
                  <a:txBody>
                    <a:bodyPr wrap="square"/>
                    <a:lstStyle/>
                    <a:p>
                      <a:pPr algn="l"/>
                      <a:r>
                        <a:rPr sz="900" b="0">
                          <a:solidFill>
                            <a:srgbClr val="22222A"/>
                          </a:solidFill>
                          <a:latin typeface="Calibri"/>
                        </a:rPr>
                        <a:t>explore_part2.py §7f</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8</a:t>
                      </a:r>
                    </a:p>
                  </a:txBody>
                  <a:tcPr marL="91440" marR="73152" marT="27432" marB="27432" anchor="ctr">
                    <a:solidFill>
                      <a:srgbClr val="FFFFFF"/>
                    </a:solidFill>
                  </a:tcPr>
                </a:tc>
                <a:tc>
                  <a:txBody>
                    <a:bodyPr wrap="square"/>
                    <a:lstStyle/>
                    <a:p>
                      <a:pPr algn="l"/>
                      <a:r>
                        <a:rPr sz="900" b="0">
                          <a:solidFill>
                            <a:srgbClr val="22222A"/>
                          </a:solidFill>
                          <a:latin typeface="Calibri"/>
                        </a:rPr>
                        <a:t>Entity_B first survey</a:t>
                      </a:r>
                    </a:p>
                  </a:txBody>
                  <a:tcPr marL="91440" marR="73152" marT="27432" marB="27432" anchor="ctr">
                    <a:solidFill>
                      <a:srgbClr val="FFFFFF"/>
                    </a:solidFill>
                  </a:tcPr>
                </a:tc>
                <a:tc>
                  <a:txBody>
                    <a:bodyPr wrap="square"/>
                    <a:lstStyle/>
                    <a:p>
                      <a:pPr algn="ctr"/>
                      <a:r>
                        <a:rPr sz="900" b="0">
                          <a:solidFill>
                            <a:srgbClr val="22222A"/>
                          </a:solidFill>
                          <a:latin typeface="Calibri"/>
                        </a:rPr>
                        <a:t>purpose 2.975, trust 3.060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§7i</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9</a:t>
                      </a:r>
                    </a:p>
                  </a:txBody>
                  <a:tcPr marL="91440" marR="73152" marT="27432" marB="27432" anchor="ctr">
                    <a:solidFill>
                      <a:srgbClr val="F8F8FB"/>
                    </a:solidFill>
                  </a:tcPr>
                </a:tc>
                <a:tc>
                  <a:txBody>
                    <a:bodyPr wrap="square"/>
                    <a:lstStyle/>
                    <a:p>
                      <a:pPr algn="l"/>
                      <a:r>
                        <a:rPr sz="900" b="0">
                          <a:solidFill>
                            <a:srgbClr val="22222A"/>
                          </a:solidFill>
                          <a:latin typeface="Calibri"/>
                        </a:rPr>
                        <a:t>Entity_A recovery</a:t>
                      </a:r>
                    </a:p>
                  </a:txBody>
                  <a:tcPr marL="91440" marR="73152" marT="27432" marB="27432" anchor="ctr">
                    <a:solidFill>
                      <a:srgbClr val="F8F8FB"/>
                    </a:solidFill>
                  </a:tcPr>
                </a:tc>
                <a:tc>
                  <a:txBody>
                    <a:bodyPr wrap="square"/>
                    <a:lstStyle/>
                    <a:p>
                      <a:pPr algn="ctr"/>
                      <a:r>
                        <a:rPr sz="900" b="0">
                          <a:solidFill>
                            <a:srgbClr val="22222A"/>
                          </a:solidFill>
                          <a:latin typeface="Calibri"/>
                        </a:rPr>
                        <a:t>3.6%/yr, 83.8% response</a:t>
                      </a:r>
                    </a:p>
                  </a:txBody>
                  <a:tcPr marL="91440" marR="73152" marT="27432" marB="27432" anchor="ctr">
                    <a:solidFill>
                      <a:srgbClr val="F8F8FB"/>
                    </a:solidFill>
                  </a:tcPr>
                </a:tc>
                <a:tc>
                  <a:txBody>
                    <a:bodyPr wrap="square"/>
                    <a:lstStyle/>
                    <a:p>
                      <a:pPr algn="l"/>
                      <a:r>
                        <a:rPr sz="900" b="0">
                          <a:solidFill>
                            <a:srgbClr val="22222A"/>
                          </a:solidFill>
                          <a:latin typeface="Calibri"/>
                        </a:rPr>
                        <a:t>make_deck_figures.py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10</a:t>
                      </a:r>
                    </a:p>
                  </a:txBody>
                  <a:tcPr marL="91440" marR="73152" marT="27432" marB="27432" anchor="ctr">
                    <a:solidFill>
                      <a:srgbClr val="FFFFFF"/>
                    </a:solidFill>
                  </a:tcPr>
                </a:tc>
                <a:tc>
                  <a:txBody>
                    <a:bodyPr wrap="square"/>
                    <a:lstStyle/>
                    <a:p>
                      <a:pPr algn="l"/>
                      <a:r>
                        <a:rPr sz="900" b="0">
                          <a:solidFill>
                            <a:srgbClr val="22222A"/>
                          </a:solidFill>
                          <a:latin typeface="Calibri"/>
                        </a:rPr>
                        <a:t>Senior Manager gap</a:t>
                      </a:r>
                    </a:p>
                  </a:txBody>
                  <a:tcPr marL="91440" marR="73152" marT="27432" marB="27432" anchor="ctr">
                    <a:solidFill>
                      <a:srgbClr val="FFFFFF"/>
                    </a:solidFill>
                  </a:tcPr>
                </a:tc>
                <a:tc>
                  <a:txBody>
                    <a:bodyPr wrap="square"/>
                    <a:lstStyle/>
                    <a:p>
                      <a:pPr algn="ctr"/>
                      <a:r>
                        <a:rPr sz="900" b="0">
                          <a:solidFill>
                            <a:srgbClr val="22222A"/>
                          </a:solidFill>
                          <a:latin typeface="Calibri"/>
                        </a:rPr>
                        <a:t>9.8%/yr vs 2.9%</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§7h</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11</a:t>
                      </a:r>
                    </a:p>
                  </a:txBody>
                  <a:tcPr marL="91440" marR="73152" marT="27432" marB="27432" anchor="ctr">
                    <a:solidFill>
                      <a:srgbClr val="F8F8FB"/>
                    </a:solidFill>
                  </a:tcPr>
                </a:tc>
                <a:tc>
                  <a:txBody>
                    <a:bodyPr wrap="square"/>
                    <a:lstStyle/>
                    <a:p>
                      <a:pPr algn="l"/>
                      <a:r>
                        <a:rPr sz="900" b="0">
                          <a:solidFill>
                            <a:srgbClr val="22222A"/>
                          </a:solidFill>
                          <a:latin typeface="Calibri"/>
                        </a:rPr>
                        <a:t>Lever table, all rows</a:t>
                      </a:r>
                    </a:p>
                  </a:txBody>
                  <a:tcPr marL="91440" marR="73152" marT="27432" marB="27432" anchor="ctr">
                    <a:solidFill>
                      <a:srgbClr val="F8F8FB"/>
                    </a:solidFill>
                  </a:tcPr>
                </a:tc>
                <a:tc>
                  <a:txBody>
                    <a:bodyPr wrap="square"/>
                    <a:lstStyle/>
                    <a:p>
                      <a:pPr algn="ctr"/>
                      <a:r>
                        <a:rPr sz="900" b="0">
                          <a:solidFill>
                            <a:srgbClr val="22222A"/>
                          </a:solidFill>
                          <a:latin typeface="Calibri"/>
                        </a:rPr>
                        <a:t>$45.1M / $17.8M / $7.9M / $6.2M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FFFFF"/>
                    </a:solidFill>
                  </a:tcPr>
                </a:tc>
                <a:tc>
                  <a:txBody>
                    <a:bodyPr wrap="square"/>
                    <a:lstStyle/>
                    <a:p>
                      <a:pPr algn="l"/>
                      <a:r>
                        <a:rPr sz="900" b="0">
                          <a:solidFill>
                            <a:srgbClr val="22222A"/>
                          </a:solidFill>
                          <a:latin typeface="Calibri"/>
                        </a:rPr>
                        <a:t>Four-fifths ratios</a:t>
                      </a:r>
                    </a:p>
                  </a:txBody>
                  <a:tcPr marL="91440" marR="73152" marT="27432" marB="27432" anchor="ctr">
                    <a:solidFill>
                      <a:srgbClr val="FFFFFF"/>
                    </a:solidFill>
                  </a:tcPr>
                </a:tc>
                <a:tc>
                  <a:txBody>
                    <a:bodyPr wrap="square"/>
                    <a:lstStyle/>
                    <a:p>
                      <a:pPr algn="ctr"/>
                      <a:r>
                        <a:rPr sz="900" b="0">
                          <a:solidFill>
                            <a:srgbClr val="22222A"/>
                          </a:solidFill>
                          <a:latin typeface="Calibri"/>
                        </a:rPr>
                        <a:t>0.08 age · 0.15 level · 0.08 cohort</a:t>
                      </a:r>
                    </a:p>
                  </a:txBody>
                  <a:tcPr marL="91440" marR="73152" marT="27432" marB="27432" anchor="ctr">
                    <a:solidFill>
                      <a:srgbClr val="FFFFFF"/>
                    </a:solidFill>
                  </a:tcPr>
                </a:tc>
                <a:tc>
                  <a:txBody>
                    <a:bodyPr wrap="square"/>
                    <a:lstStyle/>
                    <a:p>
                      <a:pPr algn="l"/>
                      <a:r>
                        <a:rPr sz="900" b="0">
                          <a:solidFill>
                            <a:srgbClr val="22222A"/>
                          </a:solidFill>
                          <a:latin typeface="Calibri"/>
                        </a:rPr>
                        <a:t>ethics_audit.py §3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Flag precision</a:t>
                      </a:r>
                    </a:p>
                  </a:txBody>
                  <a:tcPr marL="91440" marR="73152" marT="27432" marB="27432" anchor="ctr">
                    <a:solidFill>
                      <a:srgbClr val="F8F8FB"/>
                    </a:solidFill>
                  </a:tcPr>
                </a:tc>
                <a:tc>
                  <a:txBody>
                    <a:bodyPr wrap="square"/>
                    <a:lstStyle/>
                    <a:p>
                      <a:pPr algn="ctr"/>
                      <a:r>
                        <a:rPr sz="900" b="0">
                          <a:solidFill>
                            <a:srgbClr val="22222A"/>
                          </a:solidFill>
                          <a:latin typeface="Calibri"/>
                        </a:rPr>
                        <a:t>263 true / 901 false, 22.6%</a:t>
                      </a:r>
                    </a:p>
                  </a:txBody>
                  <a:tcPr marL="91440" marR="73152" marT="27432" marB="27432" anchor="ctr">
                    <a:solidFill>
                      <a:srgbClr val="F8F8FB"/>
                    </a:solidFill>
                  </a:tcPr>
                </a:tc>
                <a:tc>
                  <a:txBody>
                    <a:bodyPr wrap="square"/>
                    <a:lstStyle/>
                    <a:p>
                      <a:pPr algn="l"/>
                      <a:r>
                        <a:rPr sz="900" b="0">
                          <a:solidFill>
                            <a:srgbClr val="22222A"/>
                          </a:solidFill>
                          <a:latin typeface="Calibri"/>
                        </a:rPr>
                        <a:t>ethics_audit.py §4</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FFFFF"/>
                    </a:solidFill>
                  </a:tcPr>
                </a:tc>
                <a:tc>
                  <a:txBody>
                    <a:bodyPr wrap="square"/>
                    <a:lstStyle/>
                    <a:p>
                      <a:pPr algn="l"/>
                      <a:r>
                        <a:rPr sz="900" b="0">
                          <a:solidFill>
                            <a:srgbClr val="22222A"/>
                          </a:solidFill>
                          <a:latin typeface="Calibri"/>
                        </a:rPr>
                        <a:t>Annualised voluntary rate</a:t>
                      </a:r>
                    </a:p>
                  </a:txBody>
                  <a:tcPr marL="91440" marR="73152" marT="27432" marB="27432" anchor="ctr">
                    <a:solidFill>
                      <a:srgbClr val="FFFFFF"/>
                    </a:solidFill>
                  </a:tcPr>
                </a:tc>
                <a:tc>
                  <a:txBody>
                    <a:bodyPr wrap="square"/>
                    <a:lstStyle/>
                    <a:p>
                      <a:pPr algn="ctr"/>
                      <a:r>
                        <a:rPr sz="900" b="0">
                          <a:solidFill>
                            <a:srgbClr val="22222A"/>
                          </a:solidFill>
                          <a:latin typeface="Calibri"/>
                        </a:rPr>
                        <a:t>4.7%/yr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§0</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Annual Report reconciliation</a:t>
                      </a:r>
                    </a:p>
                  </a:txBody>
                  <a:tcPr marL="91440" marR="73152" marT="27432" marB="27432" anchor="ctr">
                    <a:solidFill>
                      <a:srgbClr val="F8F8FB"/>
                    </a:solidFill>
                  </a:tcPr>
                </a:tc>
                <a:tc>
                  <a:txBody>
                    <a:bodyPr wrap="square"/>
                    <a:lstStyle/>
                    <a:p>
                      <a:pPr algn="ctr"/>
                      <a:r>
                        <a:rPr sz="900" b="0">
                          <a:solidFill>
                            <a:srgbClr val="22222A"/>
                          </a:solidFill>
                          <a:latin typeface="Calibri"/>
                        </a:rPr>
                        <a:t>1,400 / 13,403 = 10.4%</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§0</a:t>
                      </a:r>
                    </a:p>
                  </a:txBody>
                  <a:tcPr marL="91440" marR="73152" marT="27432" marB="27432" anchor="ctr">
                    <a:solidFill>
                      <a:srgbClr val="F8F8FB"/>
                    </a:solidFill>
                  </a:tcPr>
                </a:tc>
              </a:tr>
            </a:tbl>
          </a:graphicData>
        </a:graphic>
      </p:graphicFrame>
      <p:sp>
        <p:nvSpPr>
          <p:cNvPr id="8" name="Rectangle 7"/>
          <p:cNvSpPr/>
          <p:nvPr/>
        </p:nvSpPr>
        <p:spPr>
          <a:xfrm>
            <a:off x="566928" y="6016752"/>
            <a:ext cx="50292" cy="4114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16752"/>
            <a:ext cx="10771632" cy="41148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Method notes for the figures restated during the build are in A6 §1.5, §1.7 and A7.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Does the Entity_B finding survive controls?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obvious challenge to slide 6 is that Entity_B might simply sit in departments or levels that lose people anyway. We tested it. It does not.</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Logistic model on voluntary exit, baseline Entity_A, n = 13,136 with 1,133 events. Reproduce with robustness_check.py.</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A15</a:t>
            </a:r>
          </a:p>
        </p:txBody>
      </p:sp>
      <p:graphicFrame>
        <p:nvGraphicFramePr>
          <p:cNvPr id="8" name="Table 7"/>
          <p:cNvGraphicFramePr>
            <a:graphicFrameLocks noGrp="1"/>
          </p:cNvGraphicFramePr>
          <p:nvPr/>
        </p:nvGraphicFramePr>
        <p:xfrm>
          <a:off x="566928" y="1755648"/>
          <a:ext cx="11064240" cy="1261872"/>
        </p:xfrm>
        <a:graphic>
          <a:graphicData uri="http://schemas.openxmlformats.org/drawingml/2006/table">
            <a:tbl>
              <a:tblPr firstRow="1" bandRow="1">
                <a:tableStyleId>{5C22544A-7EE6-4342-B048-85BDC9FD1C3A}</a:tableStyleId>
              </a:tblPr>
              <a:tblGrid>
                <a:gridCol w="5577840"/>
                <a:gridCol w="2011680"/>
                <a:gridCol w="1828800"/>
                <a:gridCol w="1645920"/>
              </a:tblGrid>
              <a:tr h="420624">
                <a:tc>
                  <a:txBody>
                    <a:bodyPr wrap="square"/>
                    <a:lstStyle/>
                    <a:p>
                      <a:pPr algn="l"/>
                      <a:r>
                        <a:rPr sz="1150" b="1">
                          <a:solidFill>
                            <a:srgbClr val="FFFFFF"/>
                          </a:solidFill>
                          <a:latin typeface="Calibri"/>
                        </a:rPr>
                        <a:t>Model</a:t>
                      </a:r>
                    </a:p>
                  </a:txBody>
                  <a:tcPr marL="91440" marR="73152" marT="27432" marB="27432" anchor="ctr">
                    <a:solidFill>
                      <a:srgbClr val="460073"/>
                    </a:solidFill>
                  </a:tcPr>
                </a:tc>
                <a:tc>
                  <a:txBody>
                    <a:bodyPr wrap="square"/>
                    <a:lstStyle/>
                    <a:p>
                      <a:pPr algn="ctr"/>
                      <a:r>
                        <a:rPr sz="1150" b="1">
                          <a:solidFill>
                            <a:srgbClr val="FFFFFF"/>
                          </a:solidFill>
                          <a:latin typeface="Calibri"/>
                        </a:rPr>
                        <a:t>Entity_B vs Entity_A</a:t>
                      </a:r>
                    </a:p>
                  </a:txBody>
                  <a:tcPr marL="91440" marR="73152" marT="27432" marB="27432" anchor="ctr">
                    <a:solidFill>
                      <a:srgbClr val="460073"/>
                    </a:solidFill>
                  </a:tcPr>
                </a:tc>
                <a:tc>
                  <a:txBody>
                    <a:bodyPr wrap="square"/>
                    <a:lstStyle/>
                    <a:p>
                      <a:pPr algn="ctr"/>
                      <a:r>
                        <a:rPr sz="1150" b="1">
                          <a:solidFill>
                            <a:srgbClr val="FFFFFF"/>
                          </a:solidFill>
                          <a:latin typeface="Calibri"/>
                        </a:rPr>
                        <a:t>95% CI</a:t>
                      </a:r>
                    </a:p>
                  </a:txBody>
                  <a:tcPr marL="91440" marR="73152" marT="27432" marB="27432" anchor="ctr">
                    <a:solidFill>
                      <a:srgbClr val="460073"/>
                    </a:solidFill>
                  </a:tcPr>
                </a:tc>
                <a:tc>
                  <a:txBody>
                    <a:bodyPr wrap="square"/>
                    <a:lstStyle/>
                    <a:p>
                      <a:pPr algn="ctr"/>
                      <a:r>
                        <a:rPr sz="1150" b="1">
                          <a:solidFill>
                            <a:srgbClr val="FFFFFF"/>
                          </a:solidFill>
                          <a:latin typeface="Calibri"/>
                        </a:rPr>
                        <a:t>p</a:t>
                      </a:r>
                    </a:p>
                  </a:txBody>
                  <a:tcPr marL="91440" marR="73152" marT="27432" marB="27432" anchor="ctr">
                    <a:solidFill>
                      <a:srgbClr val="460073"/>
                    </a:solidFill>
                  </a:tcPr>
                </a:tc>
              </a:tr>
              <a:tr h="420624">
                <a:tc>
                  <a:txBody>
                    <a:bodyPr wrap="square"/>
                    <a:lstStyle/>
                    <a:p>
                      <a:pPr algn="l"/>
                      <a:r>
                        <a:rPr sz="1150" b="1">
                          <a:solidFill>
                            <a:srgbClr val="22222A"/>
                          </a:solidFill>
                          <a:latin typeface="Calibri"/>
                        </a:rPr>
                        <a:t>Controlling for department, role level, pay and high-potential status</a:t>
                      </a:r>
                    </a:p>
                  </a:txBody>
                  <a:tcPr marL="91440" marR="73152" marT="27432" marB="27432" anchor="ctr">
                    <a:solidFill>
                      <a:srgbClr val="F4E9FF"/>
                    </a:solidFill>
                  </a:tcPr>
                </a:tc>
                <a:tc>
                  <a:txBody>
                    <a:bodyPr wrap="square"/>
                    <a:lstStyle/>
                    <a:p>
                      <a:pPr algn="ctr"/>
                      <a:r>
                        <a:rPr sz="1150" b="1">
                          <a:solidFill>
                            <a:srgbClr val="22222A"/>
                          </a:solidFill>
                          <a:latin typeface="Calibri"/>
                        </a:rPr>
                        <a:t>1.95×</a:t>
                      </a:r>
                    </a:p>
                  </a:txBody>
                  <a:tcPr marL="91440" marR="73152" marT="27432" marB="27432" anchor="ctr">
                    <a:solidFill>
                      <a:srgbClr val="F4E9FF"/>
                    </a:solidFill>
                  </a:tcPr>
                </a:tc>
                <a:tc>
                  <a:txBody>
                    <a:bodyPr wrap="square"/>
                    <a:lstStyle/>
                    <a:p>
                      <a:pPr algn="ctr"/>
                      <a:r>
                        <a:rPr sz="1150" b="1">
                          <a:solidFill>
                            <a:srgbClr val="22222A"/>
                          </a:solidFill>
                          <a:latin typeface="Calibri"/>
                        </a:rPr>
                        <a:t>1.55 – 2.44</a:t>
                      </a:r>
                    </a:p>
                  </a:txBody>
                  <a:tcPr marL="91440" marR="73152" marT="27432" marB="27432" anchor="ctr">
                    <a:solidFill>
                      <a:srgbClr val="F4E9FF"/>
                    </a:solidFill>
                  </a:tcPr>
                </a:tc>
                <a:tc>
                  <a:txBody>
                    <a:bodyPr wrap="square"/>
                    <a:lstStyle/>
                    <a:p>
                      <a:pPr algn="ctr"/>
                      <a:r>
                        <a:rPr sz="1150" b="1">
                          <a:solidFill>
                            <a:srgbClr val="22222A"/>
                          </a:solidFill>
                          <a:latin typeface="Calibri"/>
                        </a:rPr>
                        <a:t>8.4×10⁻⁹</a:t>
                      </a:r>
                    </a:p>
                  </a:txBody>
                  <a:tcPr marL="91440" marR="73152" marT="27432" marB="27432" anchor="ctr">
                    <a:solidFill>
                      <a:srgbClr val="F4E9FF"/>
                    </a:solidFill>
                  </a:tcPr>
                </a:tc>
              </a:tr>
              <a:tr h="420624">
                <a:tc>
                  <a:txBody>
                    <a:bodyPr wrap="square"/>
                    <a:lstStyle/>
                    <a:p>
                      <a:pPr algn="l"/>
                      <a:r>
                        <a:rPr sz="1150" b="0">
                          <a:solidFill>
                            <a:srgbClr val="22222A"/>
                          </a:solidFill>
                          <a:latin typeface="Calibri"/>
                        </a:rPr>
                        <a:t>…and additionally for tenure</a:t>
                      </a:r>
                    </a:p>
                  </a:txBody>
                  <a:tcPr marL="91440" marR="73152" marT="27432" marB="27432" anchor="ctr">
                    <a:solidFill>
                      <a:srgbClr val="F8F8FB"/>
                    </a:solidFill>
                  </a:tcPr>
                </a:tc>
                <a:tc>
                  <a:txBody>
                    <a:bodyPr wrap="square"/>
                    <a:lstStyle/>
                    <a:p>
                      <a:pPr algn="ctr"/>
                      <a:r>
                        <a:rPr sz="1150" b="0">
                          <a:solidFill>
                            <a:srgbClr val="22222A"/>
                          </a:solidFill>
                          <a:latin typeface="Calibri"/>
                        </a:rPr>
                        <a:t>1.92×</a:t>
                      </a:r>
                    </a:p>
                  </a:txBody>
                  <a:tcPr marL="91440" marR="73152" marT="27432" marB="27432" anchor="ctr">
                    <a:solidFill>
                      <a:srgbClr val="F8F8FB"/>
                    </a:solidFill>
                  </a:tcPr>
                </a:tc>
                <a:tc>
                  <a:txBody>
                    <a:bodyPr wrap="square"/>
                    <a:lstStyle/>
                    <a:p>
                      <a:pPr algn="ctr"/>
                      <a:r>
                        <a:rPr sz="1150" b="0">
                          <a:solidFill>
                            <a:srgbClr val="22222A"/>
                          </a:solidFill>
                          <a:latin typeface="Calibri"/>
                        </a:rPr>
                        <a:t>1.53 – 2.41</a:t>
                      </a:r>
                    </a:p>
                  </a:txBody>
                  <a:tcPr marL="91440" marR="73152" marT="27432" marB="27432" anchor="ctr">
                    <a:solidFill>
                      <a:srgbClr val="F8F8FB"/>
                    </a:solidFill>
                  </a:tcPr>
                </a:tc>
                <a:tc>
                  <a:txBody>
                    <a:bodyPr wrap="square"/>
                    <a:lstStyle/>
                    <a:p>
                      <a:pPr algn="ctr"/>
                      <a:r>
                        <a:rPr sz="1150" b="0">
                          <a:solidFill>
                            <a:srgbClr val="22222A"/>
                          </a:solidFill>
                          <a:latin typeface="Calibri"/>
                        </a:rPr>
                        <a:t>1.6×10⁻⁸</a:t>
                      </a:r>
                    </a:p>
                  </a:txBody>
                  <a:tcPr marL="91440" marR="73152" marT="27432" marB="27432" anchor="ctr">
                    <a:solidFill>
                      <a:srgbClr val="F8F8FB"/>
                    </a:solidFill>
                  </a:tcPr>
                </a:tc>
              </a:tr>
            </a:tbl>
          </a:graphicData>
        </a:graphic>
      </p:graphicFrame>
      <p:sp>
        <p:nvSpPr>
          <p:cNvPr id="9" name="TextBox 8"/>
          <p:cNvSpPr txBox="1"/>
          <p:nvPr/>
        </p:nvSpPr>
        <p:spPr>
          <a:xfrm>
            <a:off x="566928" y="3246120"/>
            <a:ext cx="5394960" cy="2651760"/>
          </a:xfrm>
          <a:prstGeom prst="rect">
            <a:avLst/>
          </a:prstGeom>
          <a:noFill/>
        </p:spPr>
        <p:txBody>
          <a:bodyPr wrap="square" anchor="t" lIns="0" rIns="0" tIns="0" bIns="0">
            <a:spAutoFit/>
          </a:bodyPr>
          <a:lstStyle/>
          <a:p>
            <a:pPr algn="l">
              <a:lnSpc>
                <a:spcPct val="118000"/>
              </a:lnSpc>
              <a:spcAft>
                <a:spcPts val="1200"/>
              </a:spcAft>
            </a:pPr>
            <a:r>
              <a:rPr sz="1150" i="0" b="1">
                <a:solidFill>
                  <a:srgbClr val="460073"/>
                </a:solidFill>
                <a:latin typeface="Calibri"/>
              </a:rPr>
              <a:t>The effect holds either way.</a:t>
            </a:r>
            <a:r>
              <a:rPr sz="1150" i="0" b="0">
                <a:solidFill>
                  <a:srgbClr val="22222A"/>
                </a:solidFill>
                <a:latin typeface="Calibri"/>
              </a:rPr>
              <a:t> Slide 6 quotes a 1.9× rate ratio. The adjusted odds ratio is 1.95, so the headline is not an artifact of what Entity_B does or where it sits.</a:t>
            </a:r>
          </a:p>
          <a:p>
            <a:pPr algn="l">
              <a:lnSpc>
                <a:spcPct val="118000"/>
              </a:lnSpc>
              <a:spcAft>
                <a:spcPts val="1200"/>
              </a:spcAft>
            </a:pPr>
            <a:r>
              <a:rPr sz="1150" i="0" b="1">
                <a:solidFill>
                  <a:srgbClr val="460073"/>
                </a:solidFill>
                <a:latin typeface="Calibri"/>
              </a:rPr>
              <a:t>Department explains very little.</a:t>
            </a:r>
            <a:r>
              <a:rPr sz="1150" i="0" b="0">
                <a:solidFill>
                  <a:srgbClr val="22222A"/>
                </a:solidFill>
                <a:latin typeface="Calibri"/>
              </a:rPr>
              <a:t> Only one of six department terms reaches p &lt; 0.05, and every odds ratio sits between 0.77 and 1.00. Risk &amp; Compliance is exactly 1.00 once entity is in the model.</a:t>
            </a:r>
          </a:p>
          <a:p>
            <a:pPr algn="l">
              <a:lnSpc>
                <a:spcPct val="118000"/>
              </a:lnSpc>
              <a:spcAft>
                <a:spcPts val="1200"/>
              </a:spcAft>
            </a:pPr>
            <a:r>
              <a:rPr sz="1150" i="0" b="1">
                <a:solidFill>
                  <a:srgbClr val="460073"/>
                </a:solidFill>
                <a:latin typeface="Calibri"/>
              </a:rPr>
              <a:t>High-potential status replicates independently.</a:t>
            </a:r>
            <a:r>
              <a:rPr sz="1150" i="0" b="0">
                <a:solidFill>
                  <a:srgbClr val="22222A"/>
                </a:solidFill>
                <a:latin typeface="Calibri"/>
              </a:rPr>
              <a:t> OR 1.59 (p = 3.6×10⁻⁶) here, against the 1.64× lift in A8 test 11 computed a different way.</a:t>
            </a:r>
          </a:p>
        </p:txBody>
      </p:sp>
      <p:sp>
        <p:nvSpPr>
          <p:cNvPr id="10" name="Rectangle 9"/>
          <p:cNvSpPr/>
          <p:nvPr/>
        </p:nvSpPr>
        <p:spPr>
          <a:xfrm>
            <a:off x="6400800" y="3246120"/>
            <a:ext cx="5257800" cy="2651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3493008"/>
            <a:ext cx="4572000" cy="2286000"/>
          </a:xfrm>
          <a:prstGeom prst="rect">
            <a:avLst/>
          </a:prstGeom>
          <a:noFill/>
        </p:spPr>
        <p:txBody>
          <a:bodyPr wrap="square" anchor="t" lIns="0" rIns="0" tIns="0" bIns="0">
            <a:spAutoFit/>
          </a:bodyPr>
          <a:lstStyle/>
          <a:p>
            <a:pPr algn="l">
              <a:lnSpc>
                <a:spcPct val="100000"/>
              </a:lnSpc>
              <a:spcAft>
                <a:spcPts val="1200"/>
              </a:spcAft>
            </a:pPr>
            <a:r>
              <a:rPr sz="1000" i="0" b="1">
                <a:solidFill>
                  <a:srgbClr val="5A5A66"/>
                </a:solidFill>
                <a:latin typeface="Calibri"/>
              </a:rPr>
              <a:t>WHY TENURE IS REPORTED SEPARATELY</a:t>
            </a:r>
          </a:p>
          <a:p>
            <a:pPr algn="l">
              <a:lnSpc>
                <a:spcPct val="116000"/>
              </a:lnSpc>
              <a:spcAft>
                <a:spcPts val="900"/>
              </a:spcAft>
            </a:pPr>
            <a:r>
              <a:rPr sz="1100" i="0" b="0">
                <a:solidFill>
                  <a:srgbClr val="22222A"/>
                </a:solidFill>
                <a:latin typeface="Calibri"/>
              </a:rPr>
              <a:t>tenure_months is the system-entry artifact from A6 §1.1, so for the acquired cohorts it is close to a restatement of entity itself:</a:t>
            </a:r>
          </a:p>
          <a:p>
            <a:pPr algn="l">
              <a:lnSpc>
                <a:spcPct val="100000"/>
              </a:lnSpc>
              <a:spcAft>
                <a:spcPts val="900"/>
              </a:spcAft>
            </a:pPr>
            <a:r>
              <a:rPr sz="1050" i="0" b="1">
                <a:solidFill>
                  <a:srgbClr val="460073"/>
                </a:solidFill>
                <a:latin typeface="Calibri"/>
              </a:rPr>
              <a:t>Entity_C 0–9 months  ·  Entity_B 0–20  ·  Entity_A 7–33  ·  NovaCorp-Origin 0–462</a:t>
            </a:r>
          </a:p>
          <a:p>
            <a:pPr algn="l">
              <a:lnSpc>
                <a:spcPct val="116000"/>
              </a:lnSpc>
              <a:spcAft>
                <a:spcPts val="0"/>
              </a:spcAft>
            </a:pPr>
            <a:r>
              <a:rPr sz="1100" i="0" b="0">
                <a:solidFill>
                  <a:srgbClr val="22222A"/>
                </a:solidFill>
                <a:latin typeface="Calibri"/>
              </a:rPr>
              <a:t>Controlling for it is close to controlling for the thing being measured, so we report both models rather than picking the flattering one. Baseline is Entity_A because that is the comparison the deck makes. NovaCorp-Origin is the worst choice of baseline here, since it is the cohort the artifact distorts most.</a:t>
            </a:r>
          </a:p>
        </p:txBody>
      </p:sp>
      <p:sp>
        <p:nvSpPr>
          <p:cNvPr id="12" name="Rectangle 11"/>
          <p:cNvSpPr/>
          <p:nvPr/>
        </p:nvSpPr>
        <p:spPr>
          <a:xfrm>
            <a:off x="566928" y="5925312"/>
            <a:ext cx="50292" cy="36576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5925312"/>
            <a:ext cx="10771632" cy="3657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does not establish cause. It rules out the most likely confounders, which is a different and weaker claim, and the one we make.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The first 90 days, and what to measure</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Slide 9 says Entity_A sets the success measure. This is that measure, stated so it can go in front of a board.</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Baselines are the current figures from cost_model.py. Targets are Entity_A's present position, not a generic benchmark, because Entity_A reached them inside this company with this workforce.</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A16</a:t>
            </a:r>
          </a:p>
        </p:txBody>
      </p:sp>
      <p:graphicFrame>
        <p:nvGraphicFramePr>
          <p:cNvPr id="8" name="Table 7"/>
          <p:cNvGraphicFramePr>
            <a:graphicFrameLocks noGrp="1"/>
          </p:cNvGraphicFramePr>
          <p:nvPr/>
        </p:nvGraphicFramePr>
        <p:xfrm>
          <a:off x="566928" y="1783080"/>
          <a:ext cx="11064240" cy="2816352"/>
        </p:xfrm>
        <a:graphic>
          <a:graphicData uri="http://schemas.openxmlformats.org/drawingml/2006/table">
            <a:tbl>
              <a:tblPr firstRow="1" bandRow="1">
                <a:tableStyleId>{5C22544A-7EE6-4342-B048-85BDC9FD1C3A}</a:tableStyleId>
              </a:tblPr>
              <a:tblGrid>
                <a:gridCol w="2606040"/>
                <a:gridCol w="1828800"/>
                <a:gridCol w="2103120"/>
                <a:gridCol w="1234440"/>
                <a:gridCol w="3291840"/>
              </a:tblGrid>
              <a:tr h="402336">
                <a:tc>
                  <a:txBody>
                    <a:bodyPr wrap="square"/>
                    <a:lstStyle/>
                    <a:p>
                      <a:pPr algn="l"/>
                      <a:r>
                        <a:rPr sz="1000" b="1">
                          <a:solidFill>
                            <a:srgbClr val="FFFFFF"/>
                          </a:solidFill>
                          <a:latin typeface="Calibri"/>
                        </a:rPr>
                        <a:t>Metric</a:t>
                      </a:r>
                    </a:p>
                  </a:txBody>
                  <a:tcPr marL="91440" marR="73152" marT="27432" marB="27432" anchor="ctr">
                    <a:solidFill>
                      <a:srgbClr val="460073"/>
                    </a:solidFill>
                  </a:tcPr>
                </a:tc>
                <a:tc>
                  <a:txBody>
                    <a:bodyPr wrap="square"/>
                    <a:lstStyle/>
                    <a:p>
                      <a:pPr algn="ctr"/>
                      <a:r>
                        <a:rPr sz="1000" b="1">
                          <a:solidFill>
                            <a:srgbClr val="FFFFFF"/>
                          </a:solidFill>
                          <a:latin typeface="Calibri"/>
                        </a:rPr>
                        <a:t>Entity_B today</a:t>
                      </a:r>
                    </a:p>
                  </a:txBody>
                  <a:tcPr marL="91440" marR="73152" marT="27432" marB="27432" anchor="ctr">
                    <a:solidFill>
                      <a:srgbClr val="460073"/>
                    </a:solidFill>
                  </a:tcPr>
                </a:tc>
                <a:tc>
                  <a:txBody>
                    <a:bodyPr wrap="square"/>
                    <a:lstStyle/>
                    <a:p>
                      <a:pPr algn="ctr"/>
                      <a:r>
                        <a:rPr sz="1000" b="1">
                          <a:solidFill>
                            <a:srgbClr val="FFFFFF"/>
                          </a:solidFill>
                          <a:latin typeface="Calibri"/>
                        </a:rPr>
                        <a:t>Target (Entity_A today)</a:t>
                      </a:r>
                    </a:p>
                  </a:txBody>
                  <a:tcPr marL="91440" marR="73152" marT="27432" marB="27432" anchor="ctr">
                    <a:solidFill>
                      <a:srgbClr val="460073"/>
                    </a:solidFill>
                  </a:tcPr>
                </a:tc>
                <a:tc>
                  <a:txBody>
                    <a:bodyPr wrap="square"/>
                    <a:lstStyle/>
                    <a:p>
                      <a:pPr algn="ctr"/>
                      <a:r>
                        <a:rPr sz="1000" b="1">
                          <a:solidFill>
                            <a:srgbClr val="FFFFFF"/>
                          </a:solidFill>
                          <a:latin typeface="Calibri"/>
                        </a:rPr>
                        <a:t>Review</a:t>
                      </a:r>
                    </a:p>
                  </a:txBody>
                  <a:tcPr marL="91440" marR="73152" marT="27432" marB="27432" anchor="ctr">
                    <a:solidFill>
                      <a:srgbClr val="460073"/>
                    </a:solidFill>
                  </a:tcPr>
                </a:tc>
                <a:tc>
                  <a:txBody>
                    <a:bodyPr wrap="square"/>
                    <a:lstStyle/>
                    <a:p>
                      <a:pPr algn="l"/>
                      <a:r>
                        <a:rPr sz="1000" b="1">
                          <a:solidFill>
                            <a:srgbClr val="FFFFFF"/>
                          </a:solidFill>
                          <a:latin typeface="Calibri"/>
                        </a:rPr>
                        <a:t>Why this one</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Survey response rate</a:t>
                      </a:r>
                    </a:p>
                  </a:txBody>
                  <a:tcPr marL="91440" marR="73152" marT="27432" marB="27432" anchor="ctr">
                    <a:solidFill>
                      <a:srgbClr val="FFFFFF"/>
                    </a:solidFill>
                  </a:tcPr>
                </a:tc>
                <a:tc>
                  <a:txBody>
                    <a:bodyPr wrap="square"/>
                    <a:lstStyle/>
                    <a:p>
                      <a:pPr algn="ctr"/>
                      <a:r>
                        <a:rPr sz="1050" b="0">
                          <a:solidFill>
                            <a:srgbClr val="22222A"/>
                          </a:solidFill>
                          <a:latin typeface="Calibri"/>
                        </a:rPr>
                        <a:t>62.6%</a:t>
                      </a:r>
                    </a:p>
                  </a:txBody>
                  <a:tcPr marL="91440" marR="73152" marT="27432" marB="27432" anchor="ctr">
                    <a:solidFill>
                      <a:srgbClr val="FFFFFF"/>
                    </a:solidFill>
                  </a:tcPr>
                </a:tc>
                <a:tc>
                  <a:txBody>
                    <a:bodyPr wrap="square"/>
                    <a:lstStyle/>
                    <a:p>
                      <a:pPr algn="ctr"/>
                      <a:r>
                        <a:rPr sz="1050" b="0">
                          <a:solidFill>
                            <a:srgbClr val="22222A"/>
                          </a:solidFill>
                          <a:latin typeface="Calibri"/>
                        </a:rPr>
                        <a:t>83.8%</a:t>
                      </a:r>
                    </a:p>
                  </a:txBody>
                  <a:tcPr marL="91440" marR="73152" marT="27432" marB="27432" anchor="ctr">
                    <a:solidFill>
                      <a:srgbClr val="FFFFFF"/>
                    </a:solidFill>
                  </a:tcPr>
                </a:tc>
                <a:tc>
                  <a:txBody>
                    <a:bodyPr wrap="square"/>
                    <a:lstStyle/>
                    <a:p>
                      <a:pPr algn="ctr"/>
                      <a:r>
                        <a:rPr sz="1050" b="0">
                          <a:solidFill>
                            <a:srgbClr val="22222A"/>
                          </a:solidFill>
                          <a:latin typeface="Calibri"/>
                        </a:rPr>
                        <a:t>Every wave</a:t>
                      </a:r>
                    </a:p>
                  </a:txBody>
                  <a:tcPr marL="91440" marR="73152" marT="27432" marB="27432" anchor="ctr">
                    <a:solidFill>
                      <a:srgbClr val="FFFFFF"/>
                    </a:solidFill>
                  </a:tcPr>
                </a:tc>
                <a:tc>
                  <a:txBody>
                    <a:bodyPr wrap="square"/>
                    <a:lstStyle/>
                    <a:p>
                      <a:pPr algn="l"/>
                      <a:r>
                        <a:rPr sz="1050" b="0">
                          <a:solidFill>
                            <a:srgbClr val="22222A"/>
                          </a:solidFill>
                          <a:latin typeface="Calibri"/>
                        </a:rPr>
                        <a:t>Moves first and costs nothing to measure. The leading indicator.</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Senior leadership trust</a:t>
                      </a:r>
                    </a:p>
                  </a:txBody>
                  <a:tcPr marL="91440" marR="73152" marT="27432" marB="27432" anchor="ctr">
                    <a:solidFill>
                      <a:srgbClr val="F8F8FB"/>
                    </a:solidFill>
                  </a:tcPr>
                </a:tc>
                <a:tc>
                  <a:txBody>
                    <a:bodyPr wrap="square"/>
                    <a:lstStyle/>
                    <a:p>
                      <a:pPr algn="ctr"/>
                      <a:r>
                        <a:rPr sz="1050" b="0">
                          <a:solidFill>
                            <a:srgbClr val="22222A"/>
                          </a:solidFill>
                          <a:latin typeface="Calibri"/>
                        </a:rPr>
                        <a:t>3.051</a:t>
                      </a:r>
                    </a:p>
                  </a:txBody>
                  <a:tcPr marL="91440" marR="73152" marT="27432" marB="27432" anchor="ctr">
                    <a:solidFill>
                      <a:srgbClr val="F8F8FB"/>
                    </a:solidFill>
                  </a:tcPr>
                </a:tc>
                <a:tc>
                  <a:txBody>
                    <a:bodyPr wrap="square"/>
                    <a:lstStyle/>
                    <a:p>
                      <a:pPr algn="ctr"/>
                      <a:r>
                        <a:rPr sz="1050" b="0">
                          <a:solidFill>
                            <a:srgbClr val="22222A"/>
                          </a:solidFill>
                          <a:latin typeface="Calibri"/>
                        </a:rPr>
                        <a:t>3.352</a:t>
                      </a:r>
                    </a:p>
                  </a:txBody>
                  <a:tcPr marL="91440" marR="73152" marT="27432" marB="27432" anchor="ctr">
                    <a:solidFill>
                      <a:srgbClr val="F8F8FB"/>
                    </a:solidFill>
                  </a:tcPr>
                </a:tc>
                <a:tc>
                  <a:txBody>
                    <a:bodyPr wrap="square"/>
                    <a:lstStyle/>
                    <a:p>
                      <a:pPr algn="ctr"/>
                      <a:r>
                        <a:rPr sz="1050" b="0">
                          <a:solidFill>
                            <a:srgbClr val="22222A"/>
                          </a:solidFill>
                          <a:latin typeface="Calibri"/>
                        </a:rPr>
                        <a:t>Every wave</a:t>
                      </a:r>
                    </a:p>
                  </a:txBody>
                  <a:tcPr marL="91440" marR="73152" marT="27432" marB="27432" anchor="ctr">
                    <a:solidFill>
                      <a:srgbClr val="F8F8FB"/>
                    </a:solidFill>
                  </a:tcPr>
                </a:tc>
                <a:tc>
                  <a:txBody>
                    <a:bodyPr wrap="square"/>
                    <a:lstStyle/>
                    <a:p>
                      <a:pPr algn="l"/>
                      <a:r>
                        <a:rPr sz="1050" b="0">
                          <a:solidFill>
                            <a:srgbClr val="22222A"/>
                          </a:solidFill>
                          <a:latin typeface="Calibri"/>
                        </a:rPr>
                        <a:t>One of the two dimensions that actually collapsed.</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Purpose &amp; meaning</a:t>
                      </a:r>
                    </a:p>
                  </a:txBody>
                  <a:tcPr marL="91440" marR="73152" marT="27432" marB="27432" anchor="ctr">
                    <a:solidFill>
                      <a:srgbClr val="FFFFFF"/>
                    </a:solidFill>
                  </a:tcPr>
                </a:tc>
                <a:tc>
                  <a:txBody>
                    <a:bodyPr wrap="square"/>
                    <a:lstStyle/>
                    <a:p>
                      <a:pPr algn="ctr"/>
                      <a:r>
                        <a:rPr sz="1050" b="0">
                          <a:solidFill>
                            <a:srgbClr val="22222A"/>
                          </a:solidFill>
                          <a:latin typeface="Calibri"/>
                        </a:rPr>
                        <a:t>3.058</a:t>
                      </a:r>
                    </a:p>
                  </a:txBody>
                  <a:tcPr marL="91440" marR="73152" marT="27432" marB="27432" anchor="ctr">
                    <a:solidFill>
                      <a:srgbClr val="FFFFFF"/>
                    </a:solidFill>
                  </a:tcPr>
                </a:tc>
                <a:tc>
                  <a:txBody>
                    <a:bodyPr wrap="square"/>
                    <a:lstStyle/>
                    <a:p>
                      <a:pPr algn="ctr"/>
                      <a:r>
                        <a:rPr sz="1050" b="0">
                          <a:solidFill>
                            <a:srgbClr val="22222A"/>
                          </a:solidFill>
                          <a:latin typeface="Calibri"/>
                        </a:rPr>
                        <a:t>3.358</a:t>
                      </a:r>
                    </a:p>
                  </a:txBody>
                  <a:tcPr marL="91440" marR="73152" marT="27432" marB="27432" anchor="ctr">
                    <a:solidFill>
                      <a:srgbClr val="FFFFFF"/>
                    </a:solidFill>
                  </a:tcPr>
                </a:tc>
                <a:tc>
                  <a:txBody>
                    <a:bodyPr wrap="square"/>
                    <a:lstStyle/>
                    <a:p>
                      <a:pPr algn="ctr"/>
                      <a:r>
                        <a:rPr sz="1050" b="0">
                          <a:solidFill>
                            <a:srgbClr val="22222A"/>
                          </a:solidFill>
                          <a:latin typeface="Calibri"/>
                        </a:rPr>
                        <a:t>Every wave</a:t>
                      </a:r>
                    </a:p>
                  </a:txBody>
                  <a:tcPr marL="91440" marR="73152" marT="27432" marB="27432" anchor="ctr">
                    <a:solidFill>
                      <a:srgbClr val="FFFFFF"/>
                    </a:solidFill>
                  </a:tcPr>
                </a:tc>
                <a:tc>
                  <a:txBody>
                    <a:bodyPr wrap="square"/>
                    <a:lstStyle/>
                    <a:p>
                      <a:pPr algn="l"/>
                      <a:r>
                        <a:rPr sz="1050" b="0">
                          <a:solidFill>
                            <a:srgbClr val="22222A"/>
                          </a:solidFill>
                          <a:latin typeface="Calibri"/>
                        </a:rPr>
                        <a:t>The other one.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Senior Manager (L3) attrition</a:t>
                      </a:r>
                    </a:p>
                  </a:txBody>
                  <a:tcPr marL="91440" marR="73152" marT="27432" marB="27432" anchor="ctr">
                    <a:solidFill>
                      <a:srgbClr val="F8F8FB"/>
                    </a:solidFill>
                  </a:tcPr>
                </a:tc>
                <a:tc>
                  <a:txBody>
                    <a:bodyPr wrap="square"/>
                    <a:lstStyle/>
                    <a:p>
                      <a:pPr algn="ctr"/>
                      <a:r>
                        <a:rPr sz="1050" b="0">
                          <a:solidFill>
                            <a:srgbClr val="22222A"/>
                          </a:solidFill>
                          <a:latin typeface="Calibri"/>
                        </a:rPr>
                        <a:t>9.8%/yr</a:t>
                      </a:r>
                    </a:p>
                  </a:txBody>
                  <a:tcPr marL="91440" marR="73152" marT="27432" marB="27432" anchor="ctr">
                    <a:solidFill>
                      <a:srgbClr val="F8F8FB"/>
                    </a:solidFill>
                  </a:tcPr>
                </a:tc>
                <a:tc>
                  <a:txBody>
                    <a:bodyPr wrap="square"/>
                    <a:lstStyle/>
                    <a:p>
                      <a:pPr algn="ctr"/>
                      <a:r>
                        <a:rPr sz="1050" b="0">
                          <a:solidFill>
                            <a:srgbClr val="22222A"/>
                          </a:solidFill>
                          <a:latin typeface="Calibri"/>
                        </a:rPr>
                        <a:t>2.9%/yr</a:t>
                      </a:r>
                    </a:p>
                  </a:txBody>
                  <a:tcPr marL="91440" marR="73152" marT="27432" marB="27432" anchor="ctr">
                    <a:solidFill>
                      <a:srgbClr val="F8F8FB"/>
                    </a:solidFill>
                  </a:tcPr>
                </a:tc>
                <a:tc>
                  <a:txBody>
                    <a:bodyPr wrap="square"/>
                    <a:lstStyle/>
                    <a:p>
                      <a:pPr algn="ctr"/>
                      <a:r>
                        <a:rPr sz="1050" b="0">
                          <a:solidFill>
                            <a:srgbClr val="22222A"/>
                          </a:solidFill>
                          <a:latin typeface="Calibri"/>
                        </a:rPr>
                        <a:t>Quarterly</a:t>
                      </a:r>
                    </a:p>
                  </a:txBody>
                  <a:tcPr marL="91440" marR="73152" marT="27432" marB="27432" anchor="ctr">
                    <a:solidFill>
                      <a:srgbClr val="F8F8FB"/>
                    </a:solidFill>
                  </a:tcPr>
                </a:tc>
                <a:tc>
                  <a:txBody>
                    <a:bodyPr wrap="square"/>
                    <a:lstStyle/>
                    <a:p>
                      <a:pPr algn="l"/>
                      <a:r>
                        <a:rPr sz="1050" b="0">
                          <a:solidFill>
                            <a:srgbClr val="22222A"/>
                          </a:solidFill>
                          <a:latin typeface="Calibri"/>
                        </a:rPr>
                        <a:t>The layer that has to carry the integration message.</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Voluntary attrition</a:t>
                      </a:r>
                    </a:p>
                  </a:txBody>
                  <a:tcPr marL="91440" marR="73152" marT="27432" marB="27432" anchor="ctr">
                    <a:solidFill>
                      <a:srgbClr val="FFFFFF"/>
                    </a:solidFill>
                  </a:tcPr>
                </a:tc>
                <a:tc>
                  <a:txBody>
                    <a:bodyPr wrap="square"/>
                    <a:lstStyle/>
                    <a:p>
                      <a:pPr algn="ctr"/>
                      <a:r>
                        <a:rPr sz="1050" b="0">
                          <a:solidFill>
                            <a:srgbClr val="22222A"/>
                          </a:solidFill>
                          <a:latin typeface="Calibri"/>
                        </a:rPr>
                        <a:t>7.0%/yr</a:t>
                      </a:r>
                    </a:p>
                  </a:txBody>
                  <a:tcPr marL="91440" marR="73152" marT="27432" marB="27432" anchor="ctr">
                    <a:solidFill>
                      <a:srgbClr val="FFFFFF"/>
                    </a:solidFill>
                  </a:tcPr>
                </a:tc>
                <a:tc>
                  <a:txBody>
                    <a:bodyPr wrap="square"/>
                    <a:lstStyle/>
                    <a:p>
                      <a:pPr algn="ctr"/>
                      <a:r>
                        <a:rPr sz="1050" b="0">
                          <a:solidFill>
                            <a:srgbClr val="22222A"/>
                          </a:solidFill>
                          <a:latin typeface="Calibri"/>
                        </a:rPr>
                        <a:t>3.6%/yr</a:t>
                      </a:r>
                    </a:p>
                  </a:txBody>
                  <a:tcPr marL="91440" marR="73152" marT="27432" marB="27432" anchor="ctr">
                    <a:solidFill>
                      <a:srgbClr val="FFFFFF"/>
                    </a:solidFill>
                  </a:tcPr>
                </a:tc>
                <a:tc>
                  <a:txBody>
                    <a:bodyPr wrap="square"/>
                    <a:lstStyle/>
                    <a:p>
                      <a:pPr algn="ctr"/>
                      <a:r>
                        <a:rPr sz="1050" b="0">
                          <a:solidFill>
                            <a:srgbClr val="22222A"/>
                          </a:solidFill>
                          <a:latin typeface="Calibri"/>
                        </a:rPr>
                        <a:t>Quarterly</a:t>
                      </a:r>
                    </a:p>
                  </a:txBody>
                  <a:tcPr marL="91440" marR="73152" marT="27432" marB="27432" anchor="ctr">
                    <a:solidFill>
                      <a:srgbClr val="FFFFFF"/>
                    </a:solidFill>
                  </a:tcPr>
                </a:tc>
                <a:tc>
                  <a:txBody>
                    <a:bodyPr wrap="square"/>
                    <a:lstStyle/>
                    <a:p>
                      <a:pPr algn="l"/>
                      <a:r>
                        <a:rPr sz="1050" b="0">
                          <a:solidFill>
                            <a:srgbClr val="22222A"/>
                          </a:solidFill>
                          <a:latin typeface="Calibri"/>
                        </a:rPr>
                        <a:t>The outcome. Moves last, so do not judge the programme on it early.</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Employees never surveyed</a:t>
                      </a:r>
                    </a:p>
                  </a:txBody>
                  <a:tcPr marL="91440" marR="73152" marT="27432" marB="27432" anchor="ctr">
                    <a:solidFill>
                      <a:srgbClr val="F8F8FB"/>
                    </a:solidFill>
                  </a:tcPr>
                </a:tc>
                <a:tc>
                  <a:txBody>
                    <a:bodyPr wrap="square"/>
                    <a:lstStyle/>
                    <a:p>
                      <a:pPr algn="ctr"/>
                      <a:r>
                        <a:rPr sz="1050" b="0">
                          <a:solidFill>
                            <a:srgbClr val="22222A"/>
                          </a:solidFill>
                          <a:latin typeface="Calibri"/>
                        </a:rPr>
                        <a:t>152 on B and C systems</a:t>
                      </a:r>
                    </a:p>
                  </a:txBody>
                  <a:tcPr marL="91440" marR="73152" marT="27432" marB="27432" anchor="ctr">
                    <a:solidFill>
                      <a:srgbClr val="F8F8FB"/>
                    </a:solidFill>
                  </a:tcPr>
                </a:tc>
                <a:tc>
                  <a:txBody>
                    <a:bodyPr wrap="square"/>
                    <a:lstStyle/>
                    <a:p>
                      <a:pPr algn="ctr"/>
                      <a:r>
                        <a:rPr sz="1050" b="0">
                          <a:solidFill>
                            <a:srgbClr val="22222A"/>
                          </a:solidFill>
                          <a:latin typeface="Calibri"/>
                        </a:rPr>
                        <a:t>0</a:t>
                      </a:r>
                    </a:p>
                  </a:txBody>
                  <a:tcPr marL="91440" marR="73152" marT="27432" marB="27432" anchor="ctr">
                    <a:solidFill>
                      <a:srgbClr val="F8F8FB"/>
                    </a:solidFill>
                  </a:tcPr>
                </a:tc>
                <a:tc>
                  <a:txBody>
                    <a:bodyPr wrap="square"/>
                    <a:lstStyle/>
                    <a:p>
                      <a:pPr algn="ctr"/>
                      <a:r>
                        <a:rPr sz="1050" b="0">
                          <a:solidFill>
                            <a:srgbClr val="22222A"/>
                          </a:solidFill>
                          <a:latin typeface="Calibri"/>
                        </a:rPr>
                        <a:t>Every wave</a:t>
                      </a:r>
                    </a:p>
                  </a:txBody>
                  <a:tcPr marL="91440" marR="73152" marT="27432" marB="27432" anchor="ctr">
                    <a:solidFill>
                      <a:srgbClr val="F8F8FB"/>
                    </a:solidFill>
                  </a:tcPr>
                </a:tc>
                <a:tc>
                  <a:txBody>
                    <a:bodyPr wrap="square"/>
                    <a:lstStyle/>
                    <a:p>
                      <a:pPr algn="l"/>
                      <a:r>
                        <a:rPr sz="1050" b="0">
                          <a:solidFill>
                            <a:srgbClr val="22222A"/>
                          </a:solidFill>
                          <a:latin typeface="Calibri"/>
                        </a:rPr>
                        <a:t>You cannot manage a cohort you are not asking.</a:t>
                      </a:r>
                    </a:p>
                  </a:txBody>
                  <a:tcPr marL="91440" marR="73152" marT="27432" marB="27432" anchor="ctr">
                    <a:solidFill>
                      <a:srgbClr val="F8F8FB"/>
                    </a:solidFill>
                  </a:tcPr>
                </a:tc>
              </a:tr>
            </a:tbl>
          </a:graphicData>
        </a:graphic>
      </p:graphicFrame>
      <p:sp>
        <p:nvSpPr>
          <p:cNvPr id="9" name="Rectangle 8"/>
          <p:cNvSpPr/>
          <p:nvPr/>
        </p:nvSpPr>
        <p:spPr>
          <a:xfrm>
            <a:off x="566928" y="4892040"/>
            <a:ext cx="3538728" cy="4572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06577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A100FF"/>
                </a:solidFill>
                <a:latin typeface="Calibri"/>
              </a:rPr>
              <a:t>BY DAY 30</a:t>
            </a:r>
          </a:p>
          <a:p>
            <a:pPr algn="l">
              <a:lnSpc>
                <a:spcPct val="118000"/>
              </a:lnSpc>
              <a:spcAft>
                <a:spcPts val="0"/>
              </a:spcAft>
            </a:pPr>
            <a:r>
              <a:rPr sz="1100" i="0" b="0">
                <a:solidFill>
                  <a:srgbClr val="22222A"/>
                </a:solidFill>
                <a:latin typeface="Calibri"/>
              </a:rPr>
              <a:t>Regrettable flag redefined to include High Performer, and separated from the function that approves exits. Baseline restated. Costs about $0 and needs no programme.</a:t>
            </a:r>
          </a:p>
        </p:txBody>
      </p:sp>
      <p:sp>
        <p:nvSpPr>
          <p:cNvPr id="11" name="Rectangle 10"/>
          <p:cNvSpPr/>
          <p:nvPr/>
        </p:nvSpPr>
        <p:spPr>
          <a:xfrm>
            <a:off x="4325112" y="4892040"/>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25112" y="506577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FF6B6B"/>
                </a:solidFill>
                <a:latin typeface="Calibri"/>
              </a:rPr>
              <a:t>BY DAY 60</a:t>
            </a:r>
          </a:p>
          <a:p>
            <a:pPr algn="l">
              <a:lnSpc>
                <a:spcPct val="118000"/>
              </a:lnSpc>
              <a:spcAft>
                <a:spcPts val="0"/>
              </a:spcAft>
            </a:pPr>
            <a:r>
              <a:rPr sz="1100" i="0" b="0">
                <a:solidFill>
                  <a:srgbClr val="22222A"/>
                </a:solidFill>
                <a:latin typeface="Calibri"/>
              </a:rPr>
              <a:t>Entity_B migration off BambooHR scheduled with a date. Senior Manager retention conversations complete. All 152 unsurveyed staff issued the next wave.</a:t>
            </a:r>
          </a:p>
        </p:txBody>
      </p:sp>
      <p:sp>
        <p:nvSpPr>
          <p:cNvPr id="13" name="Rectangle 12"/>
          <p:cNvSpPr/>
          <p:nvPr/>
        </p:nvSpPr>
        <p:spPr>
          <a:xfrm>
            <a:off x="8083296" y="4892040"/>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506577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00B7C3"/>
                </a:solidFill>
                <a:latin typeface="Calibri"/>
              </a:rPr>
              <a:t>BY DAY 90</a:t>
            </a:r>
          </a:p>
          <a:p>
            <a:pPr algn="l">
              <a:lnSpc>
                <a:spcPct val="118000"/>
              </a:lnSpc>
              <a:spcAft>
                <a:spcPts val="0"/>
              </a:spcAft>
            </a:pPr>
            <a:r>
              <a:rPr sz="1100" i="0" b="0">
                <a:solidFill>
                  <a:srgbClr val="22222A"/>
                </a:solidFill>
                <a:latin typeface="Calibri"/>
              </a:rPr>
              <a:t>First post-intervention wave read against Entity_A's trajectory, not against Entity_B's own past. Response rate is the number to watch; attrition will not have moved yet.</a:t>
            </a:r>
          </a:p>
        </p:txBody>
      </p:sp>
      <p:sp>
        <p:nvSpPr>
          <p:cNvPr id="15" name="Rectangle 14"/>
          <p:cNvSpPr/>
          <p:nvPr/>
        </p:nvSpPr>
        <p:spPr>
          <a:xfrm>
            <a:off x="566928" y="5943600"/>
            <a:ext cx="50292" cy="347472"/>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943600"/>
            <a:ext cx="10771632" cy="347472"/>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Judge the programme on response rate and trust at 90 days. Attrition is a lagging measure and will not have moved.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Model card — cohort diagnostic</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accompanying dashboard is a model, so it gets a model card. Intended use, prohibited use, and known limits, stated up front rather than discovered later.</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A17</a:t>
            </a:r>
          </a:p>
        </p:txBody>
      </p:sp>
      <p:sp>
        <p:nvSpPr>
          <p:cNvPr id="7" name="Rectangle 6"/>
          <p:cNvSpPr/>
          <p:nvPr/>
        </p:nvSpPr>
        <p:spPr>
          <a:xfrm>
            <a:off x="566928" y="1627632"/>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00B7C3"/>
                </a:solidFill>
                <a:latin typeface="Calibri"/>
              </a:rPr>
              <a:t>INTENDED USE</a:t>
            </a:r>
          </a:p>
          <a:p>
            <a:pPr algn="l">
              <a:lnSpc>
                <a:spcPct val="118000"/>
              </a:lnSpc>
              <a:spcAft>
                <a:spcPts val="1000"/>
              </a:spcAft>
            </a:pPr>
            <a:r>
              <a:rPr sz="1100" i="0" b="0">
                <a:solidFill>
                  <a:srgbClr val="22222A"/>
                </a:solidFill>
                <a:latin typeface="Calibri"/>
              </a:rPr>
              <a:t>•  Cohort-level diagnostic for HR and integration leads.</a:t>
            </a:r>
          </a:p>
          <a:p>
            <a:pPr algn="l">
              <a:lnSpc>
                <a:spcPct val="118000"/>
              </a:lnSpc>
              <a:spcAft>
                <a:spcPts val="1000"/>
              </a:spcAft>
            </a:pPr>
            <a:r>
              <a:rPr sz="1100" i="0" b="0">
                <a:solidFill>
                  <a:srgbClr val="22222A"/>
                </a:solidFill>
                <a:latin typeface="Calibri"/>
              </a:rPr>
              <a:t>•  Identifying which parts of the organisation resemble Entity_B before its attrition rose, so integration effort can be directed.</a:t>
            </a:r>
          </a:p>
          <a:p>
            <a:pPr algn="l">
              <a:lnSpc>
                <a:spcPct val="118000"/>
              </a:lnSpc>
              <a:spcAft>
                <a:spcPts val="1000"/>
              </a:spcAft>
            </a:pPr>
            <a:r>
              <a:rPr sz="1100" i="0" b="0">
                <a:solidFill>
                  <a:srgbClr val="22222A"/>
                </a:solidFill>
                <a:latin typeface="Calibri"/>
              </a:rPr>
              <a:t>•  Tracking cohorts against the A16 measures over time.</a:t>
            </a:r>
          </a:p>
        </p:txBody>
      </p:sp>
      <p:sp>
        <p:nvSpPr>
          <p:cNvPr id="9" name="Rectangle 8"/>
          <p:cNvSpPr/>
          <p:nvPr/>
        </p:nvSpPr>
        <p:spPr>
          <a:xfrm>
            <a:off x="4325112" y="1627632"/>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6B6B"/>
                </a:solidFill>
                <a:latin typeface="Calibri"/>
              </a:rPr>
              <a:t>PROHIBITED USE</a:t>
            </a:r>
          </a:p>
          <a:p>
            <a:pPr algn="l">
              <a:lnSpc>
                <a:spcPct val="118000"/>
              </a:lnSpc>
              <a:spcAft>
                <a:spcPts val="1000"/>
              </a:spcAft>
            </a:pPr>
            <a:r>
              <a:rPr sz="1100" i="0" b="0">
                <a:solidFill>
                  <a:srgbClr val="22222A"/>
                </a:solidFill>
                <a:latin typeface="Calibri"/>
              </a:rPr>
              <a:t>•  Any decision about an individual. The file contains no employee, manager or team identifier, so this is enforced by construction rather than by policy.</a:t>
            </a:r>
          </a:p>
          <a:p>
            <a:pPr algn="l">
              <a:lnSpc>
                <a:spcPct val="118000"/>
              </a:lnSpc>
              <a:spcAft>
                <a:spcPts val="1000"/>
              </a:spcAft>
            </a:pPr>
            <a:r>
              <a:rPr sz="1100" i="0" b="0">
                <a:solidFill>
                  <a:srgbClr val="22222A"/>
                </a:solidFill>
                <a:latin typeface="Calibri"/>
              </a:rPr>
              <a:t>•  Performance management, redundancy selection, or promotion input.</a:t>
            </a:r>
          </a:p>
          <a:p>
            <a:pPr algn="l">
              <a:lnSpc>
                <a:spcPct val="118000"/>
              </a:lnSpc>
              <a:spcAft>
                <a:spcPts val="1000"/>
              </a:spcAft>
            </a:pPr>
            <a:r>
              <a:rPr sz="1100" i="0" b="0">
                <a:solidFill>
                  <a:srgbClr val="22222A"/>
                </a:solidFill>
                <a:latin typeface="Calibri"/>
              </a:rPr>
              <a:t>•  Publishing cohort scores to managers without the fairness context in A4.</a:t>
            </a:r>
          </a:p>
        </p:txBody>
      </p:sp>
      <p:sp>
        <p:nvSpPr>
          <p:cNvPr id="11" name="Rectangle 10"/>
          <p:cNvSpPr/>
          <p:nvPr/>
        </p:nvSpPr>
        <p:spPr>
          <a:xfrm>
            <a:off x="8083296" y="1627632"/>
            <a:ext cx="3538728" cy="457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83296"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B300"/>
                </a:solidFill>
                <a:latin typeface="Calibri"/>
              </a:rPr>
              <a:t>KNOWN LIMITS</a:t>
            </a:r>
          </a:p>
          <a:p>
            <a:pPr algn="l">
              <a:lnSpc>
                <a:spcPct val="118000"/>
              </a:lnSpc>
              <a:spcAft>
                <a:spcPts val="1000"/>
              </a:spcAft>
            </a:pPr>
            <a:r>
              <a:rPr sz="1100" i="0" b="0">
                <a:solidFill>
                  <a:srgbClr val="22222A"/>
                </a:solidFill>
                <a:latin typeface="Calibri"/>
              </a:rPr>
              <a:t>•  Diagnostic, not predictive. It has no validated forward accuracy and none is claimed.</a:t>
            </a:r>
          </a:p>
          <a:p>
            <a:pPr algn="l">
              <a:lnSpc>
                <a:spcPct val="118000"/>
              </a:lnSpc>
              <a:spcAft>
                <a:spcPts val="1000"/>
              </a:spcAft>
            </a:pPr>
            <a:r>
              <a:rPr sz="1100" i="0" b="0">
                <a:solidFill>
                  <a:srgbClr val="22222A"/>
                </a:solidFill>
                <a:latin typeface="Calibri"/>
              </a:rPr>
              <a:t>•  Engagement is observed only for responders, so every score is a lower bound on a partially observed population.</a:t>
            </a:r>
          </a:p>
          <a:p>
            <a:pPr algn="l">
              <a:lnSpc>
                <a:spcPct val="118000"/>
              </a:lnSpc>
              <a:spcAft>
                <a:spcPts val="1000"/>
              </a:spcAft>
            </a:pPr>
            <a:r>
              <a:rPr sz="1100" i="0" b="0">
                <a:solidFill>
                  <a:srgbClr val="22222A"/>
                </a:solidFill>
                <a:latin typeface="Calibri"/>
              </a:rPr>
              <a:t>•  Component weights (40/40/20) are a judgement, not a finding. They are shown separately in the tool so the score can be audited.</a:t>
            </a:r>
          </a:p>
          <a:p>
            <a:pPr algn="l">
              <a:lnSpc>
                <a:spcPct val="118000"/>
              </a:lnSpc>
              <a:spcAft>
                <a:spcPts val="1000"/>
              </a:spcAft>
            </a:pPr>
            <a:r>
              <a:rPr sz="1100" i="0" b="0">
                <a:solidFill>
                  <a:srgbClr val="22222A"/>
                </a:solidFill>
                <a:latin typeface="Calibri"/>
              </a:rPr>
              <a:t>•  Eight cohorts covering 44 people are suppressed below the response floor.</a:t>
            </a:r>
          </a:p>
        </p:txBody>
      </p:sp>
      <p:sp>
        <p:nvSpPr>
          <p:cNvPr id="13" name="Rectangle 12"/>
          <p:cNvSpPr/>
          <p:nvPr/>
        </p:nvSpPr>
        <p:spPr>
          <a:xfrm>
            <a:off x="566928" y="4892040"/>
            <a:ext cx="11064240" cy="12344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120640"/>
            <a:ext cx="10332720" cy="914400"/>
          </a:xfrm>
          <a:prstGeom prst="rect">
            <a:avLst/>
          </a:prstGeom>
          <a:noFill/>
        </p:spPr>
        <p:txBody>
          <a:bodyPr wrap="square" anchor="t" lIns="0" rIns="0" tIns="0" bIns="0">
            <a:spAutoFit/>
          </a:bodyPr>
          <a:lstStyle/>
          <a:p>
            <a:pPr algn="l">
              <a:lnSpc>
                <a:spcPct val="100000"/>
              </a:lnSpc>
              <a:spcAft>
                <a:spcPts val="600"/>
              </a:spcAft>
            </a:pPr>
            <a:r>
              <a:rPr sz="1250" i="0" b="1">
                <a:solidFill>
                  <a:srgbClr val="460073"/>
                </a:solidFill>
                <a:latin typeface="Calibri"/>
              </a:rPr>
              <a:t>Why there is no individual-level version</a:t>
            </a:r>
          </a:p>
          <a:p>
            <a:pPr algn="l">
              <a:lnSpc>
                <a:spcPct val="118000"/>
              </a:lnSpc>
              <a:spcAft>
                <a:spcPts val="0"/>
              </a:spcAft>
            </a:pPr>
            <a:r>
              <a:rPr sz="1100" i="0" b="0">
                <a:solidFill>
                  <a:srgbClr val="22222A"/>
                </a:solidFill>
                <a:latin typeface="Calibri"/>
              </a:rPr>
              <a:t>We built and tested one. On the four-fifths rule it returns impact ratios of 0.08 on age, 0.15 on role level and 0.08 on acquisition cohort, and its precision is 22.6% — 901 false positives against 263 true ones. Low response is concentrated in the acquisition cohorts, so at individual level the flag would substantially be measuring integration failure rather than intent. We did not ship it, and this page exists so that decision travels with the tool.</a:t>
            </a:r>
          </a:p>
        </p:txBody>
      </p:sp>
      <p:sp>
        <p:nvSpPr>
          <p:cNvPr id="15" name="Rectangle 14"/>
          <p:cNvSpPr/>
          <p:nvPr/>
        </p:nvSpPr>
        <p:spPr>
          <a:xfrm>
            <a:off x="566928" y="6309360"/>
            <a:ext cx="50292" cy="3657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6309360"/>
            <a:ext cx="10771632" cy="36576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If a participation metric is ever used, staff should be told it exists. A survey sold as confidential and quietly re-used as a risk score costs you the instrument.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