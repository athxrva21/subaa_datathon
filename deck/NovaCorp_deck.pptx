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brief §6 constants. Rates are annualised over the two-year window. Defensible range $34–56M, see appendix A5.</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8" name="Picture 7" descr="E1_regrettable_gap.png"/>
          <p:cNvPicPr>
            <a:picLocks noChangeAspect="1"/>
          </p:cNvPicPr>
          <p:nvPr/>
        </p:nvPicPr>
        <p:blipFill>
          <a:blip r:embed="rId2"/>
          <a:stretch>
            <a:fillRect/>
          </a:stretch>
        </p:blipFill>
        <p:spPr>
          <a:xfrm>
            <a:off x="4892040" y="2329734"/>
            <a:ext cx="6720840" cy="3250091"/>
          </a:xfrm>
          <a:prstGeom prst="rect">
            <a:avLst/>
          </a:prstGeom>
        </p:spPr>
      </p:pic>
      <p:sp>
        <p:nvSpPr>
          <p:cNvPr id="9" name="Rectangle 8"/>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regrettable_flag × performance_band_at_exit × pathway. n = 1,400 exits over two years.</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8" name="Picture 7" descr="E2_flag_never_fires.png"/>
          <p:cNvPicPr>
            <a:picLocks noChangeAspect="1"/>
          </p:cNvPicPr>
          <p:nvPr/>
        </p:nvPicPr>
        <p:blipFill>
          <a:blip r:embed="rId2"/>
          <a:stretch>
            <a:fillRect/>
          </a:stretch>
        </p:blipFill>
        <p:spPr>
          <a:xfrm>
            <a:off x="4892040" y="2036350"/>
            <a:ext cx="6720840" cy="3836859"/>
          </a:xfrm>
          <a:prstGeom prst="rect">
            <a:avLst/>
          </a:prstGeom>
        </p:spPr>
      </p:pic>
      <p:sp>
        <p:nvSpPr>
          <p:cNvPr id="9" name="Rectangle 8"/>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on the brief's §6 constants. Same formula as Finance, different population.</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7" name="Picture 6" descr="E6_buckets_restated.png"/>
          <p:cNvPicPr>
            <a:picLocks noChangeAspect="1"/>
          </p:cNvPicPr>
          <p:nvPr/>
        </p:nvPicPr>
        <p:blipFill>
          <a:blip r:embed="rId2"/>
          <a:stretch>
            <a:fillRect/>
          </a:stretch>
        </p:blipFill>
        <p:spPr>
          <a:xfrm>
            <a:off x="502920" y="1782314"/>
            <a:ext cx="6720840" cy="3796290"/>
          </a:xfrm>
          <a:prstGeom prst="rect">
            <a:avLst/>
          </a:prstGeom>
        </p:spPr>
      </p:pic>
      <p:graphicFrame>
        <p:nvGraphicFramePr>
          <p:cNvPr id="8" name="Table 7"/>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9" name="Rectangle 8"/>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Rates are annualised voluntary exits ÷ active headcount (n = 12,003), the same convention used on every rate in this deck. Chi-square, Entity_B vs Entity_A, p = 8×10⁻⁹.</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1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100"/>
              </a:spcAft>
            </a:pPr>
            <a:r>
              <a:rPr sz="1300" i="0" b="0">
                <a:solidFill>
                  <a:srgbClr val="22222A"/>
                </a:solidFill>
                <a:latin typeface="Calibri"/>
              </a:rPr>
              <a:t>Entity_B vs Entity_A on 1,601 and 1,804 active staff. The most statistically solid finding in the analysis.</a:t>
            </a:r>
          </a:p>
          <a:p>
            <a:pPr algn="l">
              <a:lnSpc>
                <a:spcPct val="118000"/>
              </a:lnSpc>
              <a:spcAft>
                <a:spcPts val="11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a:p>
            <a:pPr algn="l">
              <a:lnSpc>
                <a:spcPct val="118000"/>
              </a:lnSpc>
              <a:spcAft>
                <a:spcPts val="1100"/>
              </a:spcAft>
            </a:pPr>
            <a:r>
              <a:rPr sz="1300" i="0" b="1">
                <a:solidFill>
                  <a:srgbClr val="460073"/>
                </a:solidFill>
                <a:latin typeface="Calibri"/>
              </a:rPr>
              <a:t>It isn't department mix.</a:t>
            </a:r>
            <a:r>
              <a:rPr sz="1300" i="0" b="0">
                <a:solidFill>
                  <a:srgbClr val="22222A"/>
                </a:solidFill>
                <a:latin typeface="Calibri"/>
              </a:rPr>
              <a:t> Controlling for department, role level, pay and potential, Entity_B still leaves at </a:t>
            </a:r>
            <a:r>
              <a:rPr sz="1300" i="0" b="1">
                <a:solidFill>
                  <a:srgbClr val="460073"/>
                </a:solidFill>
                <a:latin typeface="Calibri"/>
              </a:rPr>
              <a:t>1.95×</a:t>
            </a:r>
            <a:r>
              <a:rPr sz="1300" i="0" b="0">
                <a:solidFill>
                  <a:srgbClr val="22222A"/>
                </a:solidFill>
                <a:latin typeface="Calibri"/>
              </a:rPr>
              <a:t> Entity_A (appendix A15).</a:t>
            </a:r>
          </a:p>
        </p:txBody>
      </p:sp>
      <p:pic>
        <p:nvPicPr>
          <p:cNvPr id="8" name="Picture 7" descr="03_attrition_by_legacy_entity.png"/>
          <p:cNvPicPr>
            <a:picLocks noChangeAspect="1"/>
          </p:cNvPicPr>
          <p:nvPr/>
        </p:nvPicPr>
        <p:blipFill>
          <a:blip r:embed="rId2"/>
          <a:stretch>
            <a:fillRect/>
          </a:stretch>
        </p:blipFill>
        <p:spPr>
          <a:xfrm>
            <a:off x="5077215" y="1783080"/>
            <a:ext cx="6350490" cy="4206240"/>
          </a:xfrm>
          <a:prstGeom prst="rect">
            <a:avLst/>
          </a:prstGeom>
        </p:spPr>
      </p:pic>
      <p:sp>
        <p:nvSpPr>
          <p:cNvPr id="9" name="Rectangle 8"/>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Employee-level means across five waves, Welch's t-test. Entity_A n = 1,938, Entity_B n = 1,697 responders. Composite index: Entity_B 3.280 vs Entity_A 3.366.</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difference</a:t>
            </a:r>
            <a:r>
              <a:rPr sz="1250" i="0" b="0">
                <a:solidFill>
                  <a:srgbClr val="22222A"/>
                </a:solidFill>
                <a:latin typeface="Calibri"/>
              </a:rPr>
              <a:t> (p = 0.35).</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difference</a:t>
            </a:r>
            <a:r>
              <a:rPr sz="1250" i="0" b="0">
                <a:solidFill>
                  <a:srgbClr val="22222A"/>
                </a:solidFill>
                <a:latin typeface="Calibri"/>
              </a:rPr>
              <a:t> (p = 0.91).</a:t>
            </a:r>
          </a:p>
          <a:p>
            <a:pPr algn="l">
              <a:lnSpc>
                <a:spcPct val="118000"/>
              </a:lnSpc>
              <a:spcAft>
                <a:spcPts val="1100"/>
              </a:spcAft>
            </a:pPr>
            <a:r>
              <a:rPr sz="1250" i="0" b="1">
                <a:solidFill>
                  <a:srgbClr val="460073"/>
                </a:solidFill>
                <a:latin typeface="Calibri"/>
              </a:rPr>
              <a:t>Senior leadership trust −0.301</a:t>
            </a:r>
            <a:r>
              <a:rPr sz="1250" i="0" b="0">
                <a:solidFill>
                  <a:srgbClr val="22222A"/>
                </a:solidFill>
                <a:latin typeface="Calibri"/>
              </a:rPr>
              <a:t> (p = 1.5×10⁻²⁵). </a:t>
            </a:r>
            <a:r>
              <a:rPr sz="1250" i="0" b="1">
                <a:solidFill>
                  <a:srgbClr val="460073"/>
                </a:solidFill>
                <a:latin typeface="Calibri"/>
              </a:rPr>
              <a:t>Purpose &amp; meaning −0.300</a:t>
            </a:r>
            <a:r>
              <a:rPr sz="1250" i="0" b="0">
                <a:solidFill>
                  <a:srgbClr val="22222A"/>
                </a:solidFill>
                <a:latin typeface="Calibri"/>
              </a:rPr>
              <a:t> (p = 2.6×10⁻²⁵).</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8" name="Picture 7" descr="13_entity_b_dimension_diagnosis.png"/>
          <p:cNvPicPr>
            <a:picLocks noChangeAspect="1"/>
          </p:cNvPicPr>
          <p:nvPr/>
        </p:nvPicPr>
        <p:blipFill>
          <a:blip r:embed="rId2"/>
          <a:stretch>
            <a:fillRect/>
          </a:stretch>
        </p:blipFill>
        <p:spPr>
          <a:xfrm>
            <a:off x="4892040" y="1877000"/>
            <a:ext cx="6720840" cy="3881239"/>
          </a:xfrm>
          <a:prstGeom prst="rect">
            <a:avLst/>
          </a:prstGeom>
        </p:spPr>
      </p:pic>
      <p:sp>
        <p:nvSpPr>
          <p:cNvPr id="9" name="Rectangle 8"/>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Responders only. Entity_B joins at wave 2, Entity_C at wave 5, so neither has an earlier reading to decline from.</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7" name="Picture 6" descr="14_purpose_trust_over_time.png"/>
          <p:cNvPicPr>
            <a:picLocks noChangeAspect="1"/>
          </p:cNvPicPr>
          <p:nvPr/>
        </p:nvPicPr>
        <p:blipFill>
          <a:blip r:embed="rId2"/>
          <a:stretch>
            <a:fillRect/>
          </a:stretch>
        </p:blipFill>
        <p:spPr>
          <a:xfrm>
            <a:off x="2836765" y="1572768"/>
            <a:ext cx="6487990" cy="3310128"/>
          </a:xfrm>
          <a:prstGeom prst="rect">
            <a:avLst/>
          </a:prstGeom>
        </p:spPr>
      </p:pic>
      <p:sp>
        <p:nvSpPr>
          <p:cNvPr id="8" name="TextBox 7"/>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9" name="TextBox 8"/>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Attrition is annualised voluntary on active headcount. Response rate is the mean of each employee's own rate across five waves. Entity_A vs Entity_C, p = 0.101, not significant.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and statistically indistinguishable from Entity_A. It is </a:t>
            </a:r>
            <a:r>
              <a:rPr sz="1300" i="0" b="1">
                <a:solidFill>
                  <a:srgbClr val="460073"/>
                </a:solidFill>
                <a:latin typeface="Calibri"/>
              </a:rPr>
              <a:t>not</a:t>
            </a:r>
            <a:r>
              <a:rPr sz="1300" i="0" b="0">
                <a:solidFill>
                  <a:srgbClr val="22222A"/>
                </a:solidFill>
                <a:latin typeface="Calibri"/>
              </a:rPr>
              <a:t> a second Entity_B yet.</a:t>
            </a:r>
          </a:p>
        </p:txBody>
      </p:sp>
      <p:pic>
        <p:nvPicPr>
          <p:cNvPr id="8" name="Picture 7" descr="S9_entity_recovery.png"/>
          <p:cNvPicPr>
            <a:picLocks noChangeAspect="1"/>
          </p:cNvPicPr>
          <p:nvPr/>
        </p:nvPicPr>
        <p:blipFill>
          <a:blip r:embed="rId2"/>
          <a:stretch>
            <a:fillRect/>
          </a:stretch>
        </p:blipFill>
        <p:spPr>
          <a:xfrm>
            <a:off x="4892040" y="1989879"/>
            <a:ext cx="6720840" cy="3701201"/>
          </a:xfrm>
          <a:prstGeom prst="rect">
            <a:avLst/>
          </a:prstGeom>
        </p:spPr>
      </p:pic>
      <p:sp>
        <p:nvSpPr>
          <p:cNvPr id="9" name="Rectangle 8"/>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turns the recommendation from “we hope this helps” into “you have already done this once, in this company, with this workforce.” It also sets your success measure.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The 20% and 40% reduction rates are assumptions, not findings. Entity_B's $6.2M is a subset of the $7.9M early-tenure lever, not additional to it.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7" name="Table 6"/>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8" name="Rectangle 7"/>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
        <p:nvSpPr>
          <p:cNvPr id="10" name="Rectangle 9"/>
          <p:cNvSpPr/>
          <p:nvPr/>
        </p:nvSpPr>
        <p:spPr>
          <a:xfrm>
            <a:off x="566928" y="5074920"/>
            <a:ext cx="11064240" cy="960120"/>
          </a:xfrm>
          <a:prstGeom prst="rect">
            <a:avLst/>
          </a:prstGeom>
          <a:solidFill>
            <a:srgbClr val="FF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230368"/>
            <a:ext cx="10515600" cy="685800"/>
          </a:xfrm>
          <a:prstGeom prst="rect">
            <a:avLst/>
          </a:prstGeom>
          <a:noFill/>
        </p:spPr>
        <p:txBody>
          <a:bodyPr wrap="square" anchor="t" lIns="0" rIns="0" tIns="0" bIns="0">
            <a:spAutoFit/>
          </a:bodyPr>
          <a:lstStyle/>
          <a:p>
            <a:pPr algn="l">
              <a:lnSpc>
                <a:spcPct val="100000"/>
              </a:lnSpc>
              <a:spcAft>
                <a:spcPts val="300"/>
              </a:spcAft>
            </a:pPr>
            <a:r>
              <a:rPr sz="1200" i="0" b="1">
                <a:solidFill>
                  <a:srgbClr val="460073"/>
                </a:solidFill>
                <a:latin typeface="Calibri"/>
              </a:rPr>
              <a:t>$7.9M is the corrected figure.</a:t>
            </a:r>
          </a:p>
          <a:p>
            <a:pPr algn="l">
              <a:lnSpc>
                <a:spcPct val="114000"/>
              </a:lnSpc>
              <a:spcAft>
                <a:spcPts val="0"/>
              </a:spcAft>
            </a:pPr>
            <a:r>
              <a:rPr sz="1100" i="0" b="0">
                <a:solidFill>
                  <a:srgbClr val="22222A"/>
                </a:solidFill>
                <a:latin typeface="Calibri"/>
              </a:rPr>
              <a:t>An earlier draft said $29.6M. That counted the baseline early attrition every employer carries, not the excess attributable to the acquisition cohorts. Method and restatement in appendix A7.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Four-fifths rule applied to a proposed individual flight-risk flag, on all active staff. All figures from ethics_audit.py. Full fairness method and results in appendix A4.</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7" name="TextBox 6"/>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Under the </a:t>
            </a:r>
            <a:r>
              <a:rPr sz="1200" i="0" b="1">
                <a:solidFill>
                  <a:srgbClr val="460073"/>
                </a:solidFill>
                <a:latin typeface="Calibri"/>
              </a:rPr>
              <a:t>four-fifths rule</a:t>
            </a:r>
            <a:r>
              <a:rPr sz="1200" i="0" b="0">
                <a:solidFill>
                  <a:srgbClr val="22222A"/>
                </a:solidFill>
                <a:latin typeface="Calibri"/>
              </a:rPr>
              <a:t> it fails on age (ratio </a:t>
            </a:r>
            <a:r>
              <a:rPr sz="1200" i="0" b="1">
                <a:solidFill>
                  <a:srgbClr val="460073"/>
                </a:solidFill>
                <a:latin typeface="Calibri"/>
              </a:rPr>
              <a:t>0.08</a:t>
            </a:r>
            <a:r>
              <a:rPr sz="1200" i="0" b="0">
                <a:solidFill>
                  <a:srgbClr val="22222A"/>
                </a:solidFill>
                <a:latin typeface="Calibri"/>
              </a:rPr>
              <a:t>, a twelvefold gap), on role level (L1 9.2% vs L5 1.4%) and on acquisition cohort (Entity_C 31.7% vs NovaCorp-Origin 2.4%).</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8" name="Picture 7" descr="E3_adverse_impact_age.png"/>
          <p:cNvPicPr>
            <a:picLocks noChangeAspect="1"/>
          </p:cNvPicPr>
          <p:nvPr/>
        </p:nvPicPr>
        <p:blipFill>
          <a:blip r:embed="rId2"/>
          <a:stretch>
            <a:fillRect/>
          </a:stretch>
        </p:blipFill>
        <p:spPr>
          <a:xfrm>
            <a:off x="5349240" y="2167103"/>
            <a:ext cx="6263640" cy="3438193"/>
          </a:xfrm>
          <a:prstGeom prst="rect">
            <a:avLst/>
          </a:prstGeom>
        </p:spPr>
      </p:pic>
      <p:sp>
        <p:nvSpPr>
          <p:cNvPr id="9" name="Rectangle 8"/>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We're showing you the thing we decided not to recommend. 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Seven limits on what this analysis can support.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Full data-quality register in appendix A6. Statistical test register in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7" name="TextBox 6"/>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p:txBody>
      </p:sp>
      <p:sp>
        <p:nvSpPr>
          <p:cNvPr id="8" name="TextBox 7"/>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9" name="Rectangle 8"/>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All figures reproduce from ethics_audit.py. Groups below n = 20 (flag test) and n = 50 (silence test) are suppressed rather than reported.</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8" name="Table 7"/>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9" name="TextBox 8"/>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Replacement multiplier 1.0–2.0×, backfill 70–100%. Brief's constants are 1.50× and 85%.</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8" name="Picture 7" descr="E5_sensitivity.png"/>
          <p:cNvPicPr>
            <a:picLocks noChangeAspect="1"/>
          </p:cNvPicPr>
          <p:nvPr/>
        </p:nvPicPr>
        <p:blipFill>
          <a:blip r:embed="rId2"/>
          <a:stretch>
            <a:fillRect/>
          </a:stretch>
        </p:blipFill>
        <p:spPr>
          <a:xfrm>
            <a:off x="640080" y="2020824"/>
            <a:ext cx="6583680" cy="3364992"/>
          </a:xfrm>
          <a:prstGeom prst="rect">
            <a:avLst/>
          </a:prstGeom>
        </p:spPr>
      </p:pic>
      <p:sp>
        <p:nvSpPr>
          <p:cNvPr id="9" name="TextBox 8"/>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Nine integrity checks across the four files, and what each returned.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Seven independent exact matches on the attrition column is not coincidence. The published metric is total attrition, including the 267 involuntary exits.</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8" name="Table 7"/>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9" name="Rectangle 8"/>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Does the Entity_B finding survive controls?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obvious challenge to slide 6 is that Entity_B might simply sit in departments or levels that lose people anyway. We tested it. It does not.</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Logistic model on voluntary exit, baseline Entity_A, n = 13,136 with 1,133 events. Reproduce with robustness_check.py.</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A15</a:t>
            </a:r>
          </a:p>
        </p:txBody>
      </p:sp>
      <p:graphicFrame>
        <p:nvGraphicFramePr>
          <p:cNvPr id="8" name="Table 7"/>
          <p:cNvGraphicFramePr>
            <a:graphicFrameLocks noGrp="1"/>
          </p:cNvGraphicFramePr>
          <p:nvPr/>
        </p:nvGraphicFramePr>
        <p:xfrm>
          <a:off x="566928" y="1755648"/>
          <a:ext cx="11064240" cy="1261872"/>
        </p:xfrm>
        <a:graphic>
          <a:graphicData uri="http://schemas.openxmlformats.org/drawingml/2006/table">
            <a:tbl>
              <a:tblPr firstRow="1" bandRow="1">
                <a:tableStyleId>{5C22544A-7EE6-4342-B048-85BDC9FD1C3A}</a:tableStyleId>
              </a:tblPr>
              <a:tblGrid>
                <a:gridCol w="5577840"/>
                <a:gridCol w="2011680"/>
                <a:gridCol w="1828800"/>
                <a:gridCol w="1645920"/>
              </a:tblGrid>
              <a:tr h="420624">
                <a:tc>
                  <a:txBody>
                    <a:bodyPr wrap="square"/>
                    <a:lstStyle/>
                    <a:p>
                      <a:pPr algn="l"/>
                      <a:r>
                        <a:rPr sz="1150" b="1">
                          <a:solidFill>
                            <a:srgbClr val="FFFFFF"/>
                          </a:solidFill>
                          <a:latin typeface="Calibri"/>
                        </a:rPr>
                        <a:t>Model</a:t>
                      </a:r>
                    </a:p>
                  </a:txBody>
                  <a:tcPr marL="91440" marR="73152" marT="27432" marB="27432" anchor="ctr">
                    <a:solidFill>
                      <a:srgbClr val="460073"/>
                    </a:solidFill>
                  </a:tcPr>
                </a:tc>
                <a:tc>
                  <a:txBody>
                    <a:bodyPr wrap="square"/>
                    <a:lstStyle/>
                    <a:p>
                      <a:pPr algn="ctr"/>
                      <a:r>
                        <a:rPr sz="1150" b="1">
                          <a:solidFill>
                            <a:srgbClr val="FFFFFF"/>
                          </a:solidFill>
                          <a:latin typeface="Calibri"/>
                        </a:rPr>
                        <a:t>Entity_B vs Entity_A</a:t>
                      </a:r>
                    </a:p>
                  </a:txBody>
                  <a:tcPr marL="91440" marR="73152" marT="27432" marB="27432" anchor="ctr">
                    <a:solidFill>
                      <a:srgbClr val="460073"/>
                    </a:solidFill>
                  </a:tcPr>
                </a:tc>
                <a:tc>
                  <a:txBody>
                    <a:bodyPr wrap="square"/>
                    <a:lstStyle/>
                    <a:p>
                      <a:pPr algn="ctr"/>
                      <a:r>
                        <a:rPr sz="1150" b="1">
                          <a:solidFill>
                            <a:srgbClr val="FFFFFF"/>
                          </a:solidFill>
                          <a:latin typeface="Calibri"/>
                        </a:rPr>
                        <a:t>95% CI</a:t>
                      </a:r>
                    </a:p>
                  </a:txBody>
                  <a:tcPr marL="91440" marR="73152" marT="27432" marB="27432" anchor="ctr">
                    <a:solidFill>
                      <a:srgbClr val="460073"/>
                    </a:solidFill>
                  </a:tcPr>
                </a:tc>
                <a:tc>
                  <a:txBody>
                    <a:bodyPr wrap="square"/>
                    <a:lstStyle/>
                    <a:p>
                      <a:pPr algn="ctr"/>
                      <a:r>
                        <a:rPr sz="1150" b="1">
                          <a:solidFill>
                            <a:srgbClr val="FFFFFF"/>
                          </a:solidFill>
                          <a:latin typeface="Calibri"/>
                        </a:rPr>
                        <a:t>p</a:t>
                      </a:r>
                    </a:p>
                  </a:txBody>
                  <a:tcPr marL="91440" marR="73152" marT="27432" marB="27432" anchor="ctr">
                    <a:solidFill>
                      <a:srgbClr val="460073"/>
                    </a:solidFill>
                  </a:tcPr>
                </a:tc>
              </a:tr>
              <a:tr h="420624">
                <a:tc>
                  <a:txBody>
                    <a:bodyPr wrap="square"/>
                    <a:lstStyle/>
                    <a:p>
                      <a:pPr algn="l"/>
                      <a:r>
                        <a:rPr sz="1150" b="1">
                          <a:solidFill>
                            <a:srgbClr val="22222A"/>
                          </a:solidFill>
                          <a:latin typeface="Calibri"/>
                        </a:rPr>
                        <a:t>Controlling for department, role level, pay and high-potential status</a:t>
                      </a:r>
                    </a:p>
                  </a:txBody>
                  <a:tcPr marL="91440" marR="73152" marT="27432" marB="27432" anchor="ctr">
                    <a:solidFill>
                      <a:srgbClr val="F4E9FF"/>
                    </a:solidFill>
                  </a:tcPr>
                </a:tc>
                <a:tc>
                  <a:txBody>
                    <a:bodyPr wrap="square"/>
                    <a:lstStyle/>
                    <a:p>
                      <a:pPr algn="ctr"/>
                      <a:r>
                        <a:rPr sz="1150" b="1">
                          <a:solidFill>
                            <a:srgbClr val="22222A"/>
                          </a:solidFill>
                          <a:latin typeface="Calibri"/>
                        </a:rPr>
                        <a:t>1.95×</a:t>
                      </a:r>
                    </a:p>
                  </a:txBody>
                  <a:tcPr marL="91440" marR="73152" marT="27432" marB="27432" anchor="ctr">
                    <a:solidFill>
                      <a:srgbClr val="F4E9FF"/>
                    </a:solidFill>
                  </a:tcPr>
                </a:tc>
                <a:tc>
                  <a:txBody>
                    <a:bodyPr wrap="square"/>
                    <a:lstStyle/>
                    <a:p>
                      <a:pPr algn="ctr"/>
                      <a:r>
                        <a:rPr sz="1150" b="1">
                          <a:solidFill>
                            <a:srgbClr val="22222A"/>
                          </a:solidFill>
                          <a:latin typeface="Calibri"/>
                        </a:rPr>
                        <a:t>1.55 – 2.44</a:t>
                      </a:r>
                    </a:p>
                  </a:txBody>
                  <a:tcPr marL="91440" marR="73152" marT="27432" marB="27432" anchor="ctr">
                    <a:solidFill>
                      <a:srgbClr val="F4E9FF"/>
                    </a:solidFill>
                  </a:tcPr>
                </a:tc>
                <a:tc>
                  <a:txBody>
                    <a:bodyPr wrap="square"/>
                    <a:lstStyle/>
                    <a:p>
                      <a:pPr algn="ctr"/>
                      <a:r>
                        <a:rPr sz="1150" b="1">
                          <a:solidFill>
                            <a:srgbClr val="22222A"/>
                          </a:solidFill>
                          <a:latin typeface="Calibri"/>
                        </a:rPr>
                        <a:t>8.4×10⁻⁹</a:t>
                      </a:r>
                    </a:p>
                  </a:txBody>
                  <a:tcPr marL="91440" marR="73152" marT="27432" marB="27432" anchor="ctr">
                    <a:solidFill>
                      <a:srgbClr val="F4E9FF"/>
                    </a:solidFill>
                  </a:tcPr>
                </a:tc>
              </a:tr>
              <a:tr h="420624">
                <a:tc>
                  <a:txBody>
                    <a:bodyPr wrap="square"/>
                    <a:lstStyle/>
                    <a:p>
                      <a:pPr algn="l"/>
                      <a:r>
                        <a:rPr sz="1150" b="0">
                          <a:solidFill>
                            <a:srgbClr val="22222A"/>
                          </a:solidFill>
                          <a:latin typeface="Calibri"/>
                        </a:rPr>
                        <a:t>…and additionally for tenure</a:t>
                      </a:r>
                    </a:p>
                  </a:txBody>
                  <a:tcPr marL="91440" marR="73152" marT="27432" marB="27432" anchor="ctr">
                    <a:solidFill>
                      <a:srgbClr val="F8F8FB"/>
                    </a:solidFill>
                  </a:tcPr>
                </a:tc>
                <a:tc>
                  <a:txBody>
                    <a:bodyPr wrap="square"/>
                    <a:lstStyle/>
                    <a:p>
                      <a:pPr algn="ctr"/>
                      <a:r>
                        <a:rPr sz="1150" b="0">
                          <a:solidFill>
                            <a:srgbClr val="22222A"/>
                          </a:solidFill>
                          <a:latin typeface="Calibri"/>
                        </a:rPr>
                        <a:t>1.92×</a:t>
                      </a:r>
                    </a:p>
                  </a:txBody>
                  <a:tcPr marL="91440" marR="73152" marT="27432" marB="27432" anchor="ctr">
                    <a:solidFill>
                      <a:srgbClr val="F8F8FB"/>
                    </a:solidFill>
                  </a:tcPr>
                </a:tc>
                <a:tc>
                  <a:txBody>
                    <a:bodyPr wrap="square"/>
                    <a:lstStyle/>
                    <a:p>
                      <a:pPr algn="ctr"/>
                      <a:r>
                        <a:rPr sz="1150" b="0">
                          <a:solidFill>
                            <a:srgbClr val="22222A"/>
                          </a:solidFill>
                          <a:latin typeface="Calibri"/>
                        </a:rPr>
                        <a:t>1.53 – 2.41</a:t>
                      </a:r>
                    </a:p>
                  </a:txBody>
                  <a:tcPr marL="91440" marR="73152" marT="27432" marB="27432" anchor="ctr">
                    <a:solidFill>
                      <a:srgbClr val="F8F8FB"/>
                    </a:solidFill>
                  </a:tcPr>
                </a:tc>
                <a:tc>
                  <a:txBody>
                    <a:bodyPr wrap="square"/>
                    <a:lstStyle/>
                    <a:p>
                      <a:pPr algn="ctr"/>
                      <a:r>
                        <a:rPr sz="1150" b="0">
                          <a:solidFill>
                            <a:srgbClr val="22222A"/>
                          </a:solidFill>
                          <a:latin typeface="Calibri"/>
                        </a:rPr>
                        <a:t>1.6×10⁻⁸</a:t>
                      </a:r>
                    </a:p>
                  </a:txBody>
                  <a:tcPr marL="91440" marR="73152" marT="27432" marB="27432" anchor="ctr">
                    <a:solidFill>
                      <a:srgbClr val="F8F8FB"/>
                    </a:solidFill>
                  </a:tcPr>
                </a:tc>
              </a:tr>
            </a:tbl>
          </a:graphicData>
        </a:graphic>
      </p:graphicFrame>
      <p:sp>
        <p:nvSpPr>
          <p:cNvPr id="9" name="TextBox 8"/>
          <p:cNvSpPr txBox="1"/>
          <p:nvPr/>
        </p:nvSpPr>
        <p:spPr>
          <a:xfrm>
            <a:off x="566928" y="3246120"/>
            <a:ext cx="5394960" cy="2651760"/>
          </a:xfrm>
          <a:prstGeom prst="rect">
            <a:avLst/>
          </a:prstGeom>
          <a:noFill/>
        </p:spPr>
        <p:txBody>
          <a:bodyPr wrap="square" anchor="t" lIns="0" rIns="0" tIns="0" bIns="0">
            <a:spAutoFit/>
          </a:bodyPr>
          <a:lstStyle/>
          <a:p>
            <a:pPr algn="l">
              <a:lnSpc>
                <a:spcPct val="118000"/>
              </a:lnSpc>
              <a:spcAft>
                <a:spcPts val="1200"/>
              </a:spcAft>
            </a:pPr>
            <a:r>
              <a:rPr sz="1150" i="0" b="1">
                <a:solidFill>
                  <a:srgbClr val="460073"/>
                </a:solidFill>
                <a:latin typeface="Calibri"/>
              </a:rPr>
              <a:t>The effect holds either way.</a:t>
            </a:r>
            <a:r>
              <a:rPr sz="1150" i="0" b="0">
                <a:solidFill>
                  <a:srgbClr val="22222A"/>
                </a:solidFill>
                <a:latin typeface="Calibri"/>
              </a:rPr>
              <a:t> Slide 6 quotes a 1.9× rate ratio. The adjusted odds ratio is 1.95, so the headline is not an artifact of what Entity_B does or where it sits.</a:t>
            </a:r>
          </a:p>
          <a:p>
            <a:pPr algn="l">
              <a:lnSpc>
                <a:spcPct val="118000"/>
              </a:lnSpc>
              <a:spcAft>
                <a:spcPts val="1200"/>
              </a:spcAft>
            </a:pPr>
            <a:r>
              <a:rPr sz="1150" i="0" b="1">
                <a:solidFill>
                  <a:srgbClr val="460073"/>
                </a:solidFill>
                <a:latin typeface="Calibri"/>
              </a:rPr>
              <a:t>Department explains very little.</a:t>
            </a:r>
            <a:r>
              <a:rPr sz="1150" i="0" b="0">
                <a:solidFill>
                  <a:srgbClr val="22222A"/>
                </a:solidFill>
                <a:latin typeface="Calibri"/>
              </a:rPr>
              <a:t> Only one of six department terms reaches p &lt; 0.05, and every odds ratio sits between 0.77 and 1.00. Risk &amp; Compliance is exactly 1.00 once entity is in the model.</a:t>
            </a:r>
          </a:p>
          <a:p>
            <a:pPr algn="l">
              <a:lnSpc>
                <a:spcPct val="118000"/>
              </a:lnSpc>
              <a:spcAft>
                <a:spcPts val="1200"/>
              </a:spcAft>
            </a:pPr>
            <a:r>
              <a:rPr sz="1150" i="0" b="1">
                <a:solidFill>
                  <a:srgbClr val="460073"/>
                </a:solidFill>
                <a:latin typeface="Calibri"/>
              </a:rPr>
              <a:t>High-potential status replicates independently.</a:t>
            </a:r>
            <a:r>
              <a:rPr sz="1150" i="0" b="0">
                <a:solidFill>
                  <a:srgbClr val="22222A"/>
                </a:solidFill>
                <a:latin typeface="Calibri"/>
              </a:rPr>
              <a:t> OR 1.59 (p = 3.6×10⁻⁶) here, against the 1.64× lift in A8 test 11 computed a different way.</a:t>
            </a:r>
          </a:p>
        </p:txBody>
      </p:sp>
      <p:sp>
        <p:nvSpPr>
          <p:cNvPr id="10" name="Rectangle 9"/>
          <p:cNvSpPr/>
          <p:nvPr/>
        </p:nvSpPr>
        <p:spPr>
          <a:xfrm>
            <a:off x="6400800" y="3246120"/>
            <a:ext cx="5257800" cy="2651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3493008"/>
            <a:ext cx="4572000" cy="2286000"/>
          </a:xfrm>
          <a:prstGeom prst="rect">
            <a:avLst/>
          </a:prstGeom>
          <a:noFill/>
        </p:spPr>
        <p:txBody>
          <a:bodyPr wrap="square" anchor="t" lIns="0" rIns="0" tIns="0" bIns="0">
            <a:spAutoFit/>
          </a:bodyPr>
          <a:lstStyle/>
          <a:p>
            <a:pPr algn="l">
              <a:lnSpc>
                <a:spcPct val="100000"/>
              </a:lnSpc>
              <a:spcAft>
                <a:spcPts val="1200"/>
              </a:spcAft>
            </a:pPr>
            <a:r>
              <a:rPr sz="1000" i="0" b="1">
                <a:solidFill>
                  <a:srgbClr val="5A5A66"/>
                </a:solidFill>
                <a:latin typeface="Calibri"/>
              </a:rPr>
              <a:t>WHY TENURE IS REPORTED SEPARATELY</a:t>
            </a:r>
          </a:p>
          <a:p>
            <a:pPr algn="l">
              <a:lnSpc>
                <a:spcPct val="116000"/>
              </a:lnSpc>
              <a:spcAft>
                <a:spcPts val="900"/>
              </a:spcAft>
            </a:pPr>
            <a:r>
              <a:rPr sz="1100" i="0" b="0">
                <a:solidFill>
                  <a:srgbClr val="22222A"/>
                </a:solidFill>
                <a:latin typeface="Calibri"/>
              </a:rPr>
              <a:t>tenure_months is the system-entry artifact from A6 §1.1, so for the acquired cohorts it is close to a restatement of entity itself:</a:t>
            </a:r>
          </a:p>
          <a:p>
            <a:pPr algn="l">
              <a:lnSpc>
                <a:spcPct val="100000"/>
              </a:lnSpc>
              <a:spcAft>
                <a:spcPts val="900"/>
              </a:spcAft>
            </a:pPr>
            <a:r>
              <a:rPr sz="1050" i="0" b="1">
                <a:solidFill>
                  <a:srgbClr val="460073"/>
                </a:solidFill>
                <a:latin typeface="Calibri"/>
              </a:rPr>
              <a:t>Entity_C 0–9 months  ·  Entity_B 0–20  ·  Entity_A 7–33  ·  NovaCorp-Origin 0–462</a:t>
            </a:r>
          </a:p>
          <a:p>
            <a:pPr algn="l">
              <a:lnSpc>
                <a:spcPct val="116000"/>
              </a:lnSpc>
              <a:spcAft>
                <a:spcPts val="0"/>
              </a:spcAft>
            </a:pPr>
            <a:r>
              <a:rPr sz="1100" i="0" b="0">
                <a:solidFill>
                  <a:srgbClr val="22222A"/>
                </a:solidFill>
                <a:latin typeface="Calibri"/>
              </a:rPr>
              <a:t>Controlling for it is close to controlling for the thing being measured, so we report both models rather than picking the flattering one. Baseline is Entity_A because that is the comparison the deck makes. NovaCorp-Origin is the worst choice of baseline here, since it is the cohort the artifact distorts most.</a:t>
            </a:r>
          </a:p>
        </p:txBody>
      </p:sp>
      <p:sp>
        <p:nvSpPr>
          <p:cNvPr id="12" name="Rectangle 11"/>
          <p:cNvSpPr/>
          <p:nvPr/>
        </p:nvSpPr>
        <p:spPr>
          <a:xfrm>
            <a:off x="566928" y="5925312"/>
            <a:ext cx="50292" cy="36576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925312"/>
            <a:ext cx="10771632" cy="3657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does not establish cause. It rules out the most likely confounders, which is a different and weaker claim, and the one we make.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to measure, and when you can actually read it</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Targets are Entity_A's current position. Milestones are paced to the survey cadence NovaCorp actually runs.</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Baselines from cost_model.py. Targets are Entity_A's present position.</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A16</a:t>
            </a:r>
          </a:p>
        </p:txBody>
      </p:sp>
      <p:graphicFrame>
        <p:nvGraphicFramePr>
          <p:cNvPr id="8" name="Table 7"/>
          <p:cNvGraphicFramePr>
            <a:graphicFrameLocks noGrp="1"/>
          </p:cNvGraphicFramePr>
          <p:nvPr/>
        </p:nvGraphicFramePr>
        <p:xfrm>
          <a:off x="566928" y="1783080"/>
          <a:ext cx="11064240" cy="2816352"/>
        </p:xfrm>
        <a:graphic>
          <a:graphicData uri="http://schemas.openxmlformats.org/drawingml/2006/table">
            <a:tbl>
              <a:tblPr firstRow="1" bandRow="1">
                <a:tableStyleId>{5C22544A-7EE6-4342-B048-85BDC9FD1C3A}</a:tableStyleId>
              </a:tblPr>
              <a:tblGrid>
                <a:gridCol w="2606040"/>
                <a:gridCol w="1828800"/>
                <a:gridCol w="2103120"/>
                <a:gridCol w="1234440"/>
                <a:gridCol w="3291840"/>
              </a:tblGrid>
              <a:tr h="402336">
                <a:tc>
                  <a:txBody>
                    <a:bodyPr wrap="square"/>
                    <a:lstStyle/>
                    <a:p>
                      <a:pPr algn="l"/>
                      <a:r>
                        <a:rPr sz="1000" b="1">
                          <a:solidFill>
                            <a:srgbClr val="FFFFFF"/>
                          </a:solidFill>
                          <a:latin typeface="Calibri"/>
                        </a:rPr>
                        <a:t>Metric</a:t>
                      </a:r>
                    </a:p>
                  </a:txBody>
                  <a:tcPr marL="91440" marR="73152" marT="27432" marB="27432" anchor="ctr">
                    <a:solidFill>
                      <a:srgbClr val="460073"/>
                    </a:solidFill>
                  </a:tcPr>
                </a:tc>
                <a:tc>
                  <a:txBody>
                    <a:bodyPr wrap="square"/>
                    <a:lstStyle/>
                    <a:p>
                      <a:pPr algn="ctr"/>
                      <a:r>
                        <a:rPr sz="1000" b="1">
                          <a:solidFill>
                            <a:srgbClr val="FFFFFF"/>
                          </a:solidFill>
                          <a:latin typeface="Calibri"/>
                        </a:rPr>
                        <a:t>Entity_B today</a:t>
                      </a:r>
                    </a:p>
                  </a:txBody>
                  <a:tcPr marL="91440" marR="73152" marT="27432" marB="27432" anchor="ctr">
                    <a:solidFill>
                      <a:srgbClr val="460073"/>
                    </a:solidFill>
                  </a:tcPr>
                </a:tc>
                <a:tc>
                  <a:txBody>
                    <a:bodyPr wrap="square"/>
                    <a:lstStyle/>
                    <a:p>
                      <a:pPr algn="ctr"/>
                      <a:r>
                        <a:rPr sz="1000" b="1">
                          <a:solidFill>
                            <a:srgbClr val="FFFFFF"/>
                          </a:solidFill>
                          <a:latin typeface="Calibri"/>
                        </a:rPr>
                        <a:t>Target (Entity_A today)</a:t>
                      </a:r>
                    </a:p>
                  </a:txBody>
                  <a:tcPr marL="91440" marR="73152" marT="27432" marB="27432" anchor="ctr">
                    <a:solidFill>
                      <a:srgbClr val="460073"/>
                    </a:solidFill>
                  </a:tcPr>
                </a:tc>
                <a:tc>
                  <a:txBody>
                    <a:bodyPr wrap="square"/>
                    <a:lstStyle/>
                    <a:p>
                      <a:pPr algn="ctr"/>
                      <a:r>
                        <a:rPr sz="1000" b="1">
                          <a:solidFill>
                            <a:srgbClr val="FFFFFF"/>
                          </a:solidFill>
                          <a:latin typeface="Calibri"/>
                        </a:rPr>
                        <a:t>First readable</a:t>
                      </a:r>
                    </a:p>
                  </a:txBody>
                  <a:tcPr marL="91440" marR="73152" marT="27432" marB="27432" anchor="ctr">
                    <a:solidFill>
                      <a:srgbClr val="460073"/>
                    </a:solidFill>
                  </a:tcPr>
                </a:tc>
                <a:tc>
                  <a:txBody>
                    <a:bodyPr wrap="square"/>
                    <a:lstStyle/>
                    <a:p>
                      <a:pPr algn="l"/>
                      <a:r>
                        <a:rPr sz="1000" b="1">
                          <a:solidFill>
                            <a:srgbClr val="FFFFFF"/>
                          </a:solidFill>
                          <a:latin typeface="Calibri"/>
                        </a:rPr>
                        <a:t>Why this one</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Survey response rate</a:t>
                      </a:r>
                    </a:p>
                  </a:txBody>
                  <a:tcPr marL="91440" marR="73152" marT="27432" marB="27432" anchor="ctr">
                    <a:solidFill>
                      <a:srgbClr val="FFFFFF"/>
                    </a:solidFill>
                  </a:tcPr>
                </a:tc>
                <a:tc>
                  <a:txBody>
                    <a:bodyPr wrap="square"/>
                    <a:lstStyle/>
                    <a:p>
                      <a:pPr algn="ctr"/>
                      <a:r>
                        <a:rPr sz="1050" b="0">
                          <a:solidFill>
                            <a:srgbClr val="22222A"/>
                          </a:solidFill>
                          <a:latin typeface="Calibri"/>
                        </a:rPr>
                        <a:t>62.6%</a:t>
                      </a:r>
                    </a:p>
                  </a:txBody>
                  <a:tcPr marL="91440" marR="73152" marT="27432" marB="27432" anchor="ctr">
                    <a:solidFill>
                      <a:srgbClr val="FFFFFF"/>
                    </a:solidFill>
                  </a:tcPr>
                </a:tc>
                <a:tc>
                  <a:txBody>
                    <a:bodyPr wrap="square"/>
                    <a:lstStyle/>
                    <a:p>
                      <a:pPr algn="ctr"/>
                      <a:r>
                        <a:rPr sz="1050" b="0">
                          <a:solidFill>
                            <a:srgbClr val="22222A"/>
                          </a:solidFill>
                          <a:latin typeface="Calibri"/>
                        </a:rPr>
                        <a:t>83.8%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Moves first and costs nothing to measure. The leading indicator.</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leadership trust</a:t>
                      </a:r>
                    </a:p>
                  </a:txBody>
                  <a:tcPr marL="91440" marR="73152" marT="27432" marB="27432" anchor="ctr">
                    <a:solidFill>
                      <a:srgbClr val="F8F8FB"/>
                    </a:solidFill>
                  </a:tcPr>
                </a:tc>
                <a:tc>
                  <a:txBody>
                    <a:bodyPr wrap="square"/>
                    <a:lstStyle/>
                    <a:p>
                      <a:pPr algn="ctr"/>
                      <a:r>
                        <a:rPr sz="1050" b="0">
                          <a:solidFill>
                            <a:srgbClr val="22222A"/>
                          </a:solidFill>
                          <a:latin typeface="Calibri"/>
                        </a:rPr>
                        <a:t>3.051</a:t>
                      </a:r>
                    </a:p>
                  </a:txBody>
                  <a:tcPr marL="91440" marR="73152" marT="27432" marB="27432" anchor="ctr">
                    <a:solidFill>
                      <a:srgbClr val="F8F8FB"/>
                    </a:solidFill>
                  </a:tcPr>
                </a:tc>
                <a:tc>
                  <a:txBody>
                    <a:bodyPr wrap="square"/>
                    <a:lstStyle/>
                    <a:p>
                      <a:pPr algn="ctr"/>
                      <a:r>
                        <a:rPr sz="1050" b="0">
                          <a:solidFill>
                            <a:srgbClr val="22222A"/>
                          </a:solidFill>
                          <a:latin typeface="Calibri"/>
                        </a:rPr>
                        <a:t>3.352</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One of the two dimensions that actually collapsed.</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Purpose &amp; meaning</a:t>
                      </a:r>
                    </a:p>
                  </a:txBody>
                  <a:tcPr marL="91440" marR="73152" marT="27432" marB="27432" anchor="ctr">
                    <a:solidFill>
                      <a:srgbClr val="FFFFFF"/>
                    </a:solidFill>
                  </a:tcPr>
                </a:tc>
                <a:tc>
                  <a:txBody>
                    <a:bodyPr wrap="square"/>
                    <a:lstStyle/>
                    <a:p>
                      <a:pPr algn="ctr"/>
                      <a:r>
                        <a:rPr sz="1050" b="0">
                          <a:solidFill>
                            <a:srgbClr val="22222A"/>
                          </a:solidFill>
                          <a:latin typeface="Calibri"/>
                        </a:rPr>
                        <a:t>3.058</a:t>
                      </a:r>
                    </a:p>
                  </a:txBody>
                  <a:tcPr marL="91440" marR="73152" marT="27432" marB="27432" anchor="ctr">
                    <a:solidFill>
                      <a:srgbClr val="FFFFFF"/>
                    </a:solidFill>
                  </a:tcPr>
                </a:tc>
                <a:tc>
                  <a:txBody>
                    <a:bodyPr wrap="square"/>
                    <a:lstStyle/>
                    <a:p>
                      <a:pPr algn="ctr"/>
                      <a:r>
                        <a:rPr sz="1050" b="0">
                          <a:solidFill>
                            <a:srgbClr val="22222A"/>
                          </a:solidFill>
                          <a:latin typeface="Calibri"/>
                        </a:rPr>
                        <a:t>3.358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The other one.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Employees never surveyed</a:t>
                      </a:r>
                    </a:p>
                  </a:txBody>
                  <a:tcPr marL="91440" marR="73152" marT="27432" marB="27432" anchor="ctr">
                    <a:solidFill>
                      <a:srgbClr val="F8F8FB"/>
                    </a:solidFill>
                  </a:tcPr>
                </a:tc>
                <a:tc>
                  <a:txBody>
                    <a:bodyPr wrap="square"/>
                    <a:lstStyle/>
                    <a:p>
                      <a:pPr algn="ctr"/>
                      <a:r>
                        <a:rPr sz="1050" b="0">
                          <a:solidFill>
                            <a:srgbClr val="22222A"/>
                          </a:solidFill>
                          <a:latin typeface="Calibri"/>
                        </a:rPr>
                        <a:t>152 on B and C systems</a:t>
                      </a:r>
                    </a:p>
                  </a:txBody>
                  <a:tcPr marL="91440" marR="73152" marT="27432" marB="27432" anchor="ctr">
                    <a:solidFill>
                      <a:srgbClr val="F8F8FB"/>
                    </a:solidFill>
                  </a:tcPr>
                </a:tc>
                <a:tc>
                  <a:txBody>
                    <a:bodyPr wrap="square"/>
                    <a:lstStyle/>
                    <a:p>
                      <a:pPr algn="ctr"/>
                      <a:r>
                        <a:rPr sz="1050" b="0">
                          <a:solidFill>
                            <a:srgbClr val="22222A"/>
                          </a:solidFill>
                          <a:latin typeface="Calibri"/>
                        </a:rPr>
                        <a:t>0</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You cannot manage a cohort you are not asking. Fixable before the wave issues.</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Senior Manager (L3) attrition</a:t>
                      </a:r>
                    </a:p>
                  </a:txBody>
                  <a:tcPr marL="91440" marR="73152" marT="27432" marB="27432" anchor="ctr">
                    <a:solidFill>
                      <a:srgbClr val="FFFFFF"/>
                    </a:solidFill>
                  </a:tcPr>
                </a:tc>
                <a:tc>
                  <a:txBody>
                    <a:bodyPr wrap="square"/>
                    <a:lstStyle/>
                    <a:p>
                      <a:pPr algn="ctr"/>
                      <a:r>
                        <a:rPr sz="1050" b="0">
                          <a:solidFill>
                            <a:srgbClr val="22222A"/>
                          </a:solidFill>
                          <a:latin typeface="Calibri"/>
                        </a:rPr>
                        <a:t>9.8%/yr</a:t>
                      </a:r>
                    </a:p>
                  </a:txBody>
                  <a:tcPr marL="91440" marR="73152" marT="27432" marB="27432" anchor="ctr">
                    <a:solidFill>
                      <a:srgbClr val="FFFFFF"/>
                    </a:solidFill>
                  </a:tcPr>
                </a:tc>
                <a:tc>
                  <a:txBody>
                    <a:bodyPr wrap="square"/>
                    <a:lstStyle/>
                    <a:p>
                      <a:pPr algn="ctr"/>
                      <a:r>
                        <a:rPr sz="1050" b="0">
                          <a:solidFill>
                            <a:srgbClr val="22222A"/>
                          </a:solidFill>
                          <a:latin typeface="Calibri"/>
                        </a:rPr>
                        <a:t>2.9%/yr</a:t>
                      </a:r>
                    </a:p>
                  </a:txBody>
                  <a:tcPr marL="91440" marR="73152" marT="27432" marB="27432" anchor="ctr">
                    <a:solidFill>
                      <a:srgbClr val="FFFFFF"/>
                    </a:solidFill>
                  </a:tcPr>
                </a:tc>
                <a:tc>
                  <a:txBody>
                    <a:bodyPr wrap="square"/>
                    <a:lstStyle/>
                    <a:p>
                      <a:pPr algn="ctr"/>
                      <a:r>
                        <a:rPr sz="1050" b="0">
                          <a:solidFill>
                            <a:srgbClr val="22222A"/>
                          </a:solidFill>
                          <a:latin typeface="Calibri"/>
                        </a:rPr>
                        <a:t>2 quarters</a:t>
                      </a:r>
                    </a:p>
                  </a:txBody>
                  <a:tcPr marL="91440" marR="73152" marT="27432" marB="27432" anchor="ctr">
                    <a:solidFill>
                      <a:srgbClr val="FFFFFF"/>
                    </a:solidFill>
                  </a:tcPr>
                </a:tc>
                <a:tc>
                  <a:txBody>
                    <a:bodyPr wrap="square"/>
                    <a:lstStyle/>
                    <a:p>
                      <a:pPr algn="l"/>
                      <a:r>
                        <a:rPr sz="1050" b="0">
                          <a:solidFill>
                            <a:srgbClr val="22222A"/>
                          </a:solidFill>
                          <a:latin typeface="Calibri"/>
                        </a:rPr>
                        <a:t>The layer that has to carry the integration message.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Voluntary attrition</a:t>
                      </a:r>
                    </a:p>
                  </a:txBody>
                  <a:tcPr marL="91440" marR="73152" marT="27432" marB="27432" anchor="ctr">
                    <a:solidFill>
                      <a:srgbClr val="F8F8FB"/>
                    </a:solidFill>
                  </a:tcPr>
                </a:tc>
                <a:tc>
                  <a:txBody>
                    <a:bodyPr wrap="square"/>
                    <a:lstStyle/>
                    <a:p>
                      <a:pPr algn="ctr"/>
                      <a:r>
                        <a:rPr sz="1050" b="0">
                          <a:solidFill>
                            <a:srgbClr val="22222A"/>
                          </a:solidFill>
                          <a:latin typeface="Calibri"/>
                        </a:rPr>
                        <a:t>7.0%/yr</a:t>
                      </a:r>
                    </a:p>
                  </a:txBody>
                  <a:tcPr marL="91440" marR="73152" marT="27432" marB="27432" anchor="ctr">
                    <a:solidFill>
                      <a:srgbClr val="F8F8FB"/>
                    </a:solidFill>
                  </a:tcPr>
                </a:tc>
                <a:tc>
                  <a:txBody>
                    <a:bodyPr wrap="square"/>
                    <a:lstStyle/>
                    <a:p>
                      <a:pPr algn="ctr"/>
                      <a:r>
                        <a:rPr sz="1050" b="0">
                          <a:solidFill>
                            <a:srgbClr val="22222A"/>
                          </a:solidFill>
                          <a:latin typeface="Calibri"/>
                        </a:rPr>
                        <a:t>3.6%/yr</a:t>
                      </a:r>
                    </a:p>
                  </a:txBody>
                  <a:tcPr marL="91440" marR="73152" marT="27432" marB="27432" anchor="ctr">
                    <a:solidFill>
                      <a:srgbClr val="F8F8FB"/>
                    </a:solidFill>
                  </a:tcPr>
                </a:tc>
                <a:tc>
                  <a:txBody>
                    <a:bodyPr wrap="square"/>
                    <a:lstStyle/>
                    <a:p>
                      <a:pPr algn="ctr"/>
                      <a:r>
                        <a:rPr sz="1050" b="0">
                          <a:solidFill>
                            <a:srgbClr val="22222A"/>
                          </a:solidFill>
                          <a:latin typeface="Calibri"/>
                        </a:rPr>
                        <a:t>3–4 quarters</a:t>
                      </a:r>
                    </a:p>
                  </a:txBody>
                  <a:tcPr marL="91440" marR="73152" marT="27432" marB="27432" anchor="ctr">
                    <a:solidFill>
                      <a:srgbClr val="F8F8FB"/>
                    </a:solidFill>
                  </a:tcPr>
                </a:tc>
                <a:tc>
                  <a:txBody>
                    <a:bodyPr wrap="square"/>
                    <a:lstStyle/>
                    <a:p>
                      <a:pPr algn="l"/>
                      <a:r>
                        <a:rPr sz="1050" b="0">
                          <a:solidFill>
                            <a:srgbClr val="22222A"/>
                          </a:solidFill>
                          <a:latin typeface="Calibri"/>
                        </a:rPr>
                        <a:t>The outcome. Moves last, so do not judge the programme on it early.</a:t>
                      </a:r>
                    </a:p>
                  </a:txBody>
                  <a:tcPr marL="91440" marR="73152" marT="27432" marB="27432" anchor="ctr">
                    <a:solidFill>
                      <a:srgbClr val="F8F8FB"/>
                    </a:solidFill>
                  </a:tcPr>
                </a:tc>
              </a:tr>
            </a:tbl>
          </a:graphicData>
        </a:graphic>
      </p:graphicFrame>
      <p:sp>
        <p:nvSpPr>
          <p:cNvPr id="9" name="Rectangle 8"/>
          <p:cNvSpPr/>
          <p:nvPr/>
        </p:nvSpPr>
        <p:spPr>
          <a:xfrm>
            <a:off x="566928" y="4846320"/>
            <a:ext cx="3538728" cy="457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A100FF"/>
                </a:solidFill>
                <a:latin typeface="Calibri"/>
              </a:rPr>
              <a:t>BEFORE THE NEXT WAVE</a:t>
            </a:r>
          </a:p>
          <a:p>
            <a:pPr algn="l">
              <a:lnSpc>
                <a:spcPct val="118000"/>
              </a:lnSpc>
              <a:spcAft>
                <a:spcPts val="0"/>
              </a:spcAft>
            </a:pPr>
            <a:r>
              <a:rPr sz="1050" i="0" b="0">
                <a:solidFill>
                  <a:srgbClr val="22222A"/>
                </a:solidFill>
                <a:latin typeface="Calibri"/>
              </a:rPr>
              <a:t>Redefine the regrettable flag, separate it from the function that approves exits, restate the baseline, and add the 152 unsurveyed staff to the issue list. All policy, all ~$0.</a:t>
            </a:r>
          </a:p>
        </p:txBody>
      </p:sp>
      <p:sp>
        <p:nvSpPr>
          <p:cNvPr id="11" name="Rectangle 10"/>
          <p:cNvSpPr/>
          <p:nvPr/>
        </p:nvSpPr>
        <p:spPr>
          <a:xfrm>
            <a:off x="4325112" y="4846320"/>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5112"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FF6B6B"/>
                </a:solidFill>
                <a:latin typeface="Calibri"/>
              </a:rPr>
              <a:t>AT THE NEXT WAVE</a:t>
            </a:r>
          </a:p>
          <a:p>
            <a:pPr algn="l">
              <a:lnSpc>
                <a:spcPct val="118000"/>
              </a:lnSpc>
              <a:spcAft>
                <a:spcPts val="0"/>
              </a:spcAft>
            </a:pPr>
            <a:r>
              <a:rPr sz="1050" i="0" b="0">
                <a:solidFill>
                  <a:srgbClr val="22222A"/>
                </a:solidFill>
                <a:latin typeface="Calibri"/>
              </a:rPr>
              <a:t>The first real read. Response rate and the two collapsed dimensions, against Entity_A's trajectory rather than Entity_B's own past. Attrition will not have moved.</a:t>
            </a:r>
          </a:p>
        </p:txBody>
      </p:sp>
      <p:sp>
        <p:nvSpPr>
          <p:cNvPr id="13" name="Rectangle 12"/>
          <p:cNvSpPr/>
          <p:nvPr/>
        </p:nvSpPr>
        <p:spPr>
          <a:xfrm>
            <a:off x="8083296" y="4846320"/>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00B7C3"/>
                </a:solidFill>
                <a:latin typeface="Calibri"/>
              </a:rPr>
              <a:t>THE WAVE AFTER</a:t>
            </a:r>
          </a:p>
          <a:p>
            <a:pPr algn="l">
              <a:lnSpc>
                <a:spcPct val="118000"/>
              </a:lnSpc>
              <a:spcAft>
                <a:spcPts val="0"/>
              </a:spcAft>
            </a:pPr>
            <a:r>
              <a:rPr sz="1050" i="0" b="0">
                <a:solidFill>
                  <a:srgbClr val="22222A"/>
                </a:solidFill>
                <a:latin typeface="Calibri"/>
              </a:rPr>
              <a:t>Confirm direction rather than declare success. Two consecutive wave-on-wave improvements in response rate is the earliest defensible signal.</a:t>
            </a:r>
          </a:p>
        </p:txBody>
      </p:sp>
      <p:sp>
        <p:nvSpPr>
          <p:cNvPr id="15" name="Rectangle 14"/>
          <p:cNvSpPr/>
          <p:nvPr/>
        </p:nvSpPr>
        <p:spPr>
          <a:xfrm>
            <a:off x="566928" y="5961888"/>
            <a:ext cx="50292" cy="402336"/>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961888"/>
            <a:ext cx="10771632" cy="402336"/>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Anchored to waves, not days: NovaCorp's ran 122, 92, 123 and 181 days apart, mean 4.2 months and widening. A 90-day plan would promise a reading the cadence cannot deliver — and a leading indicator read twice a year is not a leading indicator.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Model card — cohort diagnostic</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Intended use, prohibited use, and known limits for the accompanying dashboard.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A17</a:t>
            </a:r>
          </a:p>
        </p:txBody>
      </p:sp>
      <p:sp>
        <p:nvSpPr>
          <p:cNvPr id="7" name="Rectangle 6"/>
          <p:cNvSpPr/>
          <p:nvPr/>
        </p:nvSpPr>
        <p:spPr>
          <a:xfrm>
            <a:off x="566928" y="1627632"/>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00B7C3"/>
                </a:solidFill>
                <a:latin typeface="Calibri"/>
              </a:rPr>
              <a:t>INTENDED USE</a:t>
            </a:r>
          </a:p>
          <a:p>
            <a:pPr algn="l">
              <a:lnSpc>
                <a:spcPct val="118000"/>
              </a:lnSpc>
              <a:spcAft>
                <a:spcPts val="1000"/>
              </a:spcAft>
            </a:pPr>
            <a:r>
              <a:rPr sz="1100" i="0" b="0">
                <a:solidFill>
                  <a:srgbClr val="22222A"/>
                </a:solidFill>
                <a:latin typeface="Calibri"/>
              </a:rPr>
              <a:t>•  Cohort-level diagnostic for HR and integration leads.</a:t>
            </a:r>
          </a:p>
          <a:p>
            <a:pPr algn="l">
              <a:lnSpc>
                <a:spcPct val="118000"/>
              </a:lnSpc>
              <a:spcAft>
                <a:spcPts val="1000"/>
              </a:spcAft>
            </a:pPr>
            <a:r>
              <a:rPr sz="1100" i="0" b="0">
                <a:solidFill>
                  <a:srgbClr val="22222A"/>
                </a:solidFill>
                <a:latin typeface="Calibri"/>
              </a:rPr>
              <a:t>•  Identifying which parts of the organisation resemble Entity_B before its attrition rose, so integration effort can be directed.</a:t>
            </a:r>
          </a:p>
          <a:p>
            <a:pPr algn="l">
              <a:lnSpc>
                <a:spcPct val="118000"/>
              </a:lnSpc>
              <a:spcAft>
                <a:spcPts val="1000"/>
              </a:spcAft>
            </a:pPr>
            <a:r>
              <a:rPr sz="1100" i="0" b="0">
                <a:solidFill>
                  <a:srgbClr val="22222A"/>
                </a:solidFill>
                <a:latin typeface="Calibri"/>
              </a:rPr>
              <a:t>•  Tracking cohorts against the A16 measures over time.</a:t>
            </a:r>
          </a:p>
        </p:txBody>
      </p:sp>
      <p:sp>
        <p:nvSpPr>
          <p:cNvPr id="9" name="Rectangle 8"/>
          <p:cNvSpPr/>
          <p:nvPr/>
        </p:nvSpPr>
        <p:spPr>
          <a:xfrm>
            <a:off x="4325112" y="1627632"/>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6B6B"/>
                </a:solidFill>
                <a:latin typeface="Calibri"/>
              </a:rPr>
              <a:t>PROHIBITED USE</a:t>
            </a:r>
          </a:p>
          <a:p>
            <a:pPr algn="l">
              <a:lnSpc>
                <a:spcPct val="118000"/>
              </a:lnSpc>
              <a:spcAft>
                <a:spcPts val="1000"/>
              </a:spcAft>
            </a:pPr>
            <a:r>
              <a:rPr sz="1100" i="0" b="0">
                <a:solidFill>
                  <a:srgbClr val="22222A"/>
                </a:solidFill>
                <a:latin typeface="Calibri"/>
              </a:rPr>
              <a:t>•  Any decision about an individual. The file contains no employee, manager or team identifier, so this is enforced by construction rather than by policy.</a:t>
            </a:r>
          </a:p>
          <a:p>
            <a:pPr algn="l">
              <a:lnSpc>
                <a:spcPct val="118000"/>
              </a:lnSpc>
              <a:spcAft>
                <a:spcPts val="1000"/>
              </a:spcAft>
            </a:pPr>
            <a:r>
              <a:rPr sz="1100" i="0" b="0">
                <a:solidFill>
                  <a:srgbClr val="22222A"/>
                </a:solidFill>
                <a:latin typeface="Calibri"/>
              </a:rPr>
              <a:t>•  Performance management, redundancy selection, or promotion input.</a:t>
            </a:r>
          </a:p>
          <a:p>
            <a:pPr algn="l">
              <a:lnSpc>
                <a:spcPct val="118000"/>
              </a:lnSpc>
              <a:spcAft>
                <a:spcPts val="1000"/>
              </a:spcAft>
            </a:pPr>
            <a:r>
              <a:rPr sz="1100" i="0" b="0">
                <a:solidFill>
                  <a:srgbClr val="22222A"/>
                </a:solidFill>
                <a:latin typeface="Calibri"/>
              </a:rPr>
              <a:t>•  Publishing cohort scores to managers without the fairness context in A4.</a:t>
            </a:r>
          </a:p>
        </p:txBody>
      </p:sp>
      <p:sp>
        <p:nvSpPr>
          <p:cNvPr id="11" name="Rectangle 10"/>
          <p:cNvSpPr/>
          <p:nvPr/>
        </p:nvSpPr>
        <p:spPr>
          <a:xfrm>
            <a:off x="8083296" y="1627632"/>
            <a:ext cx="3538728" cy="457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B300"/>
                </a:solidFill>
                <a:latin typeface="Calibri"/>
              </a:rPr>
              <a:t>KNOWN LIMITS</a:t>
            </a:r>
          </a:p>
          <a:p>
            <a:pPr algn="l">
              <a:lnSpc>
                <a:spcPct val="118000"/>
              </a:lnSpc>
              <a:spcAft>
                <a:spcPts val="1000"/>
              </a:spcAft>
            </a:pPr>
            <a:r>
              <a:rPr sz="1100" i="0" b="0">
                <a:solidFill>
                  <a:srgbClr val="22222A"/>
                </a:solidFill>
                <a:latin typeface="Calibri"/>
              </a:rPr>
              <a:t>•  Diagnostic, not predictive. It has no validated forward accuracy and none is claimed.</a:t>
            </a:r>
          </a:p>
          <a:p>
            <a:pPr algn="l">
              <a:lnSpc>
                <a:spcPct val="118000"/>
              </a:lnSpc>
              <a:spcAft>
                <a:spcPts val="1000"/>
              </a:spcAft>
            </a:pPr>
            <a:r>
              <a:rPr sz="1100" i="0" b="0">
                <a:solidFill>
                  <a:srgbClr val="22222A"/>
                </a:solidFill>
                <a:latin typeface="Calibri"/>
              </a:rPr>
              <a:t>•  Engagement is observed only for responders, so every score is a lower bound on a partially observed population.</a:t>
            </a:r>
          </a:p>
          <a:p>
            <a:pPr algn="l">
              <a:lnSpc>
                <a:spcPct val="118000"/>
              </a:lnSpc>
              <a:spcAft>
                <a:spcPts val="1000"/>
              </a:spcAft>
            </a:pPr>
            <a:r>
              <a:rPr sz="1100" i="0" b="0">
                <a:solidFill>
                  <a:srgbClr val="22222A"/>
                </a:solidFill>
                <a:latin typeface="Calibri"/>
              </a:rPr>
              <a:t>•  Component weights (40/40/20) are a judgement, not a finding. They are shown separately in the tool so the score can be audited.</a:t>
            </a:r>
          </a:p>
          <a:p>
            <a:pPr algn="l">
              <a:lnSpc>
                <a:spcPct val="118000"/>
              </a:lnSpc>
              <a:spcAft>
                <a:spcPts val="1000"/>
              </a:spcAft>
            </a:pPr>
            <a:r>
              <a:rPr sz="1100" i="0" b="0">
                <a:solidFill>
                  <a:srgbClr val="22222A"/>
                </a:solidFill>
                <a:latin typeface="Calibri"/>
              </a:rPr>
              <a:t>•  Eight cohorts covering 44 people are suppressed below the response floor.</a:t>
            </a:r>
          </a:p>
        </p:txBody>
      </p:sp>
      <p:sp>
        <p:nvSpPr>
          <p:cNvPr id="13" name="Rectangle 12"/>
          <p:cNvSpPr/>
          <p:nvPr/>
        </p:nvSpPr>
        <p:spPr>
          <a:xfrm>
            <a:off x="566928" y="4892040"/>
            <a:ext cx="11064240" cy="12344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120640"/>
            <a:ext cx="10332720" cy="914400"/>
          </a:xfrm>
          <a:prstGeom prst="rect">
            <a:avLst/>
          </a:prstGeom>
          <a:noFill/>
        </p:spPr>
        <p:txBody>
          <a:bodyPr wrap="square" anchor="t" lIns="0" rIns="0" tIns="0" bIns="0">
            <a:spAutoFit/>
          </a:bodyPr>
          <a:lstStyle/>
          <a:p>
            <a:pPr algn="l">
              <a:lnSpc>
                <a:spcPct val="100000"/>
              </a:lnSpc>
              <a:spcAft>
                <a:spcPts val="600"/>
              </a:spcAft>
            </a:pPr>
            <a:r>
              <a:rPr sz="1250" i="0" b="1">
                <a:solidFill>
                  <a:srgbClr val="460073"/>
                </a:solidFill>
                <a:latin typeface="Calibri"/>
              </a:rPr>
              <a:t>Why there is no individual-level version</a:t>
            </a:r>
          </a:p>
          <a:p>
            <a:pPr algn="l">
              <a:lnSpc>
                <a:spcPct val="118000"/>
              </a:lnSpc>
              <a:spcAft>
                <a:spcPts val="0"/>
              </a:spcAft>
            </a:pPr>
            <a:r>
              <a:rPr sz="1100" i="0" b="0">
                <a:solidFill>
                  <a:srgbClr val="22222A"/>
                </a:solidFill>
                <a:latin typeface="Calibri"/>
              </a:rPr>
              <a:t>We built and tested one. On the four-fifths rule it returns impact ratios of 0.08 on age, 0.15 on role level and 0.08 on acquisition cohort, and its precision is 22.6% — 901 false positives against 263 true ones. Low response is concentrated in the acquisition cohorts, so at individual level the flag would substantially be measuring integration failure rather than intent, so we did not ship it.</a:t>
            </a:r>
          </a:p>
        </p:txBody>
      </p:sp>
      <p:sp>
        <p:nvSpPr>
          <p:cNvPr id="15" name="Rectangle 14"/>
          <p:cNvSpPr/>
          <p:nvPr/>
        </p:nvSpPr>
        <p:spPr>
          <a:xfrm>
            <a:off x="566928" y="6309360"/>
            <a:ext cx="50292" cy="3657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6309360"/>
            <a:ext cx="10771632" cy="36576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If a participation metric is ever used, staff should be told it exists. A survey sold as confidential and quietly re-used as a risk score costs you the instrument.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number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Prepared answers, with the page that backs each one. Anyone on the team can present from this.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number is double Finance's. Which is right?”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Both, for different questions. Finance priced the departures HR flagged. We priced the departures that cost you money. The gap is the finding, not a disagreement about arithmetic — we used their formula and their constants.</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3–5</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buckets total $65M, not $42M. Haven't you just inflated the problem?”</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Two of the three moved against you and one moved in your favour, and we show all three. The hiring bucket you were most worried about is the smallest thing here at $2.3M against Finance's $4–6M. If we were inflating, that is the number we would have left alone.</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confident are you in $45.1M?”</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It is a point estimate on your own constants. The defensible range is $34–56M, varying the replacement multiplier 1.0–2.0× and backfill 70–100%. Every cell in that grid is above the $14.3M you currently count, so the finding does not depend on the assumption.</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A5</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 changed your own figure from $29.6M to $7.9M. Why trust the rest?”</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Because we found it, said so, and showed the method. The original counted the baseline early attrition every employer carries as if it were addressable. Correcting it cost us $21.7M of headline and is the reason to believe the numbers we kept.</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A7</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do we know any of these numbers are right?”</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Every figure on a slide traces to the script that produces it, listed page by page. Two independent implementations agree on the early-tenure lever to the dollar; four agree on the entity attrition rates to the decimal. Run them yourself.</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A14, A11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recommendation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Continued.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“Are you telling me my HR team is dishonest?”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The flag was almost certainly built to spot top-talent loss, and it does that for Outstanding. The failure is that it was then used as a cost metric, which it was never designed to be. That is a governance gap, not a personnel matter.</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4</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“Isn't Entity_B just sitting in your worst departments?”</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Controlling for department, role level, pay and high-potential status, Entity_B still leaves at 1.95× Entity_A (95% CI 1.55–2.44). Only one of six department terms is significant, and Risk &amp; Compliance comes out at exactly 1.00 once entity is in the model.</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“Entity_B is only 1,601 people. Why should I care?”</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You shouldn't care about it for the dollars — NovaCorp-Origin holds $29.2M of the $45.1M on headcount alone. You should care because it is the one place where the cause is identified, the fix is proven inside your own company, and the budget is already guided.</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6, 9</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“Can't I just run the silence flag? It's free.”</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At team level, yes. As an individual score it fails the four-fifths rule on age by a factor of twelve and is wrong roughly three times in four. If it ever surfaced in a performance or redundancy conversation, the exposure would cost more than the attrition does.</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12–13, A4</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“What would change your mind?”</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Pre-acquisition Entity_B engagement data. If they arrived unhappy from their previous employer, the integration story weakens considerably and we cannot currently rule that out. A shorter survey cadence would also test it: if response rate does not move within two waves of the flag change, our leading indicator is wrong.</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14, A16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